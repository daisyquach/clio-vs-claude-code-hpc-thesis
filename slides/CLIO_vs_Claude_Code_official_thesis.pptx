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625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spAutoFit/>
          </a:bodyPr>
          <a:lstStyle/>
          <a:p>
            <a:pPr>
              <a:defRPr sz="2600" b="1">
                <a:solidFill>
                  <a:srgbClr val="0B0B0B"/>
                </a:solidFill>
              </a:defRPr>
            </a:pPr>
            <a:r>
              <a:t>CLIO vs Claude Code baseline: counted thesis trials (CLIO n = 5 / 5 / 5 for E1/E2/E3; baseline n = 5)</a:t>
            </a:r>
          </a:p>
          <a:p>
            <a:pPr>
              <a:defRPr sz="1300">
                <a:solidFill>
                  <a:srgbClr val="52514E"/>
                </a:solidFill>
              </a:defRPr>
            </a:pPr>
            <a:r>
              <a:t>E1 / E2 / E3 Morphorm packets · updated 2026-10-13</a:t>
            </a:r>
          </a:p>
        </p:txBody>
      </p:sp>
      <p:sp>
        <p:nvSpPr>
          <p:cNvPr id="4" name="TextBox 3"/>
          <p:cNvSpPr txBox="1"/>
          <p:nvPr/>
        </p:nvSpPr>
        <p:spPr>
          <a:xfrm>
            <a:off x="457200" y="6446520"/>
            <a:ext cx="11247120" cy="274320"/>
          </a:xfrm>
          <a:prstGeom prst="rect">
            <a:avLst/>
          </a:prstGeom>
          <a:noFill/>
        </p:spPr>
        <p:txBody>
          <a:bodyPr wrap="none">
            <a:spAutoFit/>
          </a:bodyPr>
          <a:lstStyle/>
          <a:p>
            <a:pPr>
              <a:defRPr sz="900">
                <a:solidFill>
                  <a:srgbClr val="52514E"/>
                </a:solidFill>
              </a:defRPr>
            </a:pPr>
            <a:r>
              <a:t>COUNTED THESIS TRIALS · CLIO (factorio-flat 0.5.0) vs Claude Code baseline · n = 5 per system per experiment</a:t>
            </a:r>
          </a:p>
        </p:txBody>
      </p:sp>
      <p:sp>
        <p:nvSpPr>
          <p:cNvPr id="5" name="TextBox 4"/>
          <p:cNvSpPr txBox="1"/>
          <p:nvPr/>
        </p:nvSpPr>
        <p:spPr>
          <a:xfrm>
            <a:off x="548640" y="1828800"/>
            <a:ext cx="11064240" cy="4526280"/>
          </a:xfrm>
          <a:prstGeom prst="rect">
            <a:avLst/>
          </a:prstGeom>
          <a:noFill/>
        </p:spPr>
        <p:txBody>
          <a:bodyPr wrap="square">
            <a:spAutoFit/>
          </a:bodyPr>
          <a:lstStyle/>
          <a:p>
            <a:pPr>
              <a:spcAft>
                <a:spcPts val="600"/>
              </a:spcAft>
              <a:defRPr sz="2100">
                <a:solidFill>
                  <a:srgbClr val="0B0B0B"/>
                </a:solidFill>
              </a:defRPr>
            </a:pPr>
            <a:r>
              <a:t>• Does CLIO (clio-agent with the factorio-flat 0.5.0 blueprint) reach the same scientific outcome as the Claude Code baseline, and at what cost and time?</a:t>
            </a:r>
          </a:p>
          <a:p>
            <a:pPr>
              <a:spcAft>
                <a:spcPts val="600"/>
              </a:spcAft>
              <a:defRPr sz="2100">
                <a:solidFill>
                  <a:srgbClr val="0B0B0B"/>
                </a:solidFill>
              </a:defRPr>
            </a:pPr>
            <a:r>
              <a:t>• Counted thesis trials: five per system per experiment. E1 uninterrupted, E2 interrupted recovery, E3 disparate storage.</a:t>
            </a:r>
          </a:p>
          <a:p>
            <a:pPr>
              <a:spcAft>
                <a:spcPts val="600"/>
              </a:spcAft>
              <a:defRPr sz="2100">
                <a:solidFill>
                  <a:srgbClr val="0B0B0B"/>
                </a:solidFill>
              </a:defRPr>
            </a:pPr>
            <a:r>
              <a:t>• Measured: scored outcome (thesis scorer), cost, wall/model/tool/Slurm time, API calls, tokens, Morphorm jobs and restarts.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625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spAutoFit/>
          </a:bodyPr>
          <a:lstStyle/>
          <a:p>
            <a:pPr>
              <a:defRPr sz="2600" b="1">
                <a:solidFill>
                  <a:srgbClr val="0B0B0B"/>
                </a:solidFill>
              </a:defRPr>
            </a:pPr>
            <a:r>
              <a:t>What we compared</a:t>
            </a:r>
          </a:p>
          <a:p>
            <a:pPr>
              <a:defRPr sz="1300">
                <a:solidFill>
                  <a:srgbClr val="52514E"/>
                </a:solidFill>
              </a:defRPr>
            </a:pPr>
            <a:r>
              <a:t>Same frozen packets, prompts, model and agent-host contract; only the system around the model differs</a:t>
            </a:r>
          </a:p>
        </p:txBody>
      </p:sp>
      <p:sp>
        <p:nvSpPr>
          <p:cNvPr id="4" name="TextBox 3"/>
          <p:cNvSpPr txBox="1"/>
          <p:nvPr/>
        </p:nvSpPr>
        <p:spPr>
          <a:xfrm>
            <a:off x="457200" y="6446520"/>
            <a:ext cx="11247120" cy="274320"/>
          </a:xfrm>
          <a:prstGeom prst="rect">
            <a:avLst/>
          </a:prstGeom>
          <a:noFill/>
        </p:spPr>
        <p:txBody>
          <a:bodyPr wrap="none">
            <a:spAutoFit/>
          </a:bodyPr>
          <a:lstStyle/>
          <a:p>
            <a:pPr>
              <a:defRPr sz="900">
                <a:solidFill>
                  <a:srgbClr val="52514E"/>
                </a:solidFill>
              </a:defRPr>
            </a:pPr>
            <a:r>
              <a:t>COUNTED THESIS TRIALS · CLIO (factorio-flat 0.5.0) vs Claude Code baseline · n = 5 per system per experiment</a:t>
            </a:r>
          </a:p>
        </p:txBody>
      </p:sp>
      <p:sp>
        <p:nvSpPr>
          <p:cNvPr id="5" name="TextBox 4"/>
          <p:cNvSpPr txBox="1"/>
          <p:nvPr/>
        </p:nvSpPr>
        <p:spPr>
          <a:xfrm>
            <a:off x="548640" y="1371600"/>
            <a:ext cx="11064240" cy="4983480"/>
          </a:xfrm>
          <a:prstGeom prst="rect">
            <a:avLst/>
          </a:prstGeom>
          <a:noFill/>
        </p:spPr>
        <p:txBody>
          <a:bodyPr wrap="square">
            <a:spAutoFit/>
          </a:bodyPr>
          <a:lstStyle/>
          <a:p>
            <a:pPr>
              <a:spcAft>
                <a:spcPts val="600"/>
              </a:spcAft>
              <a:defRPr sz="1500">
                <a:solidFill>
                  <a:srgbClr val="0B0B0B"/>
                </a:solidFill>
              </a:defRPr>
            </a:pPr>
            <a:r>
              <a:t>• Baseline: the 5 counted Claude Code trials per experiment (Claude Code 2.1.295, claude-fable-5-1, CLI-default effort, --dangerously-skip-permissions).</a:t>
            </a:r>
          </a:p>
          <a:p>
            <a:pPr>
              <a:spcAft>
                <a:spcPts val="600"/>
              </a:spcAft>
              <a:defRPr sz="1500">
                <a:solidFill>
                  <a:srgbClr val="0B0B0B"/>
                </a:solidFill>
              </a:defRPr>
            </a:pPr>
            <a:r>
              <a:t>• CLIO: 5 counted trials per experiment, each a fresh deployment in its own agent-host job with the baseline's Slurm contract: clio-agent 0.9.5b5.post2, provider claude_code driving the same Claude Code 2.1.295 binary and model, factorio-flat 0.5.0, approval bypass, CLI-default effort, runtime tuning 3600/3600/5400 s, private clio-core daemon, no user-configured MCP servers, stream audit on. The blueprint's own web MCP (one tool, web_fetch) was mounted; like the baseline's built-in WebSearch/WebFetch it was forbidden by the task rules and never called.</a:t>
            </a:r>
          </a:p>
          <a:p>
            <a:pPr>
              <a:spcAft>
                <a:spcPts val="600"/>
              </a:spcAft>
              <a:defRPr sz="1500">
                <a:solidFill>
                  <a:srgbClr val="0B0B0B"/>
                </a:solidFill>
              </a:defRPr>
            </a:pPr>
            <a:r>
              <a:t>• Identical for both: frozen packets (FROZEN-EX8-v1 / FROZEN-EX16-v1 / E3 control packet), byte-identical prompts, one user message per session (no nudges), 6600 s session limit, same scorer, acceptance specs and tolerances, same packet verification.</a:t>
            </a:r>
          </a:p>
          <a:p>
            <a:pPr>
              <a:spcAft>
                <a:spcPts val="600"/>
              </a:spcAft>
              <a:defRPr sz="1500">
                <a:solidFill>
                  <a:srgbClr val="0B0B0B"/>
                </a:solidFill>
              </a:defRPr>
            </a:pPr>
            <a:r>
              <a:t>• Trials ran one at a time (as the baseline did). Statistics: ratio of means with bootstrap 95 % CI; exact permutation test (252 splits) and exact Mann-Whitney U. 'Different' only when p &lt; 0.05 and the CI excludes 1. With n = 5, 'no detectable difference' is not proof of equality.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625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spAutoFit/>
          </a:bodyPr>
          <a:lstStyle/>
          <a:p>
            <a:pPr>
              <a:defRPr sz="2600" b="1">
                <a:solidFill>
                  <a:srgbClr val="0B0B0B"/>
                </a:solidFill>
              </a:defRPr>
            </a:pPr>
            <a:r>
              <a:t>Trial attempts</a:t>
            </a:r>
          </a:p>
          <a:p>
            <a:pPr>
              <a:defRPr sz="1300">
                <a:solidFill>
                  <a:srgbClr val="52514E"/>
                </a:solidFill>
              </a:defRPr>
            </a:pPr>
            <a:r>
              <a:t>Same rule as the baseline: non-agent failures are kept, marked invalid and replaced with a new numbered attempt</a:t>
            </a:r>
          </a:p>
        </p:txBody>
      </p:sp>
      <p:sp>
        <p:nvSpPr>
          <p:cNvPr id="4" name="TextBox 3"/>
          <p:cNvSpPr txBox="1"/>
          <p:nvPr/>
        </p:nvSpPr>
        <p:spPr>
          <a:xfrm>
            <a:off x="457200" y="6446520"/>
            <a:ext cx="11247120" cy="274320"/>
          </a:xfrm>
          <a:prstGeom prst="rect">
            <a:avLst/>
          </a:prstGeom>
          <a:noFill/>
        </p:spPr>
        <p:txBody>
          <a:bodyPr wrap="none">
            <a:spAutoFit/>
          </a:bodyPr>
          <a:lstStyle/>
          <a:p>
            <a:pPr>
              <a:defRPr sz="900">
                <a:solidFill>
                  <a:srgbClr val="52514E"/>
                </a:solidFill>
              </a:defRPr>
            </a:pPr>
            <a:r>
              <a:t>COUNTED THESIS TRIALS · CLIO (factorio-flat 0.5.0) vs Claude Code baseline · n = 5 per system per experiment</a:t>
            </a:r>
          </a:p>
        </p:txBody>
      </p:sp>
      <p:graphicFrame>
        <p:nvGraphicFramePr>
          <p:cNvPr id="5" name="Table 4"/>
          <p:cNvGraphicFramePr>
            <a:graphicFrameLocks noGrp="1"/>
          </p:cNvGraphicFramePr>
          <p:nvPr/>
        </p:nvGraphicFramePr>
        <p:xfrm>
          <a:off x="457200" y="1280160"/>
          <a:ext cx="11247120" cy="1371600"/>
        </p:xfrm>
        <a:graphic>
          <a:graphicData uri="http://schemas.openxmlformats.org/drawingml/2006/table">
            <a:tbl>
              <a:tblPr firstRow="1" bandRow="1">
                <a:tableStyleId>{5C22544A-7EE6-4342-B048-85BDC9FD1C3A}</a:tableStyleId>
              </a:tblPr>
              <a:tblGrid>
                <a:gridCol w="731520"/>
                <a:gridCol w="1371600"/>
                <a:gridCol w="1828800"/>
                <a:gridCol w="7315200"/>
              </a:tblGrid>
              <a:tr h="274320">
                <a:tc>
                  <a:txBody>
                    <a:bodyPr/>
                    <a:lstStyle/>
                    <a:p>
                      <a:pPr>
                        <a:defRPr sz="1100" b="1"/>
                      </a:pPr>
                      <a:r>
                        <a:t>Exp</a:t>
                      </a:r>
                    </a:p>
                  </a:txBody>
                  <a:tcPr/>
                </a:tc>
                <a:tc>
                  <a:txBody>
                    <a:bodyPr/>
                    <a:lstStyle/>
                    <a:p>
                      <a:pPr>
                        <a:defRPr sz="1100" b="1"/>
                      </a:pPr>
                      <a:r>
                        <a:t>Attempt</a:t>
                      </a:r>
                    </a:p>
                  </a:txBody>
                  <a:tcPr/>
                </a:tc>
                <a:tc>
                  <a:txBody>
                    <a:bodyPr/>
                    <a:lstStyle/>
                    <a:p>
                      <a:pPr>
                        <a:defRPr sz="1100" b="1"/>
                      </a:pPr>
                      <a:r>
                        <a:t>Status</a:t>
                      </a:r>
                    </a:p>
                  </a:txBody>
                  <a:tcPr/>
                </a:tc>
                <a:tc>
                  <a:txBody>
                    <a:bodyPr/>
                    <a:lstStyle/>
                    <a:p>
                      <a:pPr>
                        <a:defRPr sz="1100" b="1"/>
                      </a:pPr>
                      <a:r>
                        <a:t>Note</a:t>
                      </a:r>
                    </a:p>
                  </a:txBody>
                  <a:tcPr/>
                </a:tc>
              </a:tr>
              <a:tr h="274320">
                <a:tc>
                  <a:txBody>
                    <a:bodyPr/>
                    <a:lstStyle/>
                    <a:p>
                      <a:pPr>
                        <a:defRPr sz="1100"/>
                      </a:pPr>
                      <a:r>
                        <a:t>E1</a:t>
                      </a:r>
                    </a:p>
                  </a:txBody>
                  <a:tcPr/>
                </a:tc>
                <a:tc>
                  <a:txBody>
                    <a:bodyPr/>
                    <a:lstStyle/>
                    <a:p>
                      <a:pPr>
                        <a:defRPr sz="1100"/>
                      </a:pPr>
                      <a:r>
                        <a:t>trial_03</a:t>
                      </a:r>
                    </a:p>
                  </a:txBody>
                  <a:tcPr/>
                </a:tc>
                <a:tc>
                  <a:txBody>
                    <a:bodyPr/>
                    <a:lstStyle/>
                    <a:p>
                      <a:pPr>
                        <a:defRPr sz="1100"/>
                      </a:pPr>
                      <a:r>
                        <a:t>failed</a:t>
                      </a:r>
                    </a:p>
                  </a:txBody>
                  <a:tcPr/>
                </a:tc>
                <a:tc>
                  <a:txBody>
                    <a:bodyPr/>
                    <a:lstStyle/>
                    <a:p>
                      <a:pPr>
                        <a:defRPr sz="1100"/>
                      </a:pPr>
                      <a:r>
                        <a:t>CLIO server version probe of the pinned CLI shim failed transiently on notch272 ([Errno 14] Bad address, clio-server log), so CLIO fell back to ~/.local/bin/claude (2.1.296) instead of the pin 2.1.295; only the CLI pin checks failed; infrastructure (non-agent) cause; excluded; replaced by trial_03R; packet kept unchanged</a:t>
                      </a:r>
                    </a:p>
                  </a:txBody>
                  <a:tcPr/>
                </a:tc>
              </a:tr>
              <a:tr h="274320">
                <a:tc>
                  <a:txBody>
                    <a:bodyPr/>
                    <a:lstStyle/>
                    <a:p>
                      <a:pPr>
                        <a:defRPr sz="1100"/>
                      </a:pPr>
                      <a:r>
                        <a:t>E2</a:t>
                      </a:r>
                    </a:p>
                  </a:txBody>
                  <a:tcPr/>
                </a:tc>
                <a:tc>
                  <a:txBody>
                    <a:bodyPr/>
                    <a:lstStyle/>
                    <a:p>
                      <a:pPr>
                        <a:defRPr sz="1100"/>
                      </a:pPr>
                      <a:r>
                        <a:t>trial_05</a:t>
                      </a:r>
                    </a:p>
                  </a:txBody>
                  <a:tcPr/>
                </a:tc>
                <a:tc>
                  <a:txBody>
                    <a:bodyPr/>
                    <a:lstStyle/>
                    <a:p>
                      <a:pPr>
                        <a:defRPr sz="1100"/>
                      </a:pPr>
                      <a:r>
                        <a:t>failed</a:t>
                      </a:r>
                    </a:p>
                  </a:txBody>
                  <a:tcPr/>
                </a:tc>
                <a:tc>
                  <a:txBody>
                    <a:bodyPr/>
                    <a:lstStyle/>
                    <a:p>
                      <a:pPr>
                        <a:defRPr sz="1100"/>
                      </a:pPr>
                      <a:r>
                        <a:t>Session B made zero API calls: the Claude Code OAuth session had expired and could not be refreshed (ClaudeCodeSignedOutError at 10:50:29Z, 0 tokens); infrastructure (non-agent) cause; excluded; replaced by trial_05R; packet kept unchanged</a:t>
                      </a:r>
                    </a:p>
                  </a:txBody>
                  <a:tcPr/>
                </a:tc>
              </a:tr>
              <a:tr h="274320">
                <a:tc>
                  <a:txBody>
                    <a:bodyPr/>
                    <a:lstStyle/>
                    <a:p>
                      <a:pPr>
                        <a:defRPr sz="1100"/>
                      </a:pPr>
                      <a:r>
                        <a:t>E3</a:t>
                      </a:r>
                    </a:p>
                  </a:txBody>
                  <a:tcPr/>
                </a:tc>
                <a:tc>
                  <a:txBody>
                    <a:bodyPr/>
                    <a:lstStyle/>
                    <a:p>
                      <a:pPr>
                        <a:defRPr sz="1100"/>
                      </a:pPr>
                      <a:r>
                        <a:t>trial_01</a:t>
                      </a:r>
                    </a:p>
                  </a:txBody>
                  <a:tcPr/>
                </a:tc>
                <a:tc>
                  <a:txBody>
                    <a:bodyPr/>
                    <a:lstStyle/>
                    <a:p>
                      <a:pPr>
                        <a:defRPr sz="1100"/>
                      </a:pPr>
                      <a:r>
                        <a:t>aborted_before_launch</a:t>
                      </a:r>
                    </a:p>
                  </a:txBody>
                  <a:tcPr/>
                </a:tc>
                <a:tc>
                  <a:txBody>
                    <a:bodyPr/>
                    <a:lstStyle/>
                    <a:p>
                      <a:pPr>
                        <a:defRPr sz="1100"/>
                      </a:pPr>
                      <a:r>
                        <a:t>preflight stopped at init_node_local_staging (ACTION_REQUIRED tmpdir_contains_account_name): run_clio_e3_trial_v2.sh sourced the baseline config but did not export E3_ALLOW_ACCOUNT_NAME_IN_TMPDIR (the baseline runner does); no agent, CLIO deployment or model call was launched; runner fixed; replaced by clio/trial_06</a:t>
                      </a:r>
                    </a:p>
                  </a:txBody>
                  <a:tcPr/>
                </a:tc>
              </a:tr>
              <a:tr h="274320">
                <a:tc>
                  <a:txBody>
                    <a:bodyPr/>
                    <a:lstStyle/>
                    <a:p>
                      <a:pPr>
                        <a:defRPr sz="1100"/>
                      </a:pPr>
                      <a:r>
                        <a:t>E3</a:t>
                      </a:r>
                    </a:p>
                  </a:txBody>
                  <a:tcPr/>
                </a:tc>
                <a:tc>
                  <a:txBody>
                    <a:bodyPr/>
                    <a:lstStyle/>
                    <a:p>
                      <a:pPr>
                        <a:defRPr sz="1100"/>
                      </a:pPr>
                      <a:r>
                        <a:t>trial_02</a:t>
                      </a:r>
                    </a:p>
                  </a:txBody>
                  <a:tcPr/>
                </a:tc>
                <a:tc>
                  <a:txBody>
                    <a:bodyPr/>
                    <a:lstStyle/>
                    <a:p>
                      <a:pPr>
                        <a:defRPr sz="1100"/>
                      </a:pPr>
                      <a:r>
                        <a:t>awaiting_scoring</a:t>
                      </a:r>
                    </a:p>
                  </a:txBody>
                  <a:tcPr/>
                </a:tc>
                <a:tc>
                  <a:txBody>
                    <a:bodyPr/>
                    <a:lstStyle/>
                    <a:p>
                      <a:pPr>
                        <a:defRPr sz="1100"/>
                      </a:pPr>
                      <a:r>
                        <a:t>session completed (finished_idle, 31 min) and outputs passed 34/34 science checks in a test scoring, but the boundary audit FAILed: (a) 11 reads of the agent's own CLIO runtime (blueprint skills, own tool-output; re-labelled OWN_RUNTIME by the CLIO supplement adopted 2026-10-13) and (b) CHANGED clio/README.md, a researcher edit made during the trial; researcher-caused, excluded, not scored; replaced by clio/trial_07</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625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spAutoFit/>
          </a:bodyPr>
          <a:lstStyle/>
          <a:p>
            <a:pPr>
              <a:defRPr sz="2600" b="1">
                <a:solidFill>
                  <a:srgbClr val="0B0B0B"/>
                </a:solidFill>
              </a:defRPr>
            </a:pPr>
            <a:r>
              <a:t>Headline: outcome, cost and time (mean ± SD)</a:t>
            </a:r>
          </a:p>
          <a:p>
            <a:pPr>
              <a:defRPr sz="1300">
                <a:solidFill>
                  <a:srgbClr val="52514E"/>
                </a:solidFill>
              </a:defRPr>
            </a:pPr>
            <a:r>
              <a:t>Wall/model/outside-Slurm minutes summed over sessions (E2 = A + B)</a:t>
            </a:r>
          </a:p>
        </p:txBody>
      </p:sp>
      <p:sp>
        <p:nvSpPr>
          <p:cNvPr id="4" name="TextBox 3"/>
          <p:cNvSpPr txBox="1"/>
          <p:nvPr/>
        </p:nvSpPr>
        <p:spPr>
          <a:xfrm>
            <a:off x="457200" y="6446520"/>
            <a:ext cx="11247120" cy="274320"/>
          </a:xfrm>
          <a:prstGeom prst="rect">
            <a:avLst/>
          </a:prstGeom>
          <a:noFill/>
        </p:spPr>
        <p:txBody>
          <a:bodyPr wrap="none">
            <a:spAutoFit/>
          </a:bodyPr>
          <a:lstStyle/>
          <a:p>
            <a:pPr>
              <a:defRPr sz="900">
                <a:solidFill>
                  <a:srgbClr val="52514E"/>
                </a:solidFill>
              </a:defRPr>
            </a:pPr>
            <a:r>
              <a:t>COUNTED THESIS TRIALS · CLIO (factorio-flat 0.5.0) vs Claude Code baseline · n = 5 per system per experiment</a:t>
            </a:r>
          </a:p>
        </p:txBody>
      </p:sp>
      <p:graphicFrame>
        <p:nvGraphicFramePr>
          <p:cNvPr id="5" name="Table 4"/>
          <p:cNvGraphicFramePr>
            <a:graphicFrameLocks noGrp="1"/>
          </p:cNvGraphicFramePr>
          <p:nvPr/>
        </p:nvGraphicFramePr>
        <p:xfrm>
          <a:off x="457200" y="1280160"/>
          <a:ext cx="11247120" cy="1920240"/>
        </p:xfrm>
        <a:graphic>
          <a:graphicData uri="http://schemas.openxmlformats.org/drawingml/2006/table">
            <a:tbl>
              <a:tblPr firstRow="1" bandRow="1">
                <a:tableStyleId>{5C22544A-7EE6-4342-B048-85BDC9FD1C3A}</a:tableStyleId>
              </a:tblPr>
              <a:tblGrid>
                <a:gridCol w="457200"/>
                <a:gridCol w="1828800"/>
                <a:gridCol w="365760"/>
                <a:gridCol w="1737360"/>
                <a:gridCol w="1280160"/>
                <a:gridCol w="1188720"/>
                <a:gridCol w="1188720"/>
                <a:gridCol w="1371600"/>
                <a:gridCol w="1005840"/>
                <a:gridCol w="822960"/>
              </a:tblGrid>
              <a:tr h="274320">
                <a:tc>
                  <a:txBody>
                    <a:bodyPr/>
                    <a:lstStyle/>
                    <a:p>
                      <a:pPr>
                        <a:defRPr sz="1000" b="1"/>
                      </a:pPr>
                      <a:r>
                        <a:t>Exp</a:t>
                      </a:r>
                    </a:p>
                  </a:txBody>
                  <a:tcPr/>
                </a:tc>
                <a:tc>
                  <a:txBody>
                    <a:bodyPr/>
                    <a:lstStyle/>
                    <a:p>
                      <a:pPr>
                        <a:defRPr sz="1000" b="1"/>
                      </a:pPr>
                      <a:r>
                        <a:t>System</a:t>
                      </a:r>
                    </a:p>
                  </a:txBody>
                  <a:tcPr/>
                </a:tc>
                <a:tc>
                  <a:txBody>
                    <a:bodyPr/>
                    <a:lstStyle/>
                    <a:p>
                      <a:pPr>
                        <a:defRPr sz="1000" b="1"/>
                      </a:pPr>
                      <a:r>
                        <a:t>n</a:t>
                      </a:r>
                    </a:p>
                  </a:txBody>
                  <a:tcPr/>
                </a:tc>
                <a:tc>
                  <a:txBody>
                    <a:bodyPr/>
                    <a:lstStyle/>
                    <a:p>
                      <a:pPr>
                        <a:defRPr sz="1000" b="1"/>
                      </a:pPr>
                      <a:r>
                        <a:t>Outcome</a:t>
                      </a:r>
                    </a:p>
                  </a:txBody>
                  <a:tcPr/>
                </a:tc>
                <a:tc>
                  <a:txBody>
                    <a:bodyPr/>
                    <a:lstStyle/>
                    <a:p>
                      <a:pPr>
                        <a:defRPr sz="1000" b="1"/>
                      </a:pPr>
                      <a:r>
                        <a:t>Cost</a:t>
                      </a:r>
                    </a:p>
                  </a:txBody>
                  <a:tcPr/>
                </a:tc>
                <a:tc>
                  <a:txBody>
                    <a:bodyPr/>
                    <a:lstStyle/>
                    <a:p>
                      <a:pPr>
                        <a:defRPr sz="1000" b="1"/>
                      </a:pPr>
                      <a:r>
                        <a:t>Wall min</a:t>
                      </a:r>
                    </a:p>
                  </a:txBody>
                  <a:tcPr/>
                </a:tc>
                <a:tc>
                  <a:txBody>
                    <a:bodyPr/>
                    <a:lstStyle/>
                    <a:p>
                      <a:pPr>
                        <a:defRPr sz="1000" b="1"/>
                      </a:pPr>
                      <a:r>
                        <a:t>Model min</a:t>
                      </a:r>
                    </a:p>
                  </a:txBody>
                  <a:tcPr/>
                </a:tc>
                <a:tc>
                  <a:txBody>
                    <a:bodyPr/>
                    <a:lstStyle/>
                    <a:p>
                      <a:pPr>
                        <a:defRPr sz="1000" b="1"/>
                      </a:pPr>
                      <a:r>
                        <a:t>Outside Slurm min</a:t>
                      </a:r>
                    </a:p>
                  </a:txBody>
                  <a:tcPr/>
                </a:tc>
                <a:tc>
                  <a:txBody>
                    <a:bodyPr/>
                    <a:lstStyle/>
                    <a:p>
                      <a:pPr>
                        <a:defRPr sz="1000" b="1"/>
                      </a:pPr>
                      <a:r>
                        <a:t>API calls</a:t>
                      </a:r>
                    </a:p>
                  </a:txBody>
                  <a:tcPr/>
                </a:tc>
                <a:tc>
                  <a:txBody>
                    <a:bodyPr/>
                    <a:lstStyle/>
                    <a:p>
                      <a:pPr>
                        <a:defRPr sz="1000" b="1"/>
                      </a:pPr>
                      <a:r>
                        <a:t>Cancelled jobs</a:t>
                      </a:r>
                    </a:p>
                  </a:txBody>
                  <a:tcPr/>
                </a:tc>
              </a:tr>
              <a:tr h="274320">
                <a:tc>
                  <a:txBody>
                    <a:bodyPr/>
                    <a:lstStyle/>
                    <a:p>
                      <a:pPr>
                        <a:defRPr sz="1000"/>
                      </a:pPr>
                      <a:r>
                        <a:t>E1</a:t>
                      </a:r>
                    </a:p>
                  </a:txBody>
                  <a:tcPr/>
                </a:tc>
                <a:tc>
                  <a:txBody>
                    <a:bodyPr/>
                    <a:lstStyle/>
                    <a:p>
                      <a:pPr>
                        <a:defRPr sz="1000"/>
                      </a:pPr>
                      <a:r>
                        <a:t>Claude Code baseline</a:t>
                      </a:r>
                    </a:p>
                  </a:txBody>
                  <a:tcPr/>
                </a:tc>
                <a:tc>
                  <a:txBody>
                    <a:bodyPr/>
                    <a:lstStyle/>
                    <a:p>
                      <a:pPr>
                        <a:defRPr sz="1000"/>
                      </a:pPr>
                      <a:r>
                        <a:t>5</a:t>
                      </a:r>
                    </a:p>
                  </a:txBody>
                  <a:tcPr/>
                </a:tc>
                <a:tc>
                  <a:txBody>
                    <a:bodyPr/>
                    <a:lstStyle/>
                    <a:p>
                      <a:pPr>
                        <a:defRPr sz="1000"/>
                      </a:pPr>
                      <a:r>
                        <a:t>accepted 5/5</a:t>
                      </a:r>
                    </a:p>
                  </a:txBody>
                  <a:tcPr/>
                </a:tc>
                <a:tc>
                  <a:txBody>
                    <a:bodyPr/>
                    <a:lstStyle/>
                    <a:p>
                      <a:pPr>
                        <a:defRPr sz="1000"/>
                      </a:pPr>
                      <a:r>
                        <a:t>$7.98 ± 0.47</a:t>
                      </a:r>
                    </a:p>
                  </a:txBody>
                  <a:tcPr/>
                </a:tc>
                <a:tc>
                  <a:txBody>
                    <a:bodyPr/>
                    <a:lstStyle/>
                    <a:p>
                      <a:pPr>
                        <a:defRPr sz="1000"/>
                      </a:pPr>
                      <a:r>
                        <a:t>22.0 ± 1.4</a:t>
                      </a:r>
                    </a:p>
                  </a:txBody>
                  <a:tcPr/>
                </a:tc>
                <a:tc>
                  <a:txBody>
                    <a:bodyPr/>
                    <a:lstStyle/>
                    <a:p>
                      <a:pPr>
                        <a:defRPr sz="1000"/>
                      </a:pPr>
                      <a:r>
                        <a:t>11.6 ± 1.9</a:t>
                      </a:r>
                    </a:p>
                  </a:txBody>
                  <a:tcPr/>
                </a:tc>
                <a:tc>
                  <a:txBody>
                    <a:bodyPr/>
                    <a:lstStyle/>
                    <a:p>
                      <a:pPr>
                        <a:defRPr sz="1000"/>
                      </a:pPr>
                      <a:r>
                        <a:t>12.5 ± 1.8</a:t>
                      </a:r>
                    </a:p>
                  </a:txBody>
                  <a:tcPr/>
                </a:tc>
                <a:tc>
                  <a:txBody>
                    <a:bodyPr/>
                    <a:lstStyle/>
                    <a:p>
                      <a:pPr>
                        <a:defRPr sz="1000"/>
                      </a:pPr>
                      <a:r>
                        <a:t>34 ± 8</a:t>
                      </a:r>
                    </a:p>
                  </a:txBody>
                  <a:tcPr/>
                </a:tc>
                <a:tc>
                  <a:txBody>
                    <a:bodyPr/>
                    <a:lstStyle/>
                    <a:p>
                      <a:pPr>
                        <a:defRPr sz="1000"/>
                      </a:pPr>
                      <a:r>
                        <a:t>0.0 ± 0.0</a:t>
                      </a:r>
                    </a:p>
                  </a:txBody>
                  <a:tcPr/>
                </a:tc>
              </a:tr>
              <a:tr h="274320">
                <a:tc>
                  <a:txBody>
                    <a:bodyPr/>
                    <a:lstStyle/>
                    <a:p>
                      <a:pPr>
                        <a:defRPr sz="1000"/>
                      </a:pPr>
                      <a:r>
                        <a:t>E1</a:t>
                      </a:r>
                    </a:p>
                  </a:txBody>
                  <a:tcPr/>
                </a:tc>
                <a:tc>
                  <a:txBody>
                    <a:bodyPr/>
                    <a:lstStyle/>
                    <a:p>
                      <a:pPr>
                        <a:defRPr sz="1000"/>
                      </a:pPr>
                      <a:r>
                        <a:t>CLIO 0.5.0</a:t>
                      </a:r>
                    </a:p>
                  </a:txBody>
                  <a:tcPr/>
                </a:tc>
                <a:tc>
                  <a:txBody>
                    <a:bodyPr/>
                    <a:lstStyle/>
                    <a:p>
                      <a:pPr>
                        <a:defRPr sz="1000"/>
                      </a:pPr>
                      <a:r>
                        <a:t>5</a:t>
                      </a:r>
                    </a:p>
                  </a:txBody>
                  <a:tcPr/>
                </a:tc>
                <a:tc>
                  <a:txBody>
                    <a:bodyPr/>
                    <a:lstStyle/>
                    <a:p>
                      <a:pPr>
                        <a:defRPr sz="1000"/>
                      </a:pPr>
                      <a:r>
                        <a:t>accepted 5/5</a:t>
                      </a:r>
                    </a:p>
                  </a:txBody>
                  <a:tcPr/>
                </a:tc>
                <a:tc>
                  <a:txBody>
                    <a:bodyPr/>
                    <a:lstStyle/>
                    <a:p>
                      <a:pPr>
                        <a:defRPr sz="1000"/>
                      </a:pPr>
                      <a:r>
                        <a:t>$5.75 ± 0.90</a:t>
                      </a:r>
                    </a:p>
                  </a:txBody>
                  <a:tcPr/>
                </a:tc>
                <a:tc>
                  <a:txBody>
                    <a:bodyPr/>
                    <a:lstStyle/>
                    <a:p>
                      <a:pPr>
                        <a:defRPr sz="1000"/>
                      </a:pPr>
                      <a:r>
                        <a:t>26.8 ± 2.2</a:t>
                      </a:r>
                    </a:p>
                  </a:txBody>
                  <a:tcPr/>
                </a:tc>
                <a:tc>
                  <a:txBody>
                    <a:bodyPr/>
                    <a:lstStyle/>
                    <a:p>
                      <a:pPr>
                        <a:defRPr sz="1000"/>
                      </a:pPr>
                      <a:r>
                        <a:t>8.9 ± 2.8</a:t>
                      </a:r>
                    </a:p>
                  </a:txBody>
                  <a:tcPr/>
                </a:tc>
                <a:tc>
                  <a:txBody>
                    <a:bodyPr/>
                    <a:lstStyle/>
                    <a:p>
                      <a:pPr>
                        <a:defRPr sz="1000"/>
                      </a:pPr>
                      <a:r>
                        <a:t>10.3 ± 2.9</a:t>
                      </a:r>
                    </a:p>
                  </a:txBody>
                  <a:tcPr/>
                </a:tc>
                <a:tc>
                  <a:txBody>
                    <a:bodyPr/>
                    <a:lstStyle/>
                    <a:p>
                      <a:pPr>
                        <a:defRPr sz="1000"/>
                      </a:pPr>
                      <a:r>
                        <a:t>29 ± 5</a:t>
                      </a:r>
                    </a:p>
                  </a:txBody>
                  <a:tcPr/>
                </a:tc>
                <a:tc>
                  <a:txBody>
                    <a:bodyPr/>
                    <a:lstStyle/>
                    <a:p>
                      <a:pPr>
                        <a:defRPr sz="1000"/>
                      </a:pPr>
                      <a:r>
                        <a:t>0.0 ± 0.0</a:t>
                      </a:r>
                    </a:p>
                  </a:txBody>
                  <a:tcPr/>
                </a:tc>
              </a:tr>
              <a:tr h="274320">
                <a:tc>
                  <a:txBody>
                    <a:bodyPr/>
                    <a:lstStyle/>
                    <a:p>
                      <a:pPr>
                        <a:defRPr sz="1000"/>
                      </a:pPr>
                      <a:r>
                        <a:t>E2</a:t>
                      </a:r>
                    </a:p>
                  </a:txBody>
                  <a:tcPr/>
                </a:tc>
                <a:tc>
                  <a:txBody>
                    <a:bodyPr/>
                    <a:lstStyle/>
                    <a:p>
                      <a:pPr>
                        <a:defRPr sz="1000"/>
                      </a:pPr>
                      <a:r>
                        <a:t>Claude Code baseline</a:t>
                      </a:r>
                    </a:p>
                  </a:txBody>
                  <a:tcPr/>
                </a:tc>
                <a:tc>
                  <a:txBody>
                    <a:bodyPr/>
                    <a:lstStyle/>
                    <a:p>
                      <a:pPr>
                        <a:defRPr sz="1000"/>
                      </a:pPr>
                      <a:r>
                        <a:t>5</a:t>
                      </a:r>
                    </a:p>
                  </a:txBody>
                  <a:tcPr/>
                </a:tc>
                <a:tc>
                  <a:txBody>
                    <a:bodyPr/>
                    <a:lstStyle/>
                    <a:p>
                      <a:pPr>
                        <a:defRPr sz="1000"/>
                      </a:pPr>
                      <a:r>
                        <a:t>accepted 5/5</a:t>
                      </a:r>
                    </a:p>
                  </a:txBody>
                  <a:tcPr/>
                </a:tc>
                <a:tc>
                  <a:txBody>
                    <a:bodyPr/>
                    <a:lstStyle/>
                    <a:p>
                      <a:pPr>
                        <a:defRPr sz="1000"/>
                      </a:pPr>
                      <a:r>
                        <a:t>$13.57 ± 0.86</a:t>
                      </a:r>
                    </a:p>
                  </a:txBody>
                  <a:tcPr/>
                </a:tc>
                <a:tc>
                  <a:txBody>
                    <a:bodyPr/>
                    <a:lstStyle/>
                    <a:p>
                      <a:pPr>
                        <a:defRPr sz="1000"/>
                      </a:pPr>
                      <a:r>
                        <a:t>68.3 ± 10.4</a:t>
                      </a:r>
                    </a:p>
                  </a:txBody>
                  <a:tcPr/>
                </a:tc>
                <a:tc>
                  <a:txBody>
                    <a:bodyPr/>
                    <a:lstStyle/>
                    <a:p>
                      <a:pPr>
                        <a:defRPr sz="1000"/>
                      </a:pPr>
                      <a:r>
                        <a:t>19.6 ± 1.2</a:t>
                      </a:r>
                    </a:p>
                  </a:txBody>
                  <a:tcPr/>
                </a:tc>
                <a:tc>
                  <a:txBody>
                    <a:bodyPr/>
                    <a:lstStyle/>
                    <a:p>
                      <a:pPr>
                        <a:defRPr sz="1000"/>
                      </a:pPr>
                      <a:r>
                        <a:t>21.1 ± 1.3</a:t>
                      </a:r>
                    </a:p>
                  </a:txBody>
                  <a:tcPr/>
                </a:tc>
                <a:tc>
                  <a:txBody>
                    <a:bodyPr/>
                    <a:lstStyle/>
                    <a:p>
                      <a:pPr>
                        <a:defRPr sz="1000"/>
                      </a:pPr>
                      <a:r>
                        <a:t>70 ± 10</a:t>
                      </a:r>
                    </a:p>
                  </a:txBody>
                  <a:tcPr/>
                </a:tc>
                <a:tc>
                  <a:txBody>
                    <a:bodyPr/>
                    <a:lstStyle/>
                    <a:p>
                      <a:pPr>
                        <a:defRPr sz="1000"/>
                      </a:pPr>
                      <a:r>
                        <a:t>0.8 ± 0.4</a:t>
                      </a:r>
                    </a:p>
                  </a:txBody>
                  <a:tcPr/>
                </a:tc>
              </a:tr>
              <a:tr h="274320">
                <a:tc>
                  <a:txBody>
                    <a:bodyPr/>
                    <a:lstStyle/>
                    <a:p>
                      <a:pPr>
                        <a:defRPr sz="1000"/>
                      </a:pPr>
                      <a:r>
                        <a:t>E2</a:t>
                      </a:r>
                    </a:p>
                  </a:txBody>
                  <a:tcPr/>
                </a:tc>
                <a:tc>
                  <a:txBody>
                    <a:bodyPr/>
                    <a:lstStyle/>
                    <a:p>
                      <a:pPr>
                        <a:defRPr sz="1000"/>
                      </a:pPr>
                      <a:r>
                        <a:t>CLIO 0.5.0</a:t>
                      </a:r>
                    </a:p>
                  </a:txBody>
                  <a:tcPr/>
                </a:tc>
                <a:tc>
                  <a:txBody>
                    <a:bodyPr/>
                    <a:lstStyle/>
                    <a:p>
                      <a:pPr>
                        <a:defRPr sz="1000"/>
                      </a:pPr>
                      <a:r>
                        <a:t>5</a:t>
                      </a:r>
                    </a:p>
                  </a:txBody>
                  <a:tcPr/>
                </a:tc>
                <a:tc>
                  <a:txBody>
                    <a:bodyPr/>
                    <a:lstStyle/>
                    <a:p>
                      <a:pPr>
                        <a:defRPr sz="1000"/>
                      </a:pPr>
                      <a:r>
                        <a:t>accepted 5/5</a:t>
                      </a:r>
                    </a:p>
                  </a:txBody>
                  <a:tcPr/>
                </a:tc>
                <a:tc>
                  <a:txBody>
                    <a:bodyPr/>
                    <a:lstStyle/>
                    <a:p>
                      <a:pPr>
                        <a:defRPr sz="1000"/>
                      </a:pPr>
                      <a:r>
                        <a:t>$10.59 ± 0.33</a:t>
                      </a:r>
                    </a:p>
                  </a:txBody>
                  <a:tcPr/>
                </a:tc>
                <a:tc>
                  <a:txBody>
                    <a:bodyPr/>
                    <a:lstStyle/>
                    <a:p>
                      <a:pPr>
                        <a:defRPr sz="1000"/>
                      </a:pPr>
                      <a:r>
                        <a:t>58.2 ± 10.4</a:t>
                      </a:r>
                    </a:p>
                  </a:txBody>
                  <a:tcPr/>
                </a:tc>
                <a:tc>
                  <a:txBody>
                    <a:bodyPr/>
                    <a:lstStyle/>
                    <a:p>
                      <a:pPr>
                        <a:defRPr sz="1000"/>
                      </a:pPr>
                      <a:r>
                        <a:t>14.3 ± 2.3</a:t>
                      </a:r>
                    </a:p>
                  </a:txBody>
                  <a:tcPr/>
                </a:tc>
                <a:tc>
                  <a:txBody>
                    <a:bodyPr/>
                    <a:lstStyle/>
                    <a:p>
                      <a:pPr>
                        <a:defRPr sz="1000"/>
                      </a:pPr>
                      <a:r>
                        <a:t>16.2 ± 2.7</a:t>
                      </a:r>
                    </a:p>
                  </a:txBody>
                  <a:tcPr/>
                </a:tc>
                <a:tc>
                  <a:txBody>
                    <a:bodyPr/>
                    <a:lstStyle/>
                    <a:p>
                      <a:pPr>
                        <a:defRPr sz="1000"/>
                      </a:pPr>
                      <a:r>
                        <a:t>51 ± 3</a:t>
                      </a:r>
                    </a:p>
                  </a:txBody>
                  <a:tcPr/>
                </a:tc>
                <a:tc>
                  <a:txBody>
                    <a:bodyPr/>
                    <a:lstStyle/>
                    <a:p>
                      <a:pPr>
                        <a:defRPr sz="1000"/>
                      </a:pPr>
                      <a:r>
                        <a:t>0.0 ± 0.0</a:t>
                      </a:r>
                    </a:p>
                  </a:txBody>
                  <a:tcPr/>
                </a:tc>
              </a:tr>
              <a:tr h="274320">
                <a:tc>
                  <a:txBody>
                    <a:bodyPr/>
                    <a:lstStyle/>
                    <a:p>
                      <a:pPr>
                        <a:defRPr sz="1000"/>
                      </a:pPr>
                      <a:r>
                        <a:t>E3</a:t>
                      </a:r>
                    </a:p>
                  </a:txBody>
                  <a:tcPr/>
                </a:tc>
                <a:tc>
                  <a:txBody>
                    <a:bodyPr/>
                    <a:lstStyle/>
                    <a:p>
                      <a:pPr>
                        <a:defRPr sz="1000"/>
                      </a:pPr>
                      <a:r>
                        <a:t>Claude Code baseline</a:t>
                      </a:r>
                    </a:p>
                  </a:txBody>
                  <a:tcPr/>
                </a:tc>
                <a:tc>
                  <a:txBody>
                    <a:bodyPr/>
                    <a:lstStyle/>
                    <a:p>
                      <a:pPr>
                        <a:defRPr sz="1000"/>
                      </a:pPr>
                      <a:r>
                        <a:t>5</a:t>
                      </a:r>
                    </a:p>
                  </a:txBody>
                  <a:tcPr/>
                </a:tc>
                <a:tc>
                  <a:txBody>
                    <a:bodyPr/>
                    <a:lstStyle/>
                    <a:p>
                      <a:pPr>
                        <a:defRPr sz="1000"/>
                      </a:pPr>
                      <a:r>
                        <a:t>accepted 5/5</a:t>
                      </a:r>
                    </a:p>
                  </a:txBody>
                  <a:tcPr/>
                </a:tc>
                <a:tc>
                  <a:txBody>
                    <a:bodyPr/>
                    <a:lstStyle/>
                    <a:p>
                      <a:pPr>
                        <a:defRPr sz="1000"/>
                      </a:pPr>
                      <a:r>
                        <a:t>$7.45 ± 0.50</a:t>
                      </a:r>
                    </a:p>
                  </a:txBody>
                  <a:tcPr/>
                </a:tc>
                <a:tc>
                  <a:txBody>
                    <a:bodyPr/>
                    <a:lstStyle/>
                    <a:p>
                      <a:pPr>
                        <a:defRPr sz="1000"/>
                      </a:pPr>
                      <a:r>
                        <a:t>30.9 ± 1.2</a:t>
                      </a:r>
                    </a:p>
                  </a:txBody>
                  <a:tcPr/>
                </a:tc>
                <a:tc>
                  <a:txBody>
                    <a:bodyPr/>
                    <a:lstStyle/>
                    <a:p>
                      <a:pPr>
                        <a:defRPr sz="1000"/>
                      </a:pPr>
                      <a:r>
                        <a:t>11.7 ± 2.1</a:t>
                      </a:r>
                    </a:p>
                  </a:txBody>
                  <a:tcPr/>
                </a:tc>
                <a:tc>
                  <a:txBody>
                    <a:bodyPr/>
                    <a:lstStyle/>
                    <a:p>
                      <a:pPr>
                        <a:defRPr sz="1000"/>
                      </a:pPr>
                      <a:r>
                        <a:t>13.4 ± 2.1</a:t>
                      </a:r>
                    </a:p>
                  </a:txBody>
                  <a:tcPr/>
                </a:tc>
                <a:tc>
                  <a:txBody>
                    <a:bodyPr/>
                    <a:lstStyle/>
                    <a:p>
                      <a:pPr>
                        <a:defRPr sz="1000"/>
                      </a:pPr>
                      <a:r>
                        <a:t>49 ± 3</a:t>
                      </a:r>
                    </a:p>
                  </a:txBody>
                  <a:tcPr/>
                </a:tc>
                <a:tc>
                  <a:txBody>
                    <a:bodyPr/>
                    <a:lstStyle/>
                    <a:p>
                      <a:pPr>
                        <a:defRPr sz="1000"/>
                      </a:pPr>
                      <a:r>
                        <a:t>0.0 ± 0.0</a:t>
                      </a:r>
                    </a:p>
                  </a:txBody>
                  <a:tcPr/>
                </a:tc>
              </a:tr>
              <a:tr h="274320">
                <a:tc>
                  <a:txBody>
                    <a:bodyPr/>
                    <a:lstStyle/>
                    <a:p>
                      <a:pPr>
                        <a:defRPr sz="1000"/>
                      </a:pPr>
                      <a:r>
                        <a:t>E3</a:t>
                      </a:r>
                    </a:p>
                  </a:txBody>
                  <a:tcPr/>
                </a:tc>
                <a:tc>
                  <a:txBody>
                    <a:bodyPr/>
                    <a:lstStyle/>
                    <a:p>
                      <a:pPr>
                        <a:defRPr sz="1000"/>
                      </a:pPr>
                      <a:r>
                        <a:t>CLIO 0.5.0</a:t>
                      </a:r>
                    </a:p>
                  </a:txBody>
                  <a:tcPr/>
                </a:tc>
                <a:tc>
                  <a:txBody>
                    <a:bodyPr/>
                    <a:lstStyle/>
                    <a:p>
                      <a:pPr>
                        <a:defRPr sz="1000"/>
                      </a:pPr>
                      <a:r>
                        <a:t>5</a:t>
                      </a:r>
                    </a:p>
                  </a:txBody>
                  <a:tcPr/>
                </a:tc>
                <a:tc>
                  <a:txBody>
                    <a:bodyPr/>
                    <a:lstStyle/>
                    <a:p>
                      <a:pPr>
                        <a:defRPr sz="1000"/>
                      </a:pPr>
                      <a:r>
                        <a:t>accepted 5/5</a:t>
                      </a:r>
                    </a:p>
                  </a:txBody>
                  <a:tcPr/>
                </a:tc>
                <a:tc>
                  <a:txBody>
                    <a:bodyPr/>
                    <a:lstStyle/>
                    <a:p>
                      <a:pPr>
                        <a:defRPr sz="1000"/>
                      </a:pPr>
                      <a:r>
                        <a:t>$6.21 ± 0.32</a:t>
                      </a:r>
                    </a:p>
                  </a:txBody>
                  <a:tcPr/>
                </a:tc>
                <a:tc>
                  <a:txBody>
                    <a:bodyPr/>
                    <a:lstStyle/>
                    <a:p>
                      <a:pPr>
                        <a:defRPr sz="1000"/>
                      </a:pPr>
                      <a:r>
                        <a:t>28.2 ± 5.0</a:t>
                      </a:r>
                    </a:p>
                  </a:txBody>
                  <a:tcPr/>
                </a:tc>
                <a:tc>
                  <a:txBody>
                    <a:bodyPr/>
                    <a:lstStyle/>
                    <a:p>
                      <a:pPr>
                        <a:defRPr sz="1000"/>
                      </a:pPr>
                      <a:r>
                        <a:t>9.3 ± 2.0</a:t>
                      </a:r>
                    </a:p>
                  </a:txBody>
                  <a:tcPr/>
                </a:tc>
                <a:tc>
                  <a:txBody>
                    <a:bodyPr/>
                    <a:lstStyle/>
                    <a:p>
                      <a:pPr>
                        <a:defRPr sz="1000"/>
                      </a:pPr>
                      <a:r>
                        <a:t>12.5 ± 2.5</a:t>
                      </a:r>
                    </a:p>
                  </a:txBody>
                  <a:tcPr/>
                </a:tc>
                <a:tc>
                  <a:txBody>
                    <a:bodyPr/>
                    <a:lstStyle/>
                    <a:p>
                      <a:pPr>
                        <a:defRPr sz="1000"/>
                      </a:pPr>
                      <a:r>
                        <a:t>27 ± 1</a:t>
                      </a:r>
                    </a:p>
                  </a:txBody>
                  <a:tcPr/>
                </a:tc>
                <a:tc>
                  <a:txBody>
                    <a:bodyPr/>
                    <a:lstStyle/>
                    <a:p>
                      <a:pPr>
                        <a:defRPr sz="1000"/>
                      </a:pPr>
                      <a:r>
                        <a:t>0.0 ± 0.0</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625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spAutoFit/>
          </a:bodyPr>
          <a:lstStyle/>
          <a:p>
            <a:pPr>
              <a:defRPr sz="2600" b="1">
                <a:solidFill>
                  <a:srgbClr val="0B0B0B"/>
                </a:solidFill>
              </a:defRPr>
            </a:pPr>
            <a:r>
              <a:t>Same or different? Statistical comparison</a:t>
            </a:r>
          </a:p>
          <a:p>
            <a:pPr>
              <a:defRPr sz="1300">
                <a:solidFill>
                  <a:srgbClr val="52514E"/>
                </a:solidFill>
              </a:defRPr>
            </a:pPr>
            <a:r>
              <a:t>Ratio = CLIO 0.5.0 mean ÷ baseline mean; red = significant (p &lt; 0.05 and CI excludes 1)</a:t>
            </a:r>
          </a:p>
        </p:txBody>
      </p:sp>
      <p:sp>
        <p:nvSpPr>
          <p:cNvPr id="4" name="TextBox 3"/>
          <p:cNvSpPr txBox="1"/>
          <p:nvPr/>
        </p:nvSpPr>
        <p:spPr>
          <a:xfrm>
            <a:off x="457200" y="6446520"/>
            <a:ext cx="11247120" cy="274320"/>
          </a:xfrm>
          <a:prstGeom prst="rect">
            <a:avLst/>
          </a:prstGeom>
          <a:noFill/>
        </p:spPr>
        <p:txBody>
          <a:bodyPr wrap="none">
            <a:spAutoFit/>
          </a:bodyPr>
          <a:lstStyle/>
          <a:p>
            <a:pPr>
              <a:defRPr sz="900">
                <a:solidFill>
                  <a:srgbClr val="52514E"/>
                </a:solidFill>
              </a:defRPr>
            </a:pPr>
            <a:r>
              <a:t>COUNTED THESIS TRIALS · CLIO (factorio-flat 0.5.0) vs Claude Code baseline · n = 5 per system per experiment</a:t>
            </a:r>
          </a:p>
        </p:txBody>
      </p:sp>
      <p:graphicFrame>
        <p:nvGraphicFramePr>
          <p:cNvPr id="5" name="Table 4"/>
          <p:cNvGraphicFramePr>
            <a:graphicFrameLocks noGrp="1"/>
          </p:cNvGraphicFramePr>
          <p:nvPr/>
        </p:nvGraphicFramePr>
        <p:xfrm>
          <a:off x="457200" y="1280160"/>
          <a:ext cx="11247120" cy="2468879"/>
        </p:xfrm>
        <a:graphic>
          <a:graphicData uri="http://schemas.openxmlformats.org/drawingml/2006/table">
            <a:tbl>
              <a:tblPr firstRow="1" bandRow="1">
                <a:tableStyleId>{5C22544A-7EE6-4342-B048-85BDC9FD1C3A}</a:tableStyleId>
              </a:tblPr>
              <a:tblGrid>
                <a:gridCol w="1920240"/>
                <a:gridCol w="3108960"/>
                <a:gridCol w="3108960"/>
                <a:gridCol w="3108960"/>
              </a:tblGrid>
              <a:tr h="274319">
                <a:tc>
                  <a:txBody>
                    <a:bodyPr/>
                    <a:lstStyle/>
                    <a:p>
                      <a:pPr>
                        <a:defRPr sz="1100" b="1"/>
                      </a:pPr>
                      <a:r>
                        <a:t>Metric</a:t>
                      </a:r>
                    </a:p>
                  </a:txBody>
                  <a:tcPr/>
                </a:tc>
                <a:tc>
                  <a:txBody>
                    <a:bodyPr/>
                    <a:lstStyle/>
                    <a:p>
                      <a:pPr>
                        <a:defRPr sz="1100" b="1"/>
                      </a:pPr>
                      <a:r>
                        <a:t>E1</a:t>
                      </a:r>
                    </a:p>
                  </a:txBody>
                  <a:tcPr/>
                </a:tc>
                <a:tc>
                  <a:txBody>
                    <a:bodyPr/>
                    <a:lstStyle/>
                    <a:p>
                      <a:pPr>
                        <a:defRPr sz="1100" b="1"/>
                      </a:pPr>
                      <a:r>
                        <a:t>E2</a:t>
                      </a:r>
                    </a:p>
                  </a:txBody>
                  <a:tcPr/>
                </a:tc>
                <a:tc>
                  <a:txBody>
                    <a:bodyPr/>
                    <a:lstStyle/>
                    <a:p>
                      <a:pPr>
                        <a:defRPr sz="1100" b="1"/>
                      </a:pPr>
                      <a:r>
                        <a:t>E3</a:t>
                      </a:r>
                    </a:p>
                  </a:txBody>
                  <a:tcPr/>
                </a:tc>
              </a:tr>
              <a:tr h="274319">
                <a:tc>
                  <a:txBody>
                    <a:bodyPr/>
                    <a:lstStyle/>
                    <a:p>
                      <a:pPr>
                        <a:defRPr sz="1100"/>
                      </a:pPr>
                      <a:r>
                        <a:t>Cost</a:t>
                      </a:r>
                    </a:p>
                  </a:txBody>
                  <a:tcPr/>
                </a:tc>
                <a:tc>
                  <a:txBody>
                    <a:bodyPr/>
                    <a:lstStyle/>
                    <a:p>
                      <a:pPr>
                        <a:defRPr sz="1100" b="1">
                          <a:solidFill>
                            <a:srgbClr val="E34948"/>
                          </a:solidFill>
                        </a:defRPr>
                      </a:pPr>
                      <a:r>
                        <a:t>×0.72 [0.64–0.83] p=0.008</a:t>
                      </a:r>
                    </a:p>
                  </a:txBody>
                  <a:tcPr/>
                </a:tc>
                <a:tc>
                  <a:txBody>
                    <a:bodyPr/>
                    <a:lstStyle/>
                    <a:p>
                      <a:pPr>
                        <a:defRPr sz="1100" b="1">
                          <a:solidFill>
                            <a:srgbClr val="E34948"/>
                          </a:solidFill>
                        </a:defRPr>
                      </a:pPr>
                      <a:r>
                        <a:t>×0.78 [0.74–0.83] p=0.008</a:t>
                      </a:r>
                    </a:p>
                  </a:txBody>
                  <a:tcPr/>
                </a:tc>
                <a:tc>
                  <a:txBody>
                    <a:bodyPr/>
                    <a:lstStyle/>
                    <a:p>
                      <a:pPr>
                        <a:defRPr sz="1100" b="1">
                          <a:solidFill>
                            <a:srgbClr val="E34948"/>
                          </a:solidFill>
                        </a:defRPr>
                      </a:pPr>
                      <a:r>
                        <a:t>×0.83 [0.78–0.89] p=0.008</a:t>
                      </a:r>
                    </a:p>
                  </a:txBody>
                  <a:tcPr/>
                </a:tc>
              </a:tr>
              <a:tr h="274319">
                <a:tc>
                  <a:txBody>
                    <a:bodyPr/>
                    <a:lstStyle/>
                    <a:p>
                      <a:pPr>
                        <a:defRPr sz="1100"/>
                      </a:pPr>
                      <a:r>
                        <a:t>Wall time</a:t>
                      </a:r>
                    </a:p>
                  </a:txBody>
                  <a:tcPr/>
                </a:tc>
                <a:tc>
                  <a:txBody>
                    <a:bodyPr/>
                    <a:lstStyle/>
                    <a:p>
                      <a:pPr>
                        <a:defRPr sz="1100" b="1">
                          <a:solidFill>
                            <a:srgbClr val="E34948"/>
                          </a:solidFill>
                        </a:defRPr>
                      </a:pPr>
                      <a:r>
                        <a:t>×1.22 [1.12–1.32] p=0.008</a:t>
                      </a:r>
                    </a:p>
                  </a:txBody>
                  <a:tcPr/>
                </a:tc>
                <a:tc>
                  <a:txBody>
                    <a:bodyPr/>
                    <a:lstStyle/>
                    <a:p>
                      <a:pPr>
                        <a:defRPr sz="1100"/>
                      </a:pPr>
                      <a:r>
                        <a:t>×0.85 [0.71–1.03] p=0.167</a:t>
                      </a:r>
                    </a:p>
                  </a:txBody>
                  <a:tcPr/>
                </a:tc>
                <a:tc>
                  <a:txBody>
                    <a:bodyPr/>
                    <a:lstStyle/>
                    <a:p>
                      <a:pPr>
                        <a:defRPr sz="1100"/>
                      </a:pPr>
                      <a:r>
                        <a:t>×0.91 [0.77–1.03] p=0.325</a:t>
                      </a:r>
                    </a:p>
                  </a:txBody>
                  <a:tcPr/>
                </a:tc>
              </a:tr>
              <a:tr h="274319">
                <a:tc>
                  <a:txBody>
                    <a:bodyPr/>
                    <a:lstStyle/>
                    <a:p>
                      <a:pPr>
                        <a:defRPr sz="1100"/>
                      </a:pPr>
                      <a:r>
                        <a:t>Model time</a:t>
                      </a:r>
                    </a:p>
                  </a:txBody>
                  <a:tcPr/>
                </a:tc>
                <a:tc>
                  <a:txBody>
                    <a:bodyPr/>
                    <a:lstStyle/>
                    <a:p>
                      <a:pPr>
                        <a:defRPr sz="1100"/>
                      </a:pPr>
                      <a:r>
                        <a:t>×0.77 [0.57–1.00] p=0.127</a:t>
                      </a:r>
                    </a:p>
                  </a:txBody>
                  <a:tcPr/>
                </a:tc>
                <a:tc>
                  <a:txBody>
                    <a:bodyPr/>
                    <a:lstStyle/>
                    <a:p>
                      <a:pPr>
                        <a:defRPr sz="1100" b="1">
                          <a:solidFill>
                            <a:srgbClr val="E34948"/>
                          </a:solidFill>
                        </a:defRPr>
                      </a:pPr>
                      <a:r>
                        <a:t>×0.73 [0.65–0.84] p=0.016</a:t>
                      </a:r>
                    </a:p>
                  </a:txBody>
                  <a:tcPr/>
                </a:tc>
                <a:tc>
                  <a:txBody>
                    <a:bodyPr/>
                    <a:lstStyle/>
                    <a:p>
                      <a:pPr>
                        <a:defRPr sz="1100"/>
                      </a:pPr>
                      <a:r>
                        <a:t>×0.80 [0.65–1.00] p=0.127</a:t>
                      </a:r>
                    </a:p>
                  </a:txBody>
                  <a:tcPr/>
                </a:tc>
              </a:tr>
              <a:tr h="274319">
                <a:tc>
                  <a:txBody>
                    <a:bodyPr/>
                    <a:lstStyle/>
                    <a:p>
                      <a:pPr>
                        <a:defRPr sz="1100"/>
                      </a:pPr>
                      <a:r>
                        <a:t>Outside Slurm</a:t>
                      </a:r>
                    </a:p>
                  </a:txBody>
                  <a:tcPr/>
                </a:tc>
                <a:tc>
                  <a:txBody>
                    <a:bodyPr/>
                    <a:lstStyle/>
                    <a:p>
                      <a:pPr>
                        <a:defRPr sz="1100"/>
                      </a:pPr>
                      <a:r>
                        <a:t>×0.82 [0.63–1.03] p=0.175</a:t>
                      </a:r>
                    </a:p>
                  </a:txBody>
                  <a:tcPr/>
                </a:tc>
                <a:tc>
                  <a:txBody>
                    <a:bodyPr/>
                    <a:lstStyle/>
                    <a:p>
                      <a:pPr>
                        <a:defRPr sz="1100" b="1">
                          <a:solidFill>
                            <a:srgbClr val="E34948"/>
                          </a:solidFill>
                        </a:defRPr>
                      </a:pPr>
                      <a:r>
                        <a:t>×0.77 [0.68–0.89] p=0.032</a:t>
                      </a:r>
                    </a:p>
                  </a:txBody>
                  <a:tcPr/>
                </a:tc>
                <a:tc>
                  <a:txBody>
                    <a:bodyPr/>
                    <a:lstStyle/>
                    <a:p>
                      <a:pPr>
                        <a:defRPr sz="1100"/>
                      </a:pPr>
                      <a:r>
                        <a:t>×0.94 [0.77–1.15] p=0.548</a:t>
                      </a:r>
                    </a:p>
                  </a:txBody>
                  <a:tcPr/>
                </a:tc>
              </a:tr>
              <a:tr h="274319">
                <a:tc>
                  <a:txBody>
                    <a:bodyPr/>
                    <a:lstStyle/>
                    <a:p>
                      <a:pPr>
                        <a:defRPr sz="1100"/>
                      </a:pPr>
                      <a:r>
                        <a:t>Slurm wait</a:t>
                      </a:r>
                    </a:p>
                  </a:txBody>
                  <a:tcPr/>
                </a:tc>
                <a:tc>
                  <a:txBody>
                    <a:bodyPr/>
                    <a:lstStyle/>
                    <a:p>
                      <a:pPr>
                        <a:defRPr sz="1100" b="1">
                          <a:solidFill>
                            <a:srgbClr val="E34948"/>
                          </a:solidFill>
                        </a:defRPr>
                      </a:pPr>
                      <a:r>
                        <a:t>×1.74 [1.39–2.05] p=0.008</a:t>
                      </a:r>
                    </a:p>
                  </a:txBody>
                  <a:tcPr/>
                </a:tc>
                <a:tc>
                  <a:txBody>
                    <a:bodyPr/>
                    <a:lstStyle/>
                    <a:p>
                      <a:pPr>
                        <a:defRPr sz="1100"/>
                      </a:pPr>
                      <a:r>
                        <a:t>×0.89 [0.68–1.17] p=0.389</a:t>
                      </a:r>
                    </a:p>
                  </a:txBody>
                  <a:tcPr/>
                </a:tc>
                <a:tc>
                  <a:txBody>
                    <a:bodyPr/>
                    <a:lstStyle/>
                    <a:p>
                      <a:pPr>
                        <a:defRPr sz="1100"/>
                      </a:pPr>
                      <a:r>
                        <a:t>×0.90 [0.71–1.06] p=0.484</a:t>
                      </a:r>
                    </a:p>
                  </a:txBody>
                  <a:tcPr/>
                </a:tc>
              </a:tr>
              <a:tr h="274319">
                <a:tc>
                  <a:txBody>
                    <a:bodyPr/>
                    <a:lstStyle/>
                    <a:p>
                      <a:pPr>
                        <a:defRPr sz="1100"/>
                      </a:pPr>
                      <a:r>
                        <a:t>API calls</a:t>
                      </a:r>
                    </a:p>
                  </a:txBody>
                  <a:tcPr/>
                </a:tc>
                <a:tc>
                  <a:txBody>
                    <a:bodyPr/>
                    <a:lstStyle/>
                    <a:p>
                      <a:pPr>
                        <a:defRPr sz="1100"/>
                      </a:pPr>
                      <a:r>
                        <a:t>×0.85 [0.68–1.06] p=0.325</a:t>
                      </a:r>
                    </a:p>
                  </a:txBody>
                  <a:tcPr/>
                </a:tc>
                <a:tc>
                  <a:txBody>
                    <a:bodyPr/>
                    <a:lstStyle/>
                    <a:p>
                      <a:pPr>
                        <a:defRPr sz="1100" b="1">
                          <a:solidFill>
                            <a:srgbClr val="E34948"/>
                          </a:solidFill>
                        </a:defRPr>
                      </a:pPr>
                      <a:r>
                        <a:t>×0.72 [0.64–0.81] p=0.008</a:t>
                      </a:r>
                    </a:p>
                  </a:txBody>
                  <a:tcPr/>
                </a:tc>
                <a:tc>
                  <a:txBody>
                    <a:bodyPr/>
                    <a:lstStyle/>
                    <a:p>
                      <a:pPr>
                        <a:defRPr sz="1100" b="1">
                          <a:solidFill>
                            <a:srgbClr val="E34948"/>
                          </a:solidFill>
                        </a:defRPr>
                      </a:pPr>
                      <a:r>
                        <a:t>×0.55 [0.52–0.58] p=0.008</a:t>
                      </a:r>
                    </a:p>
                  </a:txBody>
                  <a:tcPr/>
                </a:tc>
              </a:tr>
              <a:tr h="274319">
                <a:tc>
                  <a:txBody>
                    <a:bodyPr/>
                    <a:lstStyle/>
                    <a:p>
                      <a:pPr>
                        <a:defRPr sz="1100"/>
                      </a:pPr>
                      <a:r>
                        <a:t>Output tokens</a:t>
                      </a:r>
                    </a:p>
                  </a:txBody>
                  <a:tcPr/>
                </a:tc>
                <a:tc>
                  <a:txBody>
                    <a:bodyPr/>
                    <a:lstStyle/>
                    <a:p>
                      <a:pPr>
                        <a:defRPr sz="1100" b="1">
                          <a:solidFill>
                            <a:srgbClr val="E34948"/>
                          </a:solidFill>
                        </a:defRPr>
                      </a:pPr>
                      <a:r>
                        <a:t>×0.68 [0.55–0.88] p=0.032</a:t>
                      </a:r>
                    </a:p>
                  </a:txBody>
                  <a:tcPr/>
                </a:tc>
                <a:tc>
                  <a:txBody>
                    <a:bodyPr/>
                    <a:lstStyle/>
                    <a:p>
                      <a:pPr>
                        <a:defRPr sz="1100" b="1">
                          <a:solidFill>
                            <a:srgbClr val="E34948"/>
                          </a:solidFill>
                        </a:defRPr>
                      </a:pPr>
                      <a:r>
                        <a:t>×0.67 [0.61–0.73] p=0.008</a:t>
                      </a:r>
                    </a:p>
                  </a:txBody>
                  <a:tcPr/>
                </a:tc>
                <a:tc>
                  <a:txBody>
                    <a:bodyPr/>
                    <a:lstStyle/>
                    <a:p>
                      <a:pPr>
                        <a:defRPr sz="1100" b="1">
                          <a:solidFill>
                            <a:srgbClr val="E34948"/>
                          </a:solidFill>
                        </a:defRPr>
                      </a:pPr>
                      <a:r>
                        <a:t>×0.70 [0.65–0.76] p=0.008</a:t>
                      </a:r>
                    </a:p>
                  </a:txBody>
                  <a:tcPr/>
                </a:tc>
              </a:tr>
              <a:tr h="274327">
                <a:tc>
                  <a:txBody>
                    <a:bodyPr/>
                    <a:lstStyle/>
                    <a:p>
                      <a:pPr>
                        <a:defRPr sz="1100"/>
                      </a:pPr>
                      <a:r>
                        <a:t>Cache writes</a:t>
                      </a:r>
                    </a:p>
                  </a:txBody>
                  <a:tcPr/>
                </a:tc>
                <a:tc>
                  <a:txBody>
                    <a:bodyPr/>
                    <a:lstStyle/>
                    <a:p>
                      <a:pPr>
                        <a:defRPr sz="1100" b="1">
                          <a:solidFill>
                            <a:srgbClr val="E34948"/>
                          </a:solidFill>
                        </a:defRPr>
                      </a:pPr>
                      <a:r>
                        <a:t>×0.77 [0.71–0.83] p=0.008</a:t>
                      </a:r>
                    </a:p>
                  </a:txBody>
                  <a:tcPr/>
                </a:tc>
                <a:tc>
                  <a:txBody>
                    <a:bodyPr/>
                    <a:lstStyle/>
                    <a:p>
                      <a:pPr>
                        <a:defRPr sz="1100" b="1">
                          <a:solidFill>
                            <a:srgbClr val="E34948"/>
                          </a:solidFill>
                        </a:defRPr>
                      </a:pPr>
                      <a:r>
                        <a:t>×0.92 [0.88–0.98] p=0.048</a:t>
                      </a:r>
                    </a:p>
                  </a:txBody>
                  <a:tcPr/>
                </a:tc>
                <a:tc>
                  <a:txBody>
                    <a:bodyPr/>
                    <a:lstStyle/>
                    <a:p>
                      <a:pPr>
                        <a:defRPr sz="1100"/>
                      </a:pPr>
                      <a:r>
                        <a:t>×1.04 [0.97–1.12] p=0.309</a:t>
                      </a:r>
                    </a:p>
                  </a:txBody>
                  <a:tcPr/>
                </a:tc>
              </a:tr>
            </a:tbl>
          </a:graphicData>
        </a:graphic>
      </p:graphicFrame>
      <p:sp>
        <p:nvSpPr>
          <p:cNvPr id="6" name="TextBox 5"/>
          <p:cNvSpPr txBox="1"/>
          <p:nvPr/>
        </p:nvSpPr>
        <p:spPr>
          <a:xfrm>
            <a:off x="548640" y="4206240"/>
            <a:ext cx="11064240" cy="2148840"/>
          </a:xfrm>
          <a:prstGeom prst="rect">
            <a:avLst/>
          </a:prstGeom>
          <a:noFill/>
        </p:spPr>
        <p:txBody>
          <a:bodyPr wrap="square">
            <a:spAutoFit/>
          </a:bodyPr>
          <a:lstStyle/>
          <a:p>
            <a:pPr>
              <a:spcAft>
                <a:spcPts val="600"/>
              </a:spcAft>
              <a:defRPr sz="1200">
                <a:solidFill>
                  <a:srgbClr val="0B0B0B"/>
                </a:solidFill>
              </a:defRPr>
            </a:pPr>
            <a:r>
              <a:t>• Tests: exact permutation test on the difference in means (also exact Mann-Whitney U, in data/stats.csv); bootstrap 95 % CI of the ratio. With n = 5, a non-significant result means 'no detectable difference', not 'equal'.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625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spAutoFit/>
          </a:bodyPr>
          <a:lstStyle/>
          <a:p>
            <a:pPr>
              <a:defRPr sz="2600" b="1">
                <a:solidFill>
                  <a:srgbClr val="0B0B0B"/>
                </a:solidFill>
              </a:defRPr>
            </a:pPr>
            <a:r>
              <a:t>Verdict per experiment</a:t>
            </a:r>
          </a:p>
        </p:txBody>
      </p:sp>
      <p:sp>
        <p:nvSpPr>
          <p:cNvPr id="4" name="TextBox 3"/>
          <p:cNvSpPr txBox="1"/>
          <p:nvPr/>
        </p:nvSpPr>
        <p:spPr>
          <a:xfrm>
            <a:off x="457200" y="6446520"/>
            <a:ext cx="11247120" cy="274320"/>
          </a:xfrm>
          <a:prstGeom prst="rect">
            <a:avLst/>
          </a:prstGeom>
          <a:noFill/>
        </p:spPr>
        <p:txBody>
          <a:bodyPr wrap="none">
            <a:spAutoFit/>
          </a:bodyPr>
          <a:lstStyle/>
          <a:p>
            <a:pPr>
              <a:defRPr sz="900">
                <a:solidFill>
                  <a:srgbClr val="52514E"/>
                </a:solidFill>
              </a:defRPr>
            </a:pPr>
            <a:r>
              <a:t>COUNTED THESIS TRIALS · CLIO (factorio-flat 0.5.0) vs Claude Code baseline · n = 5 per system per experiment</a:t>
            </a:r>
          </a:p>
        </p:txBody>
      </p:sp>
      <p:sp>
        <p:nvSpPr>
          <p:cNvPr id="5" name="TextBox 4"/>
          <p:cNvSpPr txBox="1"/>
          <p:nvPr/>
        </p:nvSpPr>
        <p:spPr>
          <a:xfrm>
            <a:off x="548640" y="1371600"/>
            <a:ext cx="11064240" cy="4983480"/>
          </a:xfrm>
          <a:prstGeom prst="rect">
            <a:avLst/>
          </a:prstGeom>
          <a:noFill/>
        </p:spPr>
        <p:txBody>
          <a:bodyPr wrap="square">
            <a:spAutoFit/>
          </a:bodyPr>
          <a:lstStyle/>
          <a:p>
            <a:pPr>
              <a:spcAft>
                <a:spcPts val="600"/>
              </a:spcAft>
              <a:defRPr sz="1400">
                <a:solidFill>
                  <a:srgbClr val="0B0B0B"/>
                </a:solidFill>
              </a:defRPr>
            </a:pPr>
            <a:r>
              <a:t>• E1: outcomes CLIO accepted 5/5 vs baseline accepted 5/5</a:t>
            </a:r>
          </a:p>
          <a:p>
            <a:pPr lvl="1">
              <a:spcAft>
                <a:spcPts val="600"/>
              </a:spcAft>
              <a:defRPr sz="1200">
                <a:solidFill>
                  <a:srgbClr val="0B0B0B"/>
                </a:solidFill>
              </a:defRPr>
            </a:pPr>
            <a:r>
              <a:t>E1 cost: LOWER for CLIO (×0.72, 95 % CI 0.64–0.83; p = 0.008)</a:t>
            </a:r>
          </a:p>
          <a:p>
            <a:pPr lvl="1">
              <a:spcAft>
                <a:spcPts val="600"/>
              </a:spcAft>
              <a:defRPr sz="1200">
                <a:solidFill>
                  <a:srgbClr val="0B0B0B"/>
                </a:solidFill>
              </a:defRPr>
            </a:pPr>
            <a:r>
              <a:t>E1 wall time: HIGHER for CLIO (×1.22, 95 % CI 1.12–1.32; p = 0.008)</a:t>
            </a:r>
          </a:p>
          <a:p>
            <a:pPr lvl="1">
              <a:spcAft>
                <a:spcPts val="600"/>
              </a:spcAft>
              <a:defRPr sz="1200">
                <a:solidFill>
                  <a:srgbClr val="0B0B0B"/>
                </a:solidFill>
              </a:defRPr>
            </a:pPr>
            <a:r>
              <a:t>E1 model time: no detectable difference (×0.77, 95 % CI 0.57–1.00; p = 0.127)</a:t>
            </a:r>
          </a:p>
          <a:p>
            <a:pPr lvl="1">
              <a:spcAft>
                <a:spcPts val="600"/>
              </a:spcAft>
              <a:defRPr sz="1200">
                <a:solidFill>
                  <a:srgbClr val="0B0B0B"/>
                </a:solidFill>
              </a:defRPr>
            </a:pPr>
            <a:r>
              <a:t>E1 time outside Slurm: no detectable difference (×0.82, 95 % CI 0.63–1.03; p = 0.175)</a:t>
            </a:r>
          </a:p>
          <a:p>
            <a:pPr lvl="1">
              <a:spcAft>
                <a:spcPts val="600"/>
              </a:spcAft>
              <a:defRPr sz="1200">
                <a:solidFill>
                  <a:srgbClr val="0B0B0B"/>
                </a:solidFill>
              </a:defRPr>
            </a:pPr>
            <a:r>
              <a:t>E1 API calls: no detectable difference (×0.85, 95 % CI 0.68–1.06; p = 0.325)</a:t>
            </a:r>
          </a:p>
          <a:p>
            <a:pPr>
              <a:spcAft>
                <a:spcPts val="600"/>
              </a:spcAft>
              <a:defRPr sz="1400">
                <a:solidFill>
                  <a:srgbClr val="0B0B0B"/>
                </a:solidFill>
              </a:defRPr>
            </a:pPr>
            <a:r>
              <a:t>• E2: outcomes CLIO accepted 5/5 vs baseline accepted 5/5</a:t>
            </a:r>
          </a:p>
          <a:p>
            <a:pPr lvl="1">
              <a:spcAft>
                <a:spcPts val="600"/>
              </a:spcAft>
              <a:defRPr sz="1200">
                <a:solidFill>
                  <a:srgbClr val="0B0B0B"/>
                </a:solidFill>
              </a:defRPr>
            </a:pPr>
            <a:r>
              <a:t>E2 cost: LOWER for CLIO (×0.78, 95 % CI 0.74–0.83; p = 0.008)</a:t>
            </a:r>
          </a:p>
          <a:p>
            <a:pPr lvl="1">
              <a:spcAft>
                <a:spcPts val="600"/>
              </a:spcAft>
              <a:defRPr sz="1200">
                <a:solidFill>
                  <a:srgbClr val="0B0B0B"/>
                </a:solidFill>
              </a:defRPr>
            </a:pPr>
            <a:r>
              <a:t>E2 wall time: no detectable difference (×0.85, 95 % CI 0.71–1.03; p = 0.167)</a:t>
            </a:r>
          </a:p>
          <a:p>
            <a:pPr lvl="1">
              <a:spcAft>
                <a:spcPts val="600"/>
              </a:spcAft>
              <a:defRPr sz="1200">
                <a:solidFill>
                  <a:srgbClr val="0B0B0B"/>
                </a:solidFill>
              </a:defRPr>
            </a:pPr>
            <a:r>
              <a:t>E2 model time: LOWER for CLIO (×0.73, 95 % CI 0.65–0.84; p = 0.016)</a:t>
            </a:r>
          </a:p>
          <a:p>
            <a:pPr lvl="1">
              <a:spcAft>
                <a:spcPts val="600"/>
              </a:spcAft>
              <a:defRPr sz="1200">
                <a:solidFill>
                  <a:srgbClr val="0B0B0B"/>
                </a:solidFill>
              </a:defRPr>
            </a:pPr>
            <a:r>
              <a:t>E2 time outside Slurm: LOWER for CLIO (×0.77, 95 % CI 0.68–0.89; p = 0.032)</a:t>
            </a:r>
          </a:p>
          <a:p>
            <a:pPr lvl="1">
              <a:spcAft>
                <a:spcPts val="600"/>
              </a:spcAft>
              <a:defRPr sz="1200">
                <a:solidFill>
                  <a:srgbClr val="0B0B0B"/>
                </a:solidFill>
              </a:defRPr>
            </a:pPr>
            <a:r>
              <a:t>E2 API calls: LOWER for CLIO (×0.72, 95 % CI 0.64–0.81; p = 0.008)</a:t>
            </a:r>
          </a:p>
          <a:p>
            <a:pPr>
              <a:spcAft>
                <a:spcPts val="600"/>
              </a:spcAft>
              <a:defRPr sz="1400">
                <a:solidFill>
                  <a:srgbClr val="0B0B0B"/>
                </a:solidFill>
              </a:defRPr>
            </a:pPr>
            <a:r>
              <a:t>• E3: outcomes CLIO accepted 5/5 vs baseline accepted 5/5</a:t>
            </a:r>
          </a:p>
          <a:p>
            <a:pPr lvl="1">
              <a:spcAft>
                <a:spcPts val="600"/>
              </a:spcAft>
              <a:defRPr sz="1200">
                <a:solidFill>
                  <a:srgbClr val="0B0B0B"/>
                </a:solidFill>
              </a:defRPr>
            </a:pPr>
            <a:r>
              <a:t>E3 cost: LOWER for CLIO (×0.83, 95 % CI 0.78–0.89; p = 0.008)</a:t>
            </a:r>
          </a:p>
          <a:p>
            <a:pPr lvl="1">
              <a:spcAft>
                <a:spcPts val="600"/>
              </a:spcAft>
              <a:defRPr sz="1200">
                <a:solidFill>
                  <a:srgbClr val="0B0B0B"/>
                </a:solidFill>
              </a:defRPr>
            </a:pPr>
            <a:r>
              <a:t>E3 wall time: no detectable difference (×0.91, 95 % CI 0.77–1.03; p = 0.325)</a:t>
            </a:r>
          </a:p>
          <a:p>
            <a:pPr lvl="1">
              <a:spcAft>
                <a:spcPts val="600"/>
              </a:spcAft>
              <a:defRPr sz="1200">
                <a:solidFill>
                  <a:srgbClr val="0B0B0B"/>
                </a:solidFill>
              </a:defRPr>
            </a:pPr>
            <a:r>
              <a:t>E3 model time: no detectable difference (×0.80, 95 % CI 0.65–1.00; p = 0.127)</a:t>
            </a:r>
          </a:p>
          <a:p>
            <a:pPr lvl="1">
              <a:spcAft>
                <a:spcPts val="600"/>
              </a:spcAft>
              <a:defRPr sz="1200">
                <a:solidFill>
                  <a:srgbClr val="0B0B0B"/>
                </a:solidFill>
              </a:defRPr>
            </a:pPr>
            <a:r>
              <a:t>E3 time outside Slurm: no detectable difference (×0.94, 95 % CI 0.77–1.15; p = 0.548)</a:t>
            </a:r>
          </a:p>
          <a:p>
            <a:pPr lvl="1">
              <a:spcAft>
                <a:spcPts val="600"/>
              </a:spcAft>
              <a:defRPr sz="1200">
                <a:solidFill>
                  <a:srgbClr val="0B0B0B"/>
                </a:solidFill>
              </a:defRPr>
            </a:pPr>
            <a:r>
              <a:t>E3 API calls: LOWER for CLIO (×0.55, 95 % CI 0.52–0.58; p = 0.008)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625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spAutoFit/>
          </a:bodyPr>
          <a:lstStyle/>
          <a:p>
            <a:pPr>
              <a:defRPr sz="2600" b="1">
                <a:solidFill>
                  <a:srgbClr val="0B0B0B"/>
                </a:solidFill>
              </a:defRPr>
            </a:pPr>
            <a:r>
              <a:t>Where the money goes</a:t>
            </a:r>
          </a:p>
          <a:p>
            <a:pPr>
              <a:defRPr sz="1300">
                <a:solidFill>
                  <a:srgbClr val="52514E"/>
                </a:solidFill>
              </a:defRPr>
            </a:pPr>
            <a:r>
              <a:t>Mean cost per run by component</a:t>
            </a:r>
          </a:p>
        </p:txBody>
      </p:sp>
      <p:sp>
        <p:nvSpPr>
          <p:cNvPr id="4" name="TextBox 3"/>
          <p:cNvSpPr txBox="1"/>
          <p:nvPr/>
        </p:nvSpPr>
        <p:spPr>
          <a:xfrm>
            <a:off x="457200" y="6446520"/>
            <a:ext cx="11247120" cy="274320"/>
          </a:xfrm>
          <a:prstGeom prst="rect">
            <a:avLst/>
          </a:prstGeom>
          <a:noFill/>
        </p:spPr>
        <p:txBody>
          <a:bodyPr wrap="none">
            <a:spAutoFit/>
          </a:bodyPr>
          <a:lstStyle/>
          <a:p>
            <a:pPr>
              <a:defRPr sz="900">
                <a:solidFill>
                  <a:srgbClr val="52514E"/>
                </a:solidFill>
              </a:defRPr>
            </a:pPr>
            <a:r>
              <a:t>COUNTED THESIS TRIALS · CLIO (factorio-flat 0.5.0) vs Claude Code baseline · n = 5 per system per experiment</a:t>
            </a:r>
          </a:p>
        </p:txBody>
      </p:sp>
      <p:pic>
        <p:nvPicPr>
          <p:cNvPr id="5" name="Picture 4" descr="H1_cost_decomposition.png"/>
          <p:cNvPicPr>
            <a:picLocks noChangeAspect="1"/>
          </p:cNvPicPr>
          <p:nvPr/>
        </p:nvPicPr>
        <p:blipFill>
          <a:blip r:embed="rId2"/>
          <a:stretch>
            <a:fillRect/>
          </a:stretch>
        </p:blipFill>
        <p:spPr>
          <a:xfrm>
            <a:off x="1078135" y="1234440"/>
            <a:ext cx="10035425" cy="512064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625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spAutoFit/>
          </a:bodyPr>
          <a:lstStyle/>
          <a:p>
            <a:pPr>
              <a:defRPr sz="2600" b="1">
                <a:solidFill>
                  <a:srgbClr val="0B0B0B"/>
                </a:solidFill>
              </a:defRPr>
            </a:pPr>
            <a:r>
              <a:t>Per-call view: context sent and cache writes</a:t>
            </a:r>
          </a:p>
          <a:p>
            <a:pPr>
              <a:defRPr sz="1300">
                <a:solidFill>
                  <a:srgbClr val="52514E"/>
                </a:solidFill>
              </a:defRPr>
            </a:pPr>
            <a:r>
              <a:t>Median-cost run of each system and experiment</a:t>
            </a:r>
          </a:p>
        </p:txBody>
      </p:sp>
      <p:sp>
        <p:nvSpPr>
          <p:cNvPr id="4" name="TextBox 3"/>
          <p:cNvSpPr txBox="1"/>
          <p:nvPr/>
        </p:nvSpPr>
        <p:spPr>
          <a:xfrm>
            <a:off x="457200" y="6446520"/>
            <a:ext cx="11247120" cy="274320"/>
          </a:xfrm>
          <a:prstGeom prst="rect">
            <a:avLst/>
          </a:prstGeom>
          <a:noFill/>
        </p:spPr>
        <p:txBody>
          <a:bodyPr wrap="none">
            <a:spAutoFit/>
          </a:bodyPr>
          <a:lstStyle/>
          <a:p>
            <a:pPr>
              <a:defRPr sz="900">
                <a:solidFill>
                  <a:srgbClr val="52514E"/>
                </a:solidFill>
              </a:defRPr>
            </a:pPr>
            <a:r>
              <a:t>COUNTED THESIS TRIALS · CLIO (factorio-flat 0.5.0) vs Claude Code baseline · n = 5 per system per experiment</a:t>
            </a:r>
          </a:p>
        </p:txBody>
      </p:sp>
      <p:pic>
        <p:nvPicPr>
          <p:cNvPr id="5" name="Picture 4" descr="H2_per_call_context_and_cache_writes.png"/>
          <p:cNvPicPr>
            <a:picLocks noChangeAspect="1"/>
          </p:cNvPicPr>
          <p:nvPr/>
        </p:nvPicPr>
        <p:blipFill>
          <a:blip r:embed="rId2"/>
          <a:stretch>
            <a:fillRect/>
          </a:stretch>
        </p:blipFill>
        <p:spPr>
          <a:xfrm>
            <a:off x="2506702" y="1097280"/>
            <a:ext cx="7178291" cy="51663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625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spAutoFit/>
          </a:bodyPr>
          <a:lstStyle/>
          <a:p>
            <a:pPr>
              <a:defRPr sz="2600" b="1">
                <a:solidFill>
                  <a:srgbClr val="0B0B0B"/>
                </a:solidFill>
              </a:defRPr>
            </a:pPr>
            <a:r>
              <a:t>Time: model minutes, tools and Slurm waits</a:t>
            </a:r>
          </a:p>
          <a:p>
            <a:pPr>
              <a:defRPr sz="1300">
                <a:solidFill>
                  <a:srgbClr val="52514E"/>
                </a:solidFill>
              </a:defRPr>
            </a:pPr>
            <a:r>
              <a:t>Slurm/Morphorm waits depend on node and contention; model and tool time are the agent's part</a:t>
            </a:r>
          </a:p>
        </p:txBody>
      </p:sp>
      <p:sp>
        <p:nvSpPr>
          <p:cNvPr id="4" name="TextBox 3"/>
          <p:cNvSpPr txBox="1"/>
          <p:nvPr/>
        </p:nvSpPr>
        <p:spPr>
          <a:xfrm>
            <a:off x="457200" y="6446520"/>
            <a:ext cx="11247120" cy="274320"/>
          </a:xfrm>
          <a:prstGeom prst="rect">
            <a:avLst/>
          </a:prstGeom>
          <a:noFill/>
        </p:spPr>
        <p:txBody>
          <a:bodyPr wrap="none">
            <a:spAutoFit/>
          </a:bodyPr>
          <a:lstStyle/>
          <a:p>
            <a:pPr>
              <a:defRPr sz="900">
                <a:solidFill>
                  <a:srgbClr val="52514E"/>
                </a:solidFill>
              </a:defRPr>
            </a:pPr>
            <a:r>
              <a:t>COUNTED THESIS TRIALS · CLIO (factorio-flat 0.5.0) vs Claude Code baseline · n = 5 per system per experiment</a:t>
            </a:r>
          </a:p>
        </p:txBody>
      </p:sp>
      <p:pic>
        <p:nvPicPr>
          <p:cNvPr id="5" name="Picture 4" descr="H3_time_breakdown.png"/>
          <p:cNvPicPr>
            <a:picLocks noChangeAspect="1"/>
          </p:cNvPicPr>
          <p:nvPr/>
        </p:nvPicPr>
        <p:blipFill>
          <a:blip r:embed="rId2"/>
          <a:stretch>
            <a:fillRect/>
          </a:stretch>
        </p:blipFill>
        <p:spPr>
          <a:xfrm>
            <a:off x="1161116" y="1188720"/>
            <a:ext cx="9869462" cy="512064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625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spAutoFit/>
          </a:bodyPr>
          <a:lstStyle/>
          <a:p>
            <a:pPr>
              <a:defRPr sz="2600" b="1">
                <a:solidFill>
                  <a:srgbClr val="0B0B0B"/>
                </a:solidFill>
              </a:defRPr>
            </a:pPr>
            <a:r>
              <a:t>How much work each run did</a:t>
            </a:r>
          </a:p>
          <a:p>
            <a:pPr>
              <a:defRPr sz="1300">
                <a:solidFill>
                  <a:srgbClr val="52514E"/>
                </a:solidFill>
              </a:defRPr>
            </a:pPr>
            <a:r>
              <a:t>Each dot is one run; bar = mean</a:t>
            </a:r>
          </a:p>
        </p:txBody>
      </p:sp>
      <p:sp>
        <p:nvSpPr>
          <p:cNvPr id="4" name="TextBox 3"/>
          <p:cNvSpPr txBox="1"/>
          <p:nvPr/>
        </p:nvSpPr>
        <p:spPr>
          <a:xfrm>
            <a:off x="457200" y="6446520"/>
            <a:ext cx="11247120" cy="274320"/>
          </a:xfrm>
          <a:prstGeom prst="rect">
            <a:avLst/>
          </a:prstGeom>
          <a:noFill/>
        </p:spPr>
        <p:txBody>
          <a:bodyPr wrap="none">
            <a:spAutoFit/>
          </a:bodyPr>
          <a:lstStyle/>
          <a:p>
            <a:pPr>
              <a:defRPr sz="900">
                <a:solidFill>
                  <a:srgbClr val="52514E"/>
                </a:solidFill>
              </a:defRPr>
            </a:pPr>
            <a:r>
              <a:t>COUNTED THESIS TRIALS · CLIO (factorio-flat 0.5.0) vs Claude Code baseline · n = 5 per system per experiment</a:t>
            </a:r>
          </a:p>
        </p:txBody>
      </p:sp>
      <p:pic>
        <p:nvPicPr>
          <p:cNvPr id="5" name="Picture 4" descr="H4_work_volume.png"/>
          <p:cNvPicPr>
            <a:picLocks noChangeAspect="1"/>
          </p:cNvPicPr>
          <p:nvPr/>
        </p:nvPicPr>
        <p:blipFill>
          <a:blip r:embed="rId2"/>
          <a:stretch>
            <a:fillRect/>
          </a:stretch>
        </p:blipFill>
        <p:spPr>
          <a:xfrm>
            <a:off x="472287" y="1371600"/>
            <a:ext cx="11247120" cy="32076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625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spAutoFit/>
          </a:bodyPr>
          <a:lstStyle/>
          <a:p>
            <a:pPr>
              <a:defRPr sz="2600" b="1">
                <a:solidFill>
                  <a:srgbClr val="0B0B0B"/>
                </a:solidFill>
              </a:defRPr>
            </a:pPr>
            <a:r>
              <a:t>Per-run distributions: cost and time</a:t>
            </a:r>
          </a:p>
          <a:p>
            <a:pPr>
              <a:defRPr sz="1300">
                <a:solidFill>
                  <a:srgbClr val="52514E"/>
                </a:solidFill>
              </a:defRPr>
            </a:pPr>
            <a:r>
              <a:t>n = 5 vs n = 5; ratio of means and exact permutation p above each pair</a:t>
            </a:r>
          </a:p>
        </p:txBody>
      </p:sp>
      <p:sp>
        <p:nvSpPr>
          <p:cNvPr id="4" name="TextBox 3"/>
          <p:cNvSpPr txBox="1"/>
          <p:nvPr/>
        </p:nvSpPr>
        <p:spPr>
          <a:xfrm>
            <a:off x="457200" y="6446520"/>
            <a:ext cx="11247120" cy="274320"/>
          </a:xfrm>
          <a:prstGeom prst="rect">
            <a:avLst/>
          </a:prstGeom>
          <a:noFill/>
        </p:spPr>
        <p:txBody>
          <a:bodyPr wrap="none">
            <a:spAutoFit/>
          </a:bodyPr>
          <a:lstStyle/>
          <a:p>
            <a:pPr>
              <a:defRPr sz="900">
                <a:solidFill>
                  <a:srgbClr val="52514E"/>
                </a:solidFill>
              </a:defRPr>
            </a:pPr>
            <a:r>
              <a:t>COUNTED THESIS TRIALS · CLIO (factorio-flat 0.5.0) vs Claude Code baseline · n = 5 per system per experiment</a:t>
            </a:r>
          </a:p>
        </p:txBody>
      </p:sp>
      <p:pic>
        <p:nvPicPr>
          <p:cNvPr id="5" name="Picture 4" descr="H5_per_run_distributions.png"/>
          <p:cNvPicPr>
            <a:picLocks noChangeAspect="1"/>
          </p:cNvPicPr>
          <p:nvPr/>
        </p:nvPicPr>
        <p:blipFill>
          <a:blip r:embed="rId2"/>
          <a:stretch>
            <a:fillRect/>
          </a:stretch>
        </p:blipFill>
        <p:spPr>
          <a:xfrm>
            <a:off x="1428910" y="1188720"/>
            <a:ext cx="9333874" cy="51663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625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spAutoFit/>
          </a:bodyPr>
          <a:lstStyle/>
          <a:p>
            <a:pPr>
              <a:defRPr sz="2600" b="1">
                <a:solidFill>
                  <a:srgbClr val="0B0B0B"/>
                </a:solidFill>
              </a:defRPr>
            </a:pPr>
            <a:r>
              <a:t>Scorecard: CLIO 0.5.0 relative to the baseline</a:t>
            </a:r>
          </a:p>
          <a:p>
            <a:pPr>
              <a:defRPr sz="1300">
                <a:solidFill>
                  <a:srgbClr val="52514E"/>
                </a:solidFill>
              </a:defRPr>
            </a:pPr>
            <a:r>
              <a:t>Ratio of means with bootstrap 95 % CI; 1.0 = same</a:t>
            </a:r>
          </a:p>
        </p:txBody>
      </p:sp>
      <p:sp>
        <p:nvSpPr>
          <p:cNvPr id="4" name="TextBox 3"/>
          <p:cNvSpPr txBox="1"/>
          <p:nvPr/>
        </p:nvSpPr>
        <p:spPr>
          <a:xfrm>
            <a:off x="457200" y="6446520"/>
            <a:ext cx="11247120" cy="274320"/>
          </a:xfrm>
          <a:prstGeom prst="rect">
            <a:avLst/>
          </a:prstGeom>
          <a:noFill/>
        </p:spPr>
        <p:txBody>
          <a:bodyPr wrap="none">
            <a:spAutoFit/>
          </a:bodyPr>
          <a:lstStyle/>
          <a:p>
            <a:pPr>
              <a:defRPr sz="900">
                <a:solidFill>
                  <a:srgbClr val="52514E"/>
                </a:solidFill>
              </a:defRPr>
            </a:pPr>
            <a:r>
              <a:t>COUNTED THESIS TRIALS · CLIO (factorio-flat 0.5.0) vs Claude Code baseline · n = 5 per system per experiment</a:t>
            </a:r>
          </a:p>
        </p:txBody>
      </p:sp>
      <p:pic>
        <p:nvPicPr>
          <p:cNvPr id="5" name="Picture 4" descr="H6_scorecard_vs_baseline.png"/>
          <p:cNvPicPr>
            <a:picLocks noChangeAspect="1"/>
          </p:cNvPicPr>
          <p:nvPr/>
        </p:nvPicPr>
        <p:blipFill>
          <a:blip r:embed="rId2"/>
          <a:stretch>
            <a:fillRect/>
          </a:stretch>
        </p:blipFill>
        <p:spPr>
          <a:xfrm>
            <a:off x="472287" y="1463040"/>
            <a:ext cx="11247120" cy="2937598"/>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625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spAutoFit/>
          </a:bodyPr>
          <a:lstStyle/>
          <a:p>
            <a:pPr>
              <a:defRPr sz="2600" b="1">
                <a:solidFill>
                  <a:srgbClr val="0B0B0B"/>
                </a:solidFill>
              </a:defRPr>
            </a:pPr>
            <a:r>
              <a:t>Morphorm jobs: nodes, run time and restarts</a:t>
            </a:r>
          </a:p>
          <a:p>
            <a:pPr>
              <a:defRPr sz="1300">
                <a:solidFill>
                  <a:srgbClr val="52514E"/>
                </a:solidFill>
              </a:defRPr>
            </a:pPr>
            <a:r>
              <a:t>Every Morphorm/Cubit job submitted by the agent (sacct)</a:t>
            </a:r>
          </a:p>
        </p:txBody>
      </p:sp>
      <p:sp>
        <p:nvSpPr>
          <p:cNvPr id="4" name="TextBox 3"/>
          <p:cNvSpPr txBox="1"/>
          <p:nvPr/>
        </p:nvSpPr>
        <p:spPr>
          <a:xfrm>
            <a:off x="457200" y="6446520"/>
            <a:ext cx="11247120" cy="274320"/>
          </a:xfrm>
          <a:prstGeom prst="rect">
            <a:avLst/>
          </a:prstGeom>
          <a:noFill/>
        </p:spPr>
        <p:txBody>
          <a:bodyPr wrap="none">
            <a:spAutoFit/>
          </a:bodyPr>
          <a:lstStyle/>
          <a:p>
            <a:pPr>
              <a:defRPr sz="900">
                <a:solidFill>
                  <a:srgbClr val="52514E"/>
                </a:solidFill>
              </a:defRPr>
            </a:pPr>
            <a:r>
              <a:t>COUNTED THESIS TRIALS · CLIO (factorio-flat 0.5.0) vs Claude Code baseline · n = 5 per system per experiment</a:t>
            </a:r>
          </a:p>
        </p:txBody>
      </p:sp>
      <p:graphicFrame>
        <p:nvGraphicFramePr>
          <p:cNvPr id="5" name="Table 4"/>
          <p:cNvGraphicFramePr>
            <a:graphicFrameLocks noGrp="1"/>
          </p:cNvGraphicFramePr>
          <p:nvPr/>
        </p:nvGraphicFramePr>
        <p:xfrm>
          <a:off x="457200" y="1280160"/>
          <a:ext cx="11247120" cy="1920240"/>
        </p:xfrm>
        <a:graphic>
          <a:graphicData uri="http://schemas.openxmlformats.org/drawingml/2006/table">
            <a:tbl>
              <a:tblPr firstRow="1" bandRow="1">
                <a:tableStyleId>{5C22544A-7EE6-4342-B048-85BDC9FD1C3A}</a:tableStyleId>
              </a:tblPr>
              <a:tblGrid>
                <a:gridCol w="457200"/>
                <a:gridCol w="1463040"/>
                <a:gridCol w="640080"/>
                <a:gridCol w="640080"/>
                <a:gridCol w="914400"/>
                <a:gridCol w="1371600"/>
                <a:gridCol w="1737360"/>
                <a:gridCol w="4023360"/>
              </a:tblGrid>
              <a:tr h="274320">
                <a:tc>
                  <a:txBody>
                    <a:bodyPr/>
                    <a:lstStyle/>
                    <a:p>
                      <a:pPr>
                        <a:defRPr sz="1050" b="1"/>
                      </a:pPr>
                      <a:r>
                        <a:t>Exp</a:t>
                      </a:r>
                    </a:p>
                  </a:txBody>
                  <a:tcPr/>
                </a:tc>
                <a:tc>
                  <a:txBody>
                    <a:bodyPr/>
                    <a:lstStyle/>
                    <a:p>
                      <a:pPr>
                        <a:defRPr sz="1050" b="1"/>
                      </a:pPr>
                      <a:r>
                        <a:t>System</a:t>
                      </a:r>
                    </a:p>
                  </a:txBody>
                  <a:tcPr/>
                </a:tc>
                <a:tc>
                  <a:txBody>
                    <a:bodyPr/>
                    <a:lstStyle/>
                    <a:p>
                      <a:pPr>
                        <a:defRPr sz="1050" b="1"/>
                      </a:pPr>
                      <a:r>
                        <a:t>Runs</a:t>
                      </a:r>
                    </a:p>
                  </a:txBody>
                  <a:tcPr/>
                </a:tc>
                <a:tc>
                  <a:txBody>
                    <a:bodyPr/>
                    <a:lstStyle/>
                    <a:p>
                      <a:pPr>
                        <a:defRPr sz="1050" b="1"/>
                      </a:pPr>
                      <a:r>
                        <a:t>Jobs</a:t>
                      </a:r>
                    </a:p>
                  </a:txBody>
                  <a:tcPr/>
                </a:tc>
                <a:tc>
                  <a:txBody>
                    <a:bodyPr/>
                    <a:lstStyle/>
                    <a:p>
                      <a:pPr>
                        <a:defRPr sz="1050" b="1"/>
                      </a:pPr>
                      <a:r>
                        <a:t>Cancelled</a:t>
                      </a:r>
                    </a:p>
                  </a:txBody>
                  <a:tcPr/>
                </a:tc>
                <a:tc>
                  <a:txBody>
                    <a:bodyPr/>
                    <a:lstStyle/>
                    <a:p>
                      <a:pPr>
                        <a:defRPr sz="1050" b="1"/>
                      </a:pPr>
                      <a:r>
                        <a:t>Runs with a cancel</a:t>
                      </a:r>
                    </a:p>
                  </a:txBody>
                  <a:tcPr/>
                </a:tc>
                <a:tc>
                  <a:txBody>
                    <a:bodyPr/>
                    <a:lstStyle/>
                    <a:p>
                      <a:pPr>
                        <a:defRPr sz="1050" b="1"/>
                      </a:pPr>
                      <a:r>
                        <a:t>Mean completed job (min)</a:t>
                      </a:r>
                    </a:p>
                  </a:txBody>
                  <a:tcPr/>
                </a:tc>
                <a:tc>
                  <a:txBody>
                    <a:bodyPr/>
                    <a:lstStyle/>
                    <a:p>
                      <a:pPr>
                        <a:defRPr sz="1050" b="1"/>
                      </a:pPr>
                      <a:r>
                        <a:t>Nodes (completed jobs)</a:t>
                      </a:r>
                    </a:p>
                  </a:txBody>
                  <a:tcPr/>
                </a:tc>
              </a:tr>
              <a:tr h="274320">
                <a:tc>
                  <a:txBody>
                    <a:bodyPr/>
                    <a:lstStyle/>
                    <a:p>
                      <a:pPr>
                        <a:defRPr sz="1050"/>
                      </a:pPr>
                      <a:r>
                        <a:t>E1</a:t>
                      </a:r>
                    </a:p>
                  </a:txBody>
                  <a:tcPr/>
                </a:tc>
                <a:tc>
                  <a:txBody>
                    <a:bodyPr/>
                    <a:lstStyle/>
                    <a:p>
                      <a:pPr>
                        <a:defRPr sz="1050"/>
                      </a:pPr>
                      <a:r>
                        <a:t>Claude Code</a:t>
                      </a:r>
                    </a:p>
                  </a:txBody>
                  <a:tcPr/>
                </a:tc>
                <a:tc>
                  <a:txBody>
                    <a:bodyPr/>
                    <a:lstStyle/>
                    <a:p>
                      <a:pPr>
                        <a:defRPr sz="1050"/>
                      </a:pPr>
                      <a:r>
                        <a:t>5</a:t>
                      </a:r>
                    </a:p>
                  </a:txBody>
                  <a:tcPr/>
                </a:tc>
                <a:tc>
                  <a:txBody>
                    <a:bodyPr/>
                    <a:lstStyle/>
                    <a:p>
                      <a:pPr>
                        <a:defRPr sz="1050"/>
                      </a:pPr>
                      <a:r>
                        <a:t>5</a:t>
                      </a:r>
                    </a:p>
                  </a:txBody>
                  <a:tcPr/>
                </a:tc>
                <a:tc>
                  <a:txBody>
                    <a:bodyPr/>
                    <a:lstStyle/>
                    <a:p>
                      <a:pPr>
                        <a:defRPr sz="1050"/>
                      </a:pPr>
                      <a:r>
                        <a:t>0</a:t>
                      </a:r>
                    </a:p>
                  </a:txBody>
                  <a:tcPr/>
                </a:tc>
                <a:tc>
                  <a:txBody>
                    <a:bodyPr/>
                    <a:lstStyle/>
                    <a:p>
                      <a:pPr>
                        <a:defRPr sz="1050"/>
                      </a:pPr>
                      <a:r>
                        <a:t>0</a:t>
                      </a:r>
                    </a:p>
                  </a:txBody>
                  <a:tcPr/>
                </a:tc>
                <a:tc>
                  <a:txBody>
                    <a:bodyPr/>
                    <a:lstStyle/>
                    <a:p>
                      <a:pPr>
                        <a:defRPr sz="1050"/>
                      </a:pPr>
                      <a:r>
                        <a:t>9.8</a:t>
                      </a:r>
                    </a:p>
                  </a:txBody>
                  <a:tcPr/>
                </a:tc>
                <a:tc>
                  <a:txBody>
                    <a:bodyPr/>
                    <a:lstStyle/>
                    <a:p>
                      <a:pPr>
                        <a:defRPr sz="1050"/>
                      </a:pPr>
                      <a:r>
                        <a:t>notch351×5</a:t>
                      </a:r>
                    </a:p>
                  </a:txBody>
                  <a:tcPr/>
                </a:tc>
              </a:tr>
              <a:tr h="274320">
                <a:tc>
                  <a:txBody>
                    <a:bodyPr/>
                    <a:lstStyle/>
                    <a:p>
                      <a:pPr>
                        <a:defRPr sz="1050"/>
                      </a:pPr>
                      <a:r>
                        <a:t>E1</a:t>
                      </a:r>
                    </a:p>
                  </a:txBody>
                  <a:tcPr/>
                </a:tc>
                <a:tc>
                  <a:txBody>
                    <a:bodyPr/>
                    <a:lstStyle/>
                    <a:p>
                      <a:pPr>
                        <a:defRPr sz="1050"/>
                      </a:pPr>
                      <a:r>
                        <a:t>CLIO 0.5.0</a:t>
                      </a:r>
                    </a:p>
                  </a:txBody>
                  <a:tcPr/>
                </a:tc>
                <a:tc>
                  <a:txBody>
                    <a:bodyPr/>
                    <a:lstStyle/>
                    <a:p>
                      <a:pPr>
                        <a:defRPr sz="1050"/>
                      </a:pPr>
                      <a:r>
                        <a:t>5</a:t>
                      </a:r>
                    </a:p>
                  </a:txBody>
                  <a:tcPr/>
                </a:tc>
                <a:tc>
                  <a:txBody>
                    <a:bodyPr/>
                    <a:lstStyle/>
                    <a:p>
                      <a:pPr>
                        <a:defRPr sz="1050"/>
                      </a:pPr>
                      <a:r>
                        <a:t>5</a:t>
                      </a:r>
                    </a:p>
                  </a:txBody>
                  <a:tcPr/>
                </a:tc>
                <a:tc>
                  <a:txBody>
                    <a:bodyPr/>
                    <a:lstStyle/>
                    <a:p>
                      <a:pPr>
                        <a:defRPr sz="1050"/>
                      </a:pPr>
                      <a:r>
                        <a:t>0</a:t>
                      </a:r>
                    </a:p>
                  </a:txBody>
                  <a:tcPr/>
                </a:tc>
                <a:tc>
                  <a:txBody>
                    <a:bodyPr/>
                    <a:lstStyle/>
                    <a:p>
                      <a:pPr>
                        <a:defRPr sz="1050"/>
                      </a:pPr>
                      <a:r>
                        <a:t>0</a:t>
                      </a:r>
                    </a:p>
                  </a:txBody>
                  <a:tcPr/>
                </a:tc>
                <a:tc>
                  <a:txBody>
                    <a:bodyPr/>
                    <a:lstStyle/>
                    <a:p>
                      <a:pPr>
                        <a:defRPr sz="1050"/>
                      </a:pPr>
                      <a:r>
                        <a:t>15.7</a:t>
                      </a:r>
                    </a:p>
                  </a:txBody>
                  <a:tcPr/>
                </a:tc>
                <a:tc>
                  <a:txBody>
                    <a:bodyPr/>
                    <a:lstStyle/>
                    <a:p>
                      <a:pPr>
                        <a:defRPr sz="1050"/>
                      </a:pPr>
                      <a:r>
                        <a:t>notch274×3, notch351×1, notch273×1</a:t>
                      </a:r>
                    </a:p>
                  </a:txBody>
                  <a:tcPr/>
                </a:tc>
              </a:tr>
              <a:tr h="274320">
                <a:tc>
                  <a:txBody>
                    <a:bodyPr/>
                    <a:lstStyle/>
                    <a:p>
                      <a:pPr>
                        <a:defRPr sz="1050"/>
                      </a:pPr>
                      <a:r>
                        <a:t>E2</a:t>
                      </a:r>
                    </a:p>
                  </a:txBody>
                  <a:tcPr/>
                </a:tc>
                <a:tc>
                  <a:txBody>
                    <a:bodyPr/>
                    <a:lstStyle/>
                    <a:p>
                      <a:pPr>
                        <a:defRPr sz="1050"/>
                      </a:pPr>
                      <a:r>
                        <a:t>Claude Code</a:t>
                      </a:r>
                    </a:p>
                  </a:txBody>
                  <a:tcPr/>
                </a:tc>
                <a:tc>
                  <a:txBody>
                    <a:bodyPr/>
                    <a:lstStyle/>
                    <a:p>
                      <a:pPr>
                        <a:defRPr sz="1050"/>
                      </a:pPr>
                      <a:r>
                        <a:t>5</a:t>
                      </a:r>
                    </a:p>
                  </a:txBody>
                  <a:tcPr/>
                </a:tc>
                <a:tc>
                  <a:txBody>
                    <a:bodyPr/>
                    <a:lstStyle/>
                    <a:p>
                      <a:pPr>
                        <a:defRPr sz="1050"/>
                      </a:pPr>
                      <a:r>
                        <a:t>16</a:t>
                      </a:r>
                    </a:p>
                  </a:txBody>
                  <a:tcPr/>
                </a:tc>
                <a:tc>
                  <a:txBody>
                    <a:bodyPr/>
                    <a:lstStyle/>
                    <a:p>
                      <a:pPr>
                        <a:defRPr sz="1050"/>
                      </a:pPr>
                      <a:r>
                        <a:t>4</a:t>
                      </a:r>
                    </a:p>
                  </a:txBody>
                  <a:tcPr/>
                </a:tc>
                <a:tc>
                  <a:txBody>
                    <a:bodyPr/>
                    <a:lstStyle/>
                    <a:p>
                      <a:pPr>
                        <a:defRPr sz="1050"/>
                      </a:pPr>
                      <a:r>
                        <a:t>4</a:t>
                      </a:r>
                    </a:p>
                  </a:txBody>
                  <a:tcPr/>
                </a:tc>
                <a:tc>
                  <a:txBody>
                    <a:bodyPr/>
                    <a:lstStyle/>
                    <a:p>
                      <a:pPr>
                        <a:defRPr sz="1050"/>
                      </a:pPr>
                      <a:r>
                        <a:t>19.5</a:t>
                      </a:r>
                    </a:p>
                  </a:txBody>
                  <a:tcPr/>
                </a:tc>
                <a:tc>
                  <a:txBody>
                    <a:bodyPr/>
                    <a:lstStyle/>
                    <a:p>
                      <a:pPr>
                        <a:defRPr sz="1050"/>
                      </a:pPr>
                      <a:r>
                        <a:t>notch351×5, notch272×5, notch274×2</a:t>
                      </a:r>
                    </a:p>
                  </a:txBody>
                  <a:tcPr/>
                </a:tc>
              </a:tr>
              <a:tr h="274320">
                <a:tc>
                  <a:txBody>
                    <a:bodyPr/>
                    <a:lstStyle/>
                    <a:p>
                      <a:pPr>
                        <a:defRPr sz="1050"/>
                      </a:pPr>
                      <a:r>
                        <a:t>E2</a:t>
                      </a:r>
                    </a:p>
                  </a:txBody>
                  <a:tcPr/>
                </a:tc>
                <a:tc>
                  <a:txBody>
                    <a:bodyPr/>
                    <a:lstStyle/>
                    <a:p>
                      <a:pPr>
                        <a:defRPr sz="1050"/>
                      </a:pPr>
                      <a:r>
                        <a:t>CLIO 0.5.0</a:t>
                      </a:r>
                    </a:p>
                  </a:txBody>
                  <a:tcPr/>
                </a:tc>
                <a:tc>
                  <a:txBody>
                    <a:bodyPr/>
                    <a:lstStyle/>
                    <a:p>
                      <a:pPr>
                        <a:defRPr sz="1050"/>
                      </a:pPr>
                      <a:r>
                        <a:t>5</a:t>
                      </a:r>
                    </a:p>
                  </a:txBody>
                  <a:tcPr/>
                </a:tc>
                <a:tc>
                  <a:txBody>
                    <a:bodyPr/>
                    <a:lstStyle/>
                    <a:p>
                      <a:pPr>
                        <a:defRPr sz="1050"/>
                      </a:pPr>
                      <a:r>
                        <a:t>10</a:t>
                      </a:r>
                    </a:p>
                  </a:txBody>
                  <a:tcPr/>
                </a:tc>
                <a:tc>
                  <a:txBody>
                    <a:bodyPr/>
                    <a:lstStyle/>
                    <a:p>
                      <a:pPr>
                        <a:defRPr sz="1050"/>
                      </a:pPr>
                      <a:r>
                        <a:t>0</a:t>
                      </a:r>
                    </a:p>
                  </a:txBody>
                  <a:tcPr/>
                </a:tc>
                <a:tc>
                  <a:txBody>
                    <a:bodyPr/>
                    <a:lstStyle/>
                    <a:p>
                      <a:pPr>
                        <a:defRPr sz="1050"/>
                      </a:pPr>
                      <a:r>
                        <a:t>0</a:t>
                      </a:r>
                    </a:p>
                  </a:txBody>
                  <a:tcPr/>
                </a:tc>
                <a:tc>
                  <a:txBody>
                    <a:bodyPr/>
                    <a:lstStyle/>
                    <a:p>
                      <a:pPr>
                        <a:defRPr sz="1050"/>
                      </a:pPr>
                      <a:r>
                        <a:t>20.6</a:t>
                      </a:r>
                    </a:p>
                  </a:txBody>
                  <a:tcPr/>
                </a:tc>
                <a:tc>
                  <a:txBody>
                    <a:bodyPr/>
                    <a:lstStyle/>
                    <a:p>
                      <a:pPr>
                        <a:defRPr sz="1050"/>
                      </a:pPr>
                      <a:r>
                        <a:t>notch351×5, notch274×3, notch204×2</a:t>
                      </a:r>
                    </a:p>
                  </a:txBody>
                  <a:tcPr/>
                </a:tc>
              </a:tr>
              <a:tr h="274320">
                <a:tc>
                  <a:txBody>
                    <a:bodyPr/>
                    <a:lstStyle/>
                    <a:p>
                      <a:pPr>
                        <a:defRPr sz="1050"/>
                      </a:pPr>
                      <a:r>
                        <a:t>E3</a:t>
                      </a:r>
                    </a:p>
                  </a:txBody>
                  <a:tcPr/>
                </a:tc>
                <a:tc>
                  <a:txBody>
                    <a:bodyPr/>
                    <a:lstStyle/>
                    <a:p>
                      <a:pPr>
                        <a:defRPr sz="1050"/>
                      </a:pPr>
                      <a:r>
                        <a:t>Claude Code</a:t>
                      </a:r>
                    </a:p>
                  </a:txBody>
                  <a:tcPr/>
                </a:tc>
                <a:tc>
                  <a:txBody>
                    <a:bodyPr/>
                    <a:lstStyle/>
                    <a:p>
                      <a:pPr>
                        <a:defRPr sz="1050"/>
                      </a:pPr>
                      <a:r>
                        <a:t>5</a:t>
                      </a:r>
                    </a:p>
                  </a:txBody>
                  <a:tcPr/>
                </a:tc>
                <a:tc>
                  <a:txBody>
                    <a:bodyPr/>
                    <a:lstStyle/>
                    <a:p>
                      <a:pPr>
                        <a:defRPr sz="1050"/>
                      </a:pPr>
                      <a:r>
                        <a:t>5</a:t>
                      </a:r>
                    </a:p>
                  </a:txBody>
                  <a:tcPr/>
                </a:tc>
                <a:tc>
                  <a:txBody>
                    <a:bodyPr/>
                    <a:lstStyle/>
                    <a:p>
                      <a:pPr>
                        <a:defRPr sz="1050"/>
                      </a:pPr>
                      <a:r>
                        <a:t>0</a:t>
                      </a:r>
                    </a:p>
                  </a:txBody>
                  <a:tcPr/>
                </a:tc>
                <a:tc>
                  <a:txBody>
                    <a:bodyPr/>
                    <a:lstStyle/>
                    <a:p>
                      <a:pPr>
                        <a:defRPr sz="1050"/>
                      </a:pPr>
                      <a:r>
                        <a:t>0</a:t>
                      </a:r>
                    </a:p>
                  </a:txBody>
                  <a:tcPr/>
                </a:tc>
                <a:tc>
                  <a:txBody>
                    <a:bodyPr/>
                    <a:lstStyle/>
                    <a:p>
                      <a:pPr>
                        <a:defRPr sz="1050"/>
                      </a:pPr>
                      <a:r>
                        <a:t>17.2</a:t>
                      </a:r>
                    </a:p>
                  </a:txBody>
                  <a:tcPr/>
                </a:tc>
                <a:tc>
                  <a:txBody>
                    <a:bodyPr/>
                    <a:lstStyle/>
                    <a:p>
                      <a:pPr>
                        <a:defRPr sz="1050"/>
                      </a:pPr>
                      <a:r>
                        <a:t>notch274×3, notch273×1, notch272×1</a:t>
                      </a:r>
                    </a:p>
                  </a:txBody>
                  <a:tcPr/>
                </a:tc>
              </a:tr>
              <a:tr h="274320">
                <a:tc>
                  <a:txBody>
                    <a:bodyPr/>
                    <a:lstStyle/>
                    <a:p>
                      <a:pPr>
                        <a:defRPr sz="1050"/>
                      </a:pPr>
                      <a:r>
                        <a:t>E3</a:t>
                      </a:r>
                    </a:p>
                  </a:txBody>
                  <a:tcPr/>
                </a:tc>
                <a:tc>
                  <a:txBody>
                    <a:bodyPr/>
                    <a:lstStyle/>
                    <a:p>
                      <a:pPr>
                        <a:defRPr sz="1050"/>
                      </a:pPr>
                      <a:r>
                        <a:t>CLIO 0.5.0</a:t>
                      </a:r>
                    </a:p>
                  </a:txBody>
                  <a:tcPr/>
                </a:tc>
                <a:tc>
                  <a:txBody>
                    <a:bodyPr/>
                    <a:lstStyle/>
                    <a:p>
                      <a:pPr>
                        <a:defRPr sz="1050"/>
                      </a:pPr>
                      <a:r>
                        <a:t>5</a:t>
                      </a:r>
                    </a:p>
                  </a:txBody>
                  <a:tcPr/>
                </a:tc>
                <a:tc>
                  <a:txBody>
                    <a:bodyPr/>
                    <a:lstStyle/>
                    <a:p>
                      <a:pPr>
                        <a:defRPr sz="1050"/>
                      </a:pPr>
                      <a:r>
                        <a:t>5</a:t>
                      </a:r>
                    </a:p>
                  </a:txBody>
                  <a:tcPr/>
                </a:tc>
                <a:tc>
                  <a:txBody>
                    <a:bodyPr/>
                    <a:lstStyle/>
                    <a:p>
                      <a:pPr>
                        <a:defRPr sz="1050"/>
                      </a:pPr>
                      <a:r>
                        <a:t>0</a:t>
                      </a:r>
                    </a:p>
                  </a:txBody>
                  <a:tcPr/>
                </a:tc>
                <a:tc>
                  <a:txBody>
                    <a:bodyPr/>
                    <a:lstStyle/>
                    <a:p>
                      <a:pPr>
                        <a:defRPr sz="1050"/>
                      </a:pPr>
                      <a:r>
                        <a:t>0</a:t>
                      </a:r>
                    </a:p>
                  </a:txBody>
                  <a:tcPr/>
                </a:tc>
                <a:tc>
                  <a:txBody>
                    <a:bodyPr/>
                    <a:lstStyle/>
                    <a:p>
                      <a:pPr>
                        <a:defRPr sz="1050"/>
                      </a:pPr>
                      <a:r>
                        <a:t>14.3</a:t>
                      </a:r>
                    </a:p>
                  </a:txBody>
                  <a:tcPr/>
                </a:tc>
                <a:tc>
                  <a:txBody>
                    <a:bodyPr/>
                    <a:lstStyle/>
                    <a:p>
                      <a:pPr>
                        <a:defRPr sz="1050"/>
                      </a:pPr>
                      <a:r>
                        <a:t>notch351×2, notch273×2, notch272×1</a:t>
                      </a:r>
                    </a:p>
                  </a:txBody>
                  <a:tcPr/>
                </a:tc>
              </a:tr>
            </a:tbl>
          </a:graphicData>
        </a:graphic>
      </p:graphicFrame>
      <p:sp>
        <p:nvSpPr>
          <p:cNvPr id="6" name="TextBox 5"/>
          <p:cNvSpPr txBox="1"/>
          <p:nvPr/>
        </p:nvSpPr>
        <p:spPr>
          <a:xfrm>
            <a:off x="548640" y="5120640"/>
            <a:ext cx="11064240" cy="1234440"/>
          </a:xfrm>
          <a:prstGeom prst="rect">
            <a:avLst/>
          </a:prstGeom>
          <a:noFill/>
        </p:spPr>
        <p:txBody>
          <a:bodyPr wrap="square">
            <a:spAutoFit/>
          </a:bodyPr>
          <a:lstStyle/>
          <a:p>
            <a:pPr>
              <a:spcAft>
                <a:spcPts val="600"/>
              </a:spcAft>
              <a:defRPr sz="1300">
                <a:solidFill>
                  <a:srgbClr val="0B0B0B"/>
                </a:solidFill>
              </a:defRPr>
            </a:pPr>
            <a:r>
              <a:t>• E2 cancellations are the restart-index mistake (Stage 2 started from the wrong saved state, then cancelled and resubmitted).</a:t>
            </a:r>
          </a:p>
          <a:p>
            <a:pPr>
              <a:spcAft>
                <a:spcPts val="600"/>
              </a:spcAft>
              <a:defRPr sz="1300">
                <a:solidFill>
                  <a:srgbClr val="0B0B0B"/>
                </a:solidFill>
              </a:defRPr>
            </a:pPr>
            <a:r>
              <a:t>• Job run time differs by node and load, which moves wall time independently of the agent.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625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spAutoFit/>
          </a:bodyPr>
          <a:lstStyle/>
          <a:p>
            <a:pPr>
              <a:defRPr sz="2600" b="1">
                <a:solidFill>
                  <a:srgbClr val="0B0B0B"/>
                </a:solidFill>
              </a:defRPr>
            </a:pPr>
            <a:r>
              <a:t>Observability: which questions each system's own records answer</a:t>
            </a:r>
          </a:p>
          <a:p>
            <a:pPr>
              <a:defRPr sz="1300">
                <a:solidFill>
                  <a:srgbClr val="52514E"/>
                </a:solidFill>
              </a:defRPr>
            </a:pPr>
            <a:r>
              <a:t>Same 14 diagnostic questions and code-scored rules as the pilot study, now on the counted trials (n = 5 per system per experiment)</a:t>
            </a:r>
          </a:p>
        </p:txBody>
      </p:sp>
      <p:sp>
        <p:nvSpPr>
          <p:cNvPr id="4" name="TextBox 3"/>
          <p:cNvSpPr txBox="1"/>
          <p:nvPr/>
        </p:nvSpPr>
        <p:spPr>
          <a:xfrm>
            <a:off x="457200" y="6446520"/>
            <a:ext cx="11247120" cy="274320"/>
          </a:xfrm>
          <a:prstGeom prst="rect">
            <a:avLst/>
          </a:prstGeom>
          <a:noFill/>
        </p:spPr>
        <p:txBody>
          <a:bodyPr wrap="none">
            <a:spAutoFit/>
          </a:bodyPr>
          <a:lstStyle/>
          <a:p>
            <a:pPr>
              <a:defRPr sz="900">
                <a:solidFill>
                  <a:srgbClr val="52514E"/>
                </a:solidFill>
              </a:defRPr>
            </a:pPr>
            <a:r>
              <a:t>COUNTED THESIS TRIALS · CLIO (factorio-flat 0.5.0) vs Claude Code baseline · n = 5 per system per experiment</a:t>
            </a:r>
          </a:p>
        </p:txBody>
      </p:sp>
      <p:pic>
        <p:nvPicPr>
          <p:cNvPr id="5" name="Picture 4" descr="obs1_diagnostic_coverage.png"/>
          <p:cNvPicPr>
            <a:picLocks noChangeAspect="1"/>
          </p:cNvPicPr>
          <p:nvPr/>
        </p:nvPicPr>
        <p:blipFill>
          <a:blip r:embed="rId2"/>
          <a:stretch>
            <a:fillRect/>
          </a:stretch>
        </p:blipFill>
        <p:spPr>
          <a:xfrm>
            <a:off x="472287" y="1143000"/>
            <a:ext cx="11247120" cy="4863257"/>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625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spAutoFit/>
          </a:bodyPr>
          <a:lstStyle/>
          <a:p>
            <a:pPr>
              <a:defRPr sz="2600" b="1">
                <a:solidFill>
                  <a:srgbClr val="0B0B0B"/>
                </a:solidFill>
              </a:defRPr>
            </a:pPr>
            <a:r>
              <a:t>Observability in the counted trials: numbers</a:t>
            </a:r>
          </a:p>
          <a:p>
            <a:pPr>
              <a:defRPr sz="1300">
                <a:solidFill>
                  <a:srgbClr val="52514E"/>
                </a:solidFill>
              </a:defRPr>
            </a:pPr>
            <a:r>
              <a:t>Only records each system writes about itself; files written by our runners are excluded</a:t>
            </a:r>
          </a:p>
        </p:txBody>
      </p:sp>
      <p:sp>
        <p:nvSpPr>
          <p:cNvPr id="4" name="TextBox 3"/>
          <p:cNvSpPr txBox="1"/>
          <p:nvPr/>
        </p:nvSpPr>
        <p:spPr>
          <a:xfrm>
            <a:off x="457200" y="6446520"/>
            <a:ext cx="11247120" cy="274320"/>
          </a:xfrm>
          <a:prstGeom prst="rect">
            <a:avLst/>
          </a:prstGeom>
          <a:noFill/>
        </p:spPr>
        <p:txBody>
          <a:bodyPr wrap="none">
            <a:spAutoFit/>
          </a:bodyPr>
          <a:lstStyle/>
          <a:p>
            <a:pPr>
              <a:defRPr sz="900">
                <a:solidFill>
                  <a:srgbClr val="52514E"/>
                </a:solidFill>
              </a:defRPr>
            </a:pPr>
            <a:r>
              <a:t>COUNTED THESIS TRIALS · CLIO (factorio-flat 0.5.0) vs Claude Code baseline · n = 5 per system per experiment</a:t>
            </a:r>
          </a:p>
        </p:txBody>
      </p:sp>
      <p:graphicFrame>
        <p:nvGraphicFramePr>
          <p:cNvPr id="5" name="Table 4"/>
          <p:cNvGraphicFramePr>
            <a:graphicFrameLocks noGrp="1"/>
          </p:cNvGraphicFramePr>
          <p:nvPr/>
        </p:nvGraphicFramePr>
        <p:xfrm>
          <a:off x="457200" y="1234440"/>
          <a:ext cx="11247119" cy="1920240"/>
        </p:xfrm>
        <a:graphic>
          <a:graphicData uri="http://schemas.openxmlformats.org/drawingml/2006/table">
            <a:tbl>
              <a:tblPr firstRow="1" bandRow="1">
                <a:tableStyleId>{5C22544A-7EE6-4342-B048-85BDC9FD1C3A}</a:tableStyleId>
              </a:tblPr>
              <a:tblGrid>
                <a:gridCol w="3749039"/>
                <a:gridCol w="1828800"/>
                <a:gridCol w="1828800"/>
                <a:gridCol w="1828800"/>
                <a:gridCol w="2011680"/>
              </a:tblGrid>
              <a:tr h="274320">
                <a:tc>
                  <a:txBody>
                    <a:bodyPr/>
                    <a:lstStyle/>
                    <a:p>
                      <a:pPr>
                        <a:defRPr sz="1100" b="1"/>
                      </a:pPr>
                    </a:p>
                  </a:txBody>
                  <a:tcPr/>
                </a:tc>
                <a:tc>
                  <a:txBody>
                    <a:bodyPr/>
                    <a:lstStyle/>
                    <a:p>
                      <a:pPr>
                        <a:defRPr sz="1100" b="1"/>
                      </a:pPr>
                      <a:r>
                        <a:t>E1</a:t>
                      </a:r>
                    </a:p>
                  </a:txBody>
                  <a:tcPr/>
                </a:tc>
                <a:tc>
                  <a:txBody>
                    <a:bodyPr/>
                    <a:lstStyle/>
                    <a:p>
                      <a:pPr>
                        <a:defRPr sz="1100" b="1"/>
                      </a:pPr>
                      <a:r>
                        <a:t>E2</a:t>
                      </a:r>
                    </a:p>
                  </a:txBody>
                  <a:tcPr/>
                </a:tc>
                <a:tc>
                  <a:txBody>
                    <a:bodyPr/>
                    <a:lstStyle/>
                    <a:p>
                      <a:pPr>
                        <a:defRPr sz="1100" b="1"/>
                      </a:pPr>
                      <a:r>
                        <a:t>E3</a:t>
                      </a:r>
                    </a:p>
                  </a:txBody>
                  <a:tcPr/>
                </a:tc>
                <a:tc>
                  <a:txBody>
                    <a:bodyPr/>
                    <a:lstStyle/>
                    <a:p>
                      <a:pPr>
                        <a:defRPr sz="1100" b="1"/>
                      </a:pPr>
                      <a:r>
                        <a:t>Pilots (for comparison)</a:t>
                      </a:r>
                    </a:p>
                  </a:txBody>
                  <a:tcPr/>
                </a:tc>
              </a:tr>
              <a:tr h="274320">
                <a:tc>
                  <a:txBody>
                    <a:bodyPr/>
                    <a:lstStyle/>
                    <a:p>
                      <a:pPr>
                        <a:defRPr sz="1100"/>
                      </a:pPr>
                      <a:r>
                        <a:t>Claude Code baseline: points / 14 (fully recorded)</a:t>
                      </a:r>
                    </a:p>
                  </a:txBody>
                  <a:tcPr/>
                </a:tc>
                <a:tc>
                  <a:txBody>
                    <a:bodyPr/>
                    <a:lstStyle/>
                    <a:p>
                      <a:pPr>
                        <a:defRPr sz="1100"/>
                      </a:pPr>
                      <a:r>
                        <a:t>8.5 (6)</a:t>
                      </a:r>
                    </a:p>
                  </a:txBody>
                  <a:tcPr/>
                </a:tc>
                <a:tc>
                  <a:txBody>
                    <a:bodyPr/>
                    <a:lstStyle/>
                    <a:p>
                      <a:pPr>
                        <a:defRPr sz="1100"/>
                      </a:pPr>
                      <a:r>
                        <a:t>8.5 (6)</a:t>
                      </a:r>
                    </a:p>
                  </a:txBody>
                  <a:tcPr/>
                </a:tc>
                <a:tc>
                  <a:txBody>
                    <a:bodyPr/>
                    <a:lstStyle/>
                    <a:p>
                      <a:pPr>
                        <a:defRPr sz="1100"/>
                      </a:pPr>
                      <a:r>
                        <a:t>8.5 (6)</a:t>
                      </a:r>
                    </a:p>
                  </a:txBody>
                  <a:tcPr/>
                </a:tc>
                <a:tc>
                  <a:txBody>
                    <a:bodyPr/>
                    <a:lstStyle/>
                    <a:p>
                      <a:pPr>
                        <a:defRPr sz="1100"/>
                      </a:pPr>
                      <a:r>
                        <a:t>8.5 (6)</a:t>
                      </a:r>
                    </a:p>
                  </a:txBody>
                  <a:tcPr/>
                </a:tc>
              </a:tr>
              <a:tr h="274320">
                <a:tc>
                  <a:txBody>
                    <a:bodyPr/>
                    <a:lstStyle/>
                    <a:p>
                      <a:pPr>
                        <a:defRPr sz="1100"/>
                      </a:pPr>
                      <a:r>
                        <a:t>CLIO with stream audit</a:t>
                      </a:r>
                    </a:p>
                  </a:txBody>
                  <a:tcPr/>
                </a:tc>
                <a:tc>
                  <a:txBody>
                    <a:bodyPr/>
                    <a:lstStyle/>
                    <a:p>
                      <a:pPr>
                        <a:defRPr sz="1100"/>
                      </a:pPr>
                      <a:r>
                        <a:t>12 (11)</a:t>
                      </a:r>
                    </a:p>
                  </a:txBody>
                  <a:tcPr/>
                </a:tc>
                <a:tc>
                  <a:txBody>
                    <a:bodyPr/>
                    <a:lstStyle/>
                    <a:p>
                      <a:pPr>
                        <a:defRPr sz="1100"/>
                      </a:pPr>
                      <a:r>
                        <a:t>12 (11)</a:t>
                      </a:r>
                    </a:p>
                  </a:txBody>
                  <a:tcPr/>
                </a:tc>
                <a:tc>
                  <a:txBody>
                    <a:bodyPr/>
                    <a:lstStyle/>
                    <a:p>
                      <a:pPr>
                        <a:defRPr sz="1100"/>
                      </a:pPr>
                      <a:r>
                        <a:t>12 (11)</a:t>
                      </a:r>
                    </a:p>
                  </a:txBody>
                  <a:tcPr/>
                </a:tc>
                <a:tc>
                  <a:txBody>
                    <a:bodyPr/>
                    <a:lstStyle/>
                    <a:p>
                      <a:pPr>
                        <a:defRPr sz="1100"/>
                      </a:pPr>
                      <a:r>
                        <a:t>11.5–12 (10)</a:t>
                      </a:r>
                    </a:p>
                  </a:txBody>
                  <a:tcPr/>
                </a:tc>
              </a:tr>
              <a:tr h="274320">
                <a:tc>
                  <a:txBody>
                    <a:bodyPr/>
                    <a:lstStyle/>
                    <a:p>
                      <a:pPr>
                        <a:defRPr sz="1100"/>
                      </a:pPr>
                      <a:r>
                        <a:t>CLIO without stream audit (opt-in)</a:t>
                      </a:r>
                    </a:p>
                  </a:txBody>
                  <a:tcPr/>
                </a:tc>
                <a:tc>
                  <a:txBody>
                    <a:bodyPr/>
                    <a:lstStyle/>
                    <a:p>
                      <a:pPr>
                        <a:defRPr sz="1100"/>
                      </a:pPr>
                      <a:r>
                        <a:t>9 (8)</a:t>
                      </a:r>
                    </a:p>
                  </a:txBody>
                  <a:tcPr/>
                </a:tc>
                <a:tc>
                  <a:txBody>
                    <a:bodyPr/>
                    <a:lstStyle/>
                    <a:p>
                      <a:pPr>
                        <a:defRPr sz="1100"/>
                      </a:pPr>
                      <a:r>
                        <a:t>9 (8)</a:t>
                      </a:r>
                    </a:p>
                  </a:txBody>
                  <a:tcPr/>
                </a:tc>
                <a:tc>
                  <a:txBody>
                    <a:bodyPr/>
                    <a:lstStyle/>
                    <a:p>
                      <a:pPr>
                        <a:defRPr sz="1100"/>
                      </a:pPr>
                      <a:r>
                        <a:t>9 (8)</a:t>
                      </a:r>
                    </a:p>
                  </a:txBody>
                  <a:tcPr/>
                </a:tc>
                <a:tc>
                  <a:txBody>
                    <a:bodyPr/>
                    <a:lstStyle/>
                    <a:p>
                      <a:pPr>
                        <a:defRPr sz="1100"/>
                      </a:pPr>
                      <a:r>
                        <a:t>8.5–9 (7)</a:t>
                      </a:r>
                    </a:p>
                  </a:txBody>
                  <a:tcPr/>
                </a:tc>
              </a:tr>
              <a:tr h="274320">
                <a:tc>
                  <a:txBody>
                    <a:bodyPr/>
                    <a:lstStyle/>
                    <a:p>
                      <a:pPr>
                        <a:defRPr sz="1100"/>
                      </a:pPr>
                      <a:r>
                        <a:t>Distinct record types per run: baseline vs CLIO</a:t>
                      </a:r>
                    </a:p>
                  </a:txBody>
                  <a:tcPr/>
                </a:tc>
                <a:tc>
                  <a:txBody>
                    <a:bodyPr/>
                    <a:lstStyle/>
                    <a:p>
                      <a:pPr>
                        <a:defRPr sz="1100"/>
                      </a:pPr>
                      <a:r>
                        <a:t>31 vs 103</a:t>
                      </a:r>
                    </a:p>
                  </a:txBody>
                  <a:tcPr/>
                </a:tc>
                <a:tc>
                  <a:txBody>
                    <a:bodyPr/>
                    <a:lstStyle/>
                    <a:p>
                      <a:pPr>
                        <a:defRPr sz="1100"/>
                      </a:pPr>
                      <a:r>
                        <a:t>31 vs 103</a:t>
                      </a:r>
                    </a:p>
                  </a:txBody>
                  <a:tcPr/>
                </a:tc>
                <a:tc>
                  <a:txBody>
                    <a:bodyPr/>
                    <a:lstStyle/>
                    <a:p>
                      <a:pPr>
                        <a:defRPr sz="1100"/>
                      </a:pPr>
                      <a:r>
                        <a:t>31–35 vs 103</a:t>
                      </a:r>
                    </a:p>
                  </a:txBody>
                  <a:tcPr/>
                </a:tc>
                <a:tc>
                  <a:txBody>
                    <a:bodyPr/>
                    <a:lstStyle/>
                    <a:p>
                      <a:pPr>
                        <a:defRPr sz="1100"/>
                      </a:pPr>
                      <a:r>
                        <a:t>31 vs 73–80</a:t>
                      </a:r>
                    </a:p>
                  </a:txBody>
                  <a:tcPr/>
                </a:tc>
              </a:tr>
              <a:tr h="274320">
                <a:tc>
                  <a:txBody>
                    <a:bodyPr/>
                    <a:lstStyle/>
                    <a:p>
                      <a:pPr>
                        <a:defRPr sz="1100"/>
                      </a:pPr>
                      <a:r>
                        <a:t>Structured records per model call</a:t>
                      </a:r>
                    </a:p>
                  </a:txBody>
                  <a:tcPr/>
                </a:tc>
                <a:tc>
                  <a:txBody>
                    <a:bodyPr/>
                    <a:lstStyle/>
                    <a:p>
                      <a:pPr>
                        <a:defRPr sz="1100"/>
                      </a:pPr>
                      <a:r>
                        <a:t>18–29 vs 188–246</a:t>
                      </a:r>
                    </a:p>
                  </a:txBody>
                  <a:tcPr/>
                </a:tc>
                <a:tc>
                  <a:txBody>
                    <a:bodyPr/>
                    <a:lstStyle/>
                    <a:p>
                      <a:pPr>
                        <a:defRPr sz="1100"/>
                      </a:pPr>
                      <a:r>
                        <a:t>21–24 vs 217–230</a:t>
                      </a:r>
                    </a:p>
                  </a:txBody>
                  <a:tcPr/>
                </a:tc>
                <a:tc>
                  <a:txBody>
                    <a:bodyPr/>
                    <a:lstStyle/>
                    <a:p>
                      <a:pPr>
                        <a:defRPr sz="1100"/>
                      </a:pPr>
                      <a:r>
                        <a:t>15–18 vs 213–257</a:t>
                      </a:r>
                    </a:p>
                  </a:txBody>
                  <a:tcPr/>
                </a:tc>
                <a:tc>
                  <a:txBody>
                    <a:bodyPr/>
                    <a:lstStyle/>
                    <a:p>
                      <a:pPr>
                        <a:defRPr sz="1100"/>
                      </a:pPr>
                      <a:r>
                        <a:t>15–29 vs 180–244</a:t>
                      </a:r>
                    </a:p>
                  </a:txBody>
                  <a:tcPr/>
                </a:tc>
              </a:tr>
              <a:tr h="274320">
                <a:tc>
                  <a:txBody>
                    <a:bodyPr/>
                    <a:lstStyle/>
                    <a:p>
                      <a:pPr>
                        <a:defRPr sz="1100"/>
                      </a:pPr>
                      <a:r>
                        <a:t>Disk for own records per run (CLIO + full exports)</a:t>
                      </a:r>
                    </a:p>
                  </a:txBody>
                  <a:tcPr/>
                </a:tc>
                <a:tc>
                  <a:txBody>
                    <a:bodyPr/>
                    <a:lstStyle/>
                    <a:p>
                      <a:pPr>
                        <a:defRPr sz="1100"/>
                      </a:pPr>
                      <a:r>
                        <a:t>2.6 vs 21 MB (323 MB)</a:t>
                      </a:r>
                    </a:p>
                  </a:txBody>
                  <a:tcPr/>
                </a:tc>
                <a:tc>
                  <a:txBody>
                    <a:bodyPr/>
                    <a:lstStyle/>
                    <a:p>
                      <a:pPr>
                        <a:defRPr sz="1100"/>
                      </a:pPr>
                      <a:r>
                        <a:t>4.0 vs 37 MB (849 MB)</a:t>
                      </a:r>
                    </a:p>
                  </a:txBody>
                  <a:tcPr/>
                </a:tc>
                <a:tc>
                  <a:txBody>
                    <a:bodyPr/>
                    <a:lstStyle/>
                    <a:p>
                      <a:pPr>
                        <a:defRPr sz="1100"/>
                      </a:pPr>
                      <a:r>
                        <a:t>2.5 vs 23 MB (347 MB)</a:t>
                      </a:r>
                    </a:p>
                  </a:txBody>
                  <a:tcPr/>
                </a:tc>
                <a:tc>
                  <a:txBody>
                    <a:bodyPr/>
                    <a:lstStyle/>
                    <a:p>
                      <a:pPr>
                        <a:defRPr sz="1100"/>
                      </a:pPr>
                      <a:r>
                        <a:t>≈2–4 vs 70–150 MB</a:t>
                      </a:r>
                    </a:p>
                  </a:txBody>
                  <a:tcPr/>
                </a:tc>
              </a:tr>
            </a:tbl>
          </a:graphicData>
        </a:graphic>
      </p:graphicFrame>
      <p:sp>
        <p:nvSpPr>
          <p:cNvPr id="6" name="TextBox 5"/>
          <p:cNvSpPr txBox="1"/>
          <p:nvPr/>
        </p:nvSpPr>
        <p:spPr>
          <a:xfrm>
            <a:off x="548640" y="3931920"/>
            <a:ext cx="11064240" cy="2423160"/>
          </a:xfrm>
          <a:prstGeom prst="rect">
            <a:avLst/>
          </a:prstGeom>
          <a:noFill/>
        </p:spPr>
        <p:txBody>
          <a:bodyPr wrap="square">
            <a:spAutoFit/>
          </a:bodyPr>
          <a:lstStyle/>
          <a:p>
            <a:pPr>
              <a:spcAft>
                <a:spcPts val="600"/>
              </a:spcAft>
              <a:defRPr sz="1300">
                <a:solidFill>
                  <a:srgbClr val="0B0B0B"/>
                </a:solidFill>
              </a:defRPr>
            </a:pPr>
            <a:r>
              <a:t>• Same picture as the pilots, in all three experiments: CLIO answers 12 of 14 questions vs 8.5 for Claude Code; without the opt-in audit the two are close (9 vs 8.5) but cover different questions.</a:t>
            </a:r>
          </a:p>
          <a:p>
            <a:pPr>
              <a:spcAft>
                <a:spcPts val="600"/>
              </a:spcAft>
              <a:defRPr sz="1300">
                <a:solidFill>
                  <a:srgbClr val="0B0B0B"/>
                </a:solidFill>
              </a:defRPr>
            </a:pPr>
            <a:r>
              <a:t>• Change from the pilots: Q4 (liveness of a long tool) is now 'recorded' for CLIO because the counted runner kept CLIO's SSE event stream (tool.call.progress); the pilots did not keep it.</a:t>
            </a:r>
          </a:p>
          <a:p>
            <a:pPr>
              <a:spcAft>
                <a:spcPts val="600"/>
              </a:spcAft>
              <a:defRPr sz="1300">
                <a:solidFill>
                  <a:srgbClr val="0B0B0B"/>
                </a:solidFill>
              </a:defRPr>
            </a:pPr>
            <a:r>
              <a:t>• CLIO still lacks Q10 (running rate-limit state): it consumes the Claude Code stream and does not keep it. The baseline lacks Q2, Q12, Q13 (cache-reset reasons, prefix hashes, runtime health).</a:t>
            </a:r>
          </a:p>
          <a:p>
            <a:pPr>
              <a:spcAft>
                <a:spcPts val="600"/>
              </a:spcAft>
              <a:defRPr sz="1300">
                <a:solidFill>
                  <a:srgbClr val="0B0B0B"/>
                </a:solidFill>
              </a:defRPr>
            </a:pPr>
            <a:r>
              <a:t>• Cost of the breadth: about 8–9× the storage for the records themselves, about 120–210× with CLIO's full session exports.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625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spAutoFit/>
          </a:bodyPr>
          <a:lstStyle/>
          <a:p>
            <a:pPr>
              <a:defRPr sz="2600" b="1">
                <a:solidFill>
                  <a:srgbClr val="0B0B0B"/>
                </a:solidFill>
              </a:defRPr>
            </a:pPr>
            <a:r>
              <a:t>Observability in the counted trials: what it showed</a:t>
            </a:r>
          </a:p>
          <a:p>
            <a:pPr>
              <a:defRPr sz="1300">
                <a:solidFill>
                  <a:srgbClr val="52514E"/>
                </a:solidFill>
              </a:defRPr>
            </a:pPr>
            <a:r>
              <a:t>Cases where CLIO's own records answered a question about a counted trial</a:t>
            </a:r>
          </a:p>
        </p:txBody>
      </p:sp>
      <p:sp>
        <p:nvSpPr>
          <p:cNvPr id="4" name="TextBox 3"/>
          <p:cNvSpPr txBox="1"/>
          <p:nvPr/>
        </p:nvSpPr>
        <p:spPr>
          <a:xfrm>
            <a:off x="457200" y="6446520"/>
            <a:ext cx="11247120" cy="274320"/>
          </a:xfrm>
          <a:prstGeom prst="rect">
            <a:avLst/>
          </a:prstGeom>
          <a:noFill/>
        </p:spPr>
        <p:txBody>
          <a:bodyPr wrap="none">
            <a:spAutoFit/>
          </a:bodyPr>
          <a:lstStyle/>
          <a:p>
            <a:pPr>
              <a:defRPr sz="900">
                <a:solidFill>
                  <a:srgbClr val="52514E"/>
                </a:solidFill>
              </a:defRPr>
            </a:pPr>
            <a:r>
              <a:t>COUNTED THESIS TRIALS · CLIO (factorio-flat 0.5.0) vs Claude Code baseline · n = 5 per system per experiment</a:t>
            </a:r>
          </a:p>
        </p:txBody>
      </p:sp>
      <p:sp>
        <p:nvSpPr>
          <p:cNvPr id="5" name="TextBox 4"/>
          <p:cNvSpPr txBox="1"/>
          <p:nvPr/>
        </p:nvSpPr>
        <p:spPr>
          <a:xfrm>
            <a:off x="548640" y="1371600"/>
            <a:ext cx="11064240" cy="4983480"/>
          </a:xfrm>
          <a:prstGeom prst="rect">
            <a:avLst/>
          </a:prstGeom>
          <a:noFill/>
        </p:spPr>
        <p:txBody>
          <a:bodyPr wrap="square">
            <a:spAutoFit/>
          </a:bodyPr>
          <a:lstStyle/>
          <a:p>
            <a:pPr>
              <a:spcAft>
                <a:spcPts val="600"/>
              </a:spcAft>
              <a:defRPr sz="1400">
                <a:solidFill>
                  <a:srgbClr val="0B0B0B"/>
                </a:solidFill>
              </a:defRPr>
            </a:pPr>
            <a:r>
              <a:t>• Cache stayed warm in every counted CLIO session (Q2): the stream audit typed all 535 model calls; 515 were incremental ('delta') and 20 were full sends, one first call per session (5 + 10 + 5 sessions). Zero 'session_evicted' re-sends, which confirms that the idle-reaper fix from the pilots held.</a:t>
            </a:r>
          </a:p>
          <a:p>
            <a:pPr>
              <a:spcAft>
                <a:spcPts val="600"/>
              </a:spcAft>
              <a:defRPr sz="1400">
                <a:solidFill>
                  <a:srgbClr val="0B0B0B"/>
                </a:solidFill>
              </a:defRPr>
            </a:pPr>
            <a:r>
              <a:t>• E2-05 exclusion (Q5): CLIO recorded Session B's failure as a typed ClaudeCodeSignedOutError with 0 tokens, so the cause (expired login, not the agent) was clear from CLIO's own trace.</a:t>
            </a:r>
          </a:p>
          <a:p>
            <a:pPr>
              <a:spcAft>
                <a:spcPts val="600"/>
              </a:spcAft>
              <a:defRPr sz="1400">
                <a:solidFill>
                  <a:srgbClr val="0B0B0B"/>
                </a:solidFill>
              </a:defRPr>
            </a:pPr>
            <a:r>
              <a:t>• E1-03 exclusion (Q6/Q13): CLIO's server log recorded the failed version probe of the pinned CLI ([Errno 14] Bad address) and its fallback to 2.1.296; the CLI-pin check caught it, and the log showed why.</a:t>
            </a:r>
          </a:p>
          <a:p>
            <a:pPr>
              <a:spcAft>
                <a:spcPts val="600"/>
              </a:spcAft>
              <a:defRPr sz="1400">
                <a:solidFill>
                  <a:srgbClr val="0B0B0B"/>
                </a:solidFill>
              </a:defRPr>
            </a:pPr>
            <a:r>
              <a:t>• Which skills the agent used (Q8): every counted CLIO session recorded skill.loaded twice (the blueprint's packet-mode skills); the baseline has no such event.</a:t>
            </a:r>
          </a:p>
          <a:p>
            <a:pPr>
              <a:spcAft>
                <a:spcPts val="600"/>
              </a:spcAft>
              <a:defRPr sz="1400">
                <a:solidFill>
                  <a:srgbClr val="0B0B0B"/>
                </a:solidFill>
              </a:defRPr>
            </a:pPr>
            <a:r>
              <a:t>• Effective configuration (Q6): model, approval mode, effort, blueprint id and version, and timeouts were read back from the running CLIO for every session and frozen in configuration_freeze.json before the prompt was sent.</a:t>
            </a:r>
          </a:p>
          <a:p>
            <a:pPr>
              <a:spcAft>
                <a:spcPts val="600"/>
              </a:spcAft>
              <a:defRPr sz="1400">
                <a:solidFill>
                  <a:srgbClr val="0B0B0B"/>
                </a:solidFill>
              </a:defRPr>
            </a:pPr>
            <a:r>
              <a:t>• Limits: neither system attributes Slurm jobs to the session (Q9) or records which call wrote each output file (Q14); both are reconstructed from tool output.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625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spAutoFit/>
          </a:bodyPr>
          <a:lstStyle/>
          <a:p>
            <a:pPr>
              <a:defRPr sz="2600" b="1">
                <a:solidFill>
                  <a:srgbClr val="0B0B0B"/>
                </a:solidFill>
              </a:defRPr>
            </a:pPr>
            <a:r>
              <a:t>Which parts of CLIO did E1–E3 exercise?</a:t>
            </a:r>
          </a:p>
          <a:p>
            <a:pPr>
              <a:defRPr sz="1300">
                <a:solidFill>
                  <a:srgbClr val="52514E"/>
                </a:solidFill>
              </a:defRPr>
            </a:pPr>
            <a:r>
              <a:t>From each session's recorded toolset, SSE tool calls and stream audit (15 counted trials)</a:t>
            </a:r>
          </a:p>
        </p:txBody>
      </p:sp>
      <p:sp>
        <p:nvSpPr>
          <p:cNvPr id="4" name="TextBox 3"/>
          <p:cNvSpPr txBox="1"/>
          <p:nvPr/>
        </p:nvSpPr>
        <p:spPr>
          <a:xfrm>
            <a:off x="457200" y="6446520"/>
            <a:ext cx="11247120" cy="274320"/>
          </a:xfrm>
          <a:prstGeom prst="rect">
            <a:avLst/>
          </a:prstGeom>
          <a:noFill/>
        </p:spPr>
        <p:txBody>
          <a:bodyPr wrap="none">
            <a:spAutoFit/>
          </a:bodyPr>
          <a:lstStyle/>
          <a:p>
            <a:pPr>
              <a:defRPr sz="900">
                <a:solidFill>
                  <a:srgbClr val="52514E"/>
                </a:solidFill>
              </a:defRPr>
            </a:pPr>
            <a:r>
              <a:t>COUNTED THESIS TRIALS · CLIO (factorio-flat 0.5.0) vs Claude Code baseline · n = 5 per system per experiment</a:t>
            </a:r>
          </a:p>
        </p:txBody>
      </p:sp>
      <p:graphicFrame>
        <p:nvGraphicFramePr>
          <p:cNvPr id="5" name="Table 4"/>
          <p:cNvGraphicFramePr>
            <a:graphicFrameLocks noGrp="1"/>
          </p:cNvGraphicFramePr>
          <p:nvPr/>
        </p:nvGraphicFramePr>
        <p:xfrm>
          <a:off x="457200" y="1234440"/>
          <a:ext cx="11247120" cy="2194560"/>
        </p:xfrm>
        <a:graphic>
          <a:graphicData uri="http://schemas.openxmlformats.org/drawingml/2006/table">
            <a:tbl>
              <a:tblPr firstRow="1" bandRow="1">
                <a:tableStyleId>{5C22544A-7EE6-4342-B048-85BDC9FD1C3A}</a:tableStyleId>
              </a:tblPr>
              <a:tblGrid>
                <a:gridCol w="3931920"/>
                <a:gridCol w="2011680"/>
                <a:gridCol w="5303520"/>
              </a:tblGrid>
              <a:tr h="274320">
                <a:tc>
                  <a:txBody>
                    <a:bodyPr/>
                    <a:lstStyle/>
                    <a:p>
                      <a:pPr>
                        <a:defRPr sz="1100" b="1"/>
                      </a:pPr>
                      <a:r>
                        <a:t>CLIO component</a:t>
                      </a:r>
                    </a:p>
                  </a:txBody>
                  <a:tcPr/>
                </a:tc>
                <a:tc>
                  <a:txBody>
                    <a:bodyPr/>
                    <a:lstStyle/>
                    <a:p>
                      <a:pPr>
                        <a:defRPr sz="1100" b="1"/>
                      </a:pPr>
                      <a:r>
                        <a:t>Used in E1–E3?</a:t>
                      </a:r>
                    </a:p>
                  </a:txBody>
                  <a:tcPr/>
                </a:tc>
                <a:tc>
                  <a:txBody>
                    <a:bodyPr/>
                    <a:lstStyle/>
                    <a:p>
                      <a:pPr>
                        <a:defRPr sz="1100" b="1"/>
                      </a:pPr>
                      <a:r>
                        <a:t>Evidence</a:t>
                      </a:r>
                    </a:p>
                  </a:txBody>
                  <a:tcPr/>
                </a:tc>
              </a:tr>
              <a:tr h="274320">
                <a:tc>
                  <a:txBody>
                    <a:bodyPr/>
                    <a:lstStyle/>
                    <a:p>
                      <a:pPr>
                        <a:defRPr sz="1100"/>
                      </a:pPr>
                      <a:r>
                        <a:t>clio-agent: GACT agent loop, provider claude_code, blueprint (factorio-flat 0.5.0)</a:t>
                      </a:r>
                    </a:p>
                  </a:txBody>
                  <a:tcPr/>
                </a:tc>
                <a:tc>
                  <a:txBody>
                    <a:bodyPr/>
                    <a:lstStyle/>
                    <a:p>
                      <a:pPr>
                        <a:defRPr sz="1100"/>
                      </a:pPr>
                      <a:r>
                        <a:t>yes</a:t>
                      </a:r>
                    </a:p>
                  </a:txBody>
                  <a:tcPr/>
                </a:tc>
                <a:tc>
                  <a:txBody>
                    <a:bodyPr/>
                    <a:lstStyle/>
                    <a:p>
                      <a:pPr>
                        <a:defRPr sz="1100"/>
                      </a:pPr>
                      <a:r>
                        <a:t>every session; this is what was compared</a:t>
                      </a:r>
                    </a:p>
                  </a:txBody>
                  <a:tcPr/>
                </a:tc>
              </a:tr>
              <a:tr h="274320">
                <a:tc>
                  <a:txBody>
                    <a:bodyPr/>
                    <a:lstStyle/>
                    <a:p>
                      <a:pPr>
                        <a:defRPr sz="1100"/>
                      </a:pPr>
                      <a:r>
                        <a:t>Tools</a:t>
                      </a:r>
                    </a:p>
                  </a:txBody>
                  <a:tcPr/>
                </a:tc>
                <a:tc>
                  <a:txBody>
                    <a:bodyPr/>
                    <a:lstStyle/>
                    <a:p>
                      <a:pPr>
                        <a:defRPr sz="1100"/>
                      </a:pPr>
                      <a:r>
                        <a:t>shell_bash, load_skill only</a:t>
                      </a:r>
                    </a:p>
                  </a:txBody>
                  <a:tcPr/>
                </a:tc>
                <a:tc>
                  <a:txBody>
                    <a:bodyPr/>
                    <a:lstStyle/>
                    <a:p>
                      <a:pPr>
                        <a:defRPr sz="1100"/>
                      </a:pPr>
                      <a:r>
                        <a:t>45 tools offered; all 20 counted sessions called only shell_bash (25–55 per session) and load_skill (2)</a:t>
                      </a:r>
                    </a:p>
                  </a:txBody>
                  <a:tcPr/>
                </a:tc>
              </a:tr>
              <a:tr h="274320">
                <a:tc>
                  <a:txBody>
                    <a:bodyPr/>
                    <a:lstStyle/>
                    <a:p>
                      <a:pPr>
                        <a:defRPr sz="1100"/>
                      </a:pPr>
                      <a:r>
                        <a:t>clio-core: session/context store (events, transcript segments)</a:t>
                      </a:r>
                    </a:p>
                  </a:txBody>
                  <a:tcPr/>
                </a:tc>
                <a:tc>
                  <a:txBody>
                    <a:bodyPr/>
                    <a:lstStyle/>
                    <a:p>
                      <a:pPr>
                        <a:defRPr sz="1100"/>
                      </a:pPr>
                      <a:r>
                        <a:t>yes, passively</a:t>
                      </a:r>
                    </a:p>
                  </a:txBody>
                  <a:tcPr/>
                </a:tc>
                <a:tc>
                  <a:txBody>
                    <a:bodyPr/>
                    <a:lstStyle/>
                    <a:p>
                      <a:pPr>
                        <a:defRPr sz="1100"/>
                      </a:pPr>
                      <a:r>
                        <a:t>store.put / store.write rows in the audit; private daemon per session</a:t>
                      </a:r>
                    </a:p>
                  </a:txBody>
                  <a:tcPr/>
                </a:tc>
              </a:tr>
              <a:tr h="274320">
                <a:tc>
                  <a:txBody>
                    <a:bodyPr/>
                    <a:lstStyle/>
                    <a:p>
                      <a:pPr>
                        <a:defRPr sz="1100"/>
                      </a:pPr>
                      <a:r>
                        <a:t>Context engine (compaction, recall_context, memory search)</a:t>
                      </a:r>
                    </a:p>
                  </a:txBody>
                  <a:tcPr/>
                </a:tc>
                <a:tc>
                  <a:txBody>
                    <a:bodyPr/>
                    <a:lstStyle/>
                    <a:p>
                      <a:pPr>
                        <a:defRPr sz="1100"/>
                      </a:pPr>
                      <a:r>
                        <a:t>no</a:t>
                      </a:r>
                    </a:p>
                  </a:txBody>
                  <a:tcPr/>
                </a:tc>
                <a:tc>
                  <a:txBody>
                    <a:bodyPr/>
                    <a:lstStyle/>
                    <a:p>
                      <a:pPr>
                        <a:defRPr sz="1100"/>
                      </a:pPr>
                      <a:r>
                        <a:t>no session approached the context limit (compaction.auto_skipped); recall/memory tools never called</a:t>
                      </a:r>
                    </a:p>
                  </a:txBody>
                  <a:tcPr/>
                </a:tc>
              </a:tr>
              <a:tr h="274320">
                <a:tc>
                  <a:txBody>
                    <a:bodyPr/>
                    <a:lstStyle/>
                    <a:p>
                      <a:pPr>
                        <a:defRPr sz="1100"/>
                      </a:pPr>
                      <a:r>
                        <a:t>Assimilation engine (CAE: ingest files into tagged blobs)</a:t>
                      </a:r>
                    </a:p>
                  </a:txBody>
                  <a:tcPr/>
                </a:tc>
                <a:tc>
                  <a:txBody>
                    <a:bodyPr/>
                    <a:lstStyle/>
                    <a:p>
                      <a:pPr>
                        <a:defRPr sz="1100"/>
                      </a:pPr>
                      <a:r>
                        <a:t>no</a:t>
                      </a:r>
                    </a:p>
                  </a:txBody>
                  <a:tcPr/>
                </a:tc>
                <a:tc>
                  <a:txBody>
                    <a:bodyPr/>
                    <a:lstStyle/>
                    <a:p>
                      <a:pPr>
                        <a:defRPr sz="1100"/>
                      </a:pPr>
                      <a:r>
                        <a:t>no tool exposes it to the agent; not configured in the deployment</a:t>
                      </a:r>
                    </a:p>
                  </a:txBody>
                  <a:tcPr/>
                </a:tc>
              </a:tr>
              <a:tr h="274320">
                <a:tc>
                  <a:txBody>
                    <a:bodyPr/>
                    <a:lstStyle/>
                    <a:p>
                      <a:pPr>
                        <a:defRPr sz="1100"/>
                      </a:pPr>
                      <a:r>
                        <a:t>Transfer engine (CTE: tiered RAM/disk storage, FUSE)</a:t>
                      </a:r>
                    </a:p>
                  </a:txBody>
                  <a:tcPr/>
                </a:tc>
                <a:tc>
                  <a:txBody>
                    <a:bodyPr/>
                    <a:lstStyle/>
                    <a:p>
                      <a:pPr>
                        <a:defRPr sz="1100"/>
                      </a:pPr>
                      <a:r>
                        <a:t>no</a:t>
                      </a:r>
                    </a:p>
                  </a:txBody>
                  <a:tcPr/>
                </a:tc>
                <a:tc>
                  <a:txBody>
                    <a:bodyPr/>
                    <a:lstStyle/>
                    <a:p>
                      <a:pPr>
                        <a:defRPr sz="1100"/>
                      </a:pPr>
                      <a:r>
                        <a:t>Morphorm and E3 staging used plain files, Slurm and Globus as in the baseline</a:t>
                      </a:r>
                    </a:p>
                  </a:txBody>
                  <a:tcPr/>
                </a:tc>
              </a:tr>
              <a:tr h="274320">
                <a:tc>
                  <a:txBody>
                    <a:bodyPr/>
                    <a:lstStyle/>
                    <a:p>
                      <a:pPr>
                        <a:defRPr sz="1100"/>
                      </a:pPr>
                      <a:r>
                        <a:t>Exploration engine (CEE: query/retrieve)</a:t>
                      </a:r>
                    </a:p>
                  </a:txBody>
                  <a:tcPr/>
                </a:tc>
                <a:tc>
                  <a:txBody>
                    <a:bodyPr/>
                    <a:lstStyle/>
                    <a:p>
                      <a:pPr>
                        <a:defRPr sz="1100"/>
                      </a:pPr>
                      <a:r>
                        <a:t>no</a:t>
                      </a:r>
                    </a:p>
                  </a:txBody>
                  <a:tcPr/>
                </a:tc>
                <a:tc>
                  <a:txBody>
                    <a:bodyPr/>
                    <a:lstStyle/>
                    <a:p>
                      <a:pPr>
                        <a:defRPr sz="1100"/>
                      </a:pPr>
                      <a:r>
                        <a:t>no tool exposes it to the agent</a:t>
                      </a:r>
                    </a:p>
                  </a:txBody>
                  <a:tcPr/>
                </a:tc>
              </a:tr>
            </a:tbl>
          </a:graphicData>
        </a:graphic>
      </p:graphicFrame>
      <p:sp>
        <p:nvSpPr>
          <p:cNvPr id="6" name="TextBox 5"/>
          <p:cNvSpPr txBox="1"/>
          <p:nvPr/>
        </p:nvSpPr>
        <p:spPr>
          <a:xfrm>
            <a:off x="548640" y="4846320"/>
            <a:ext cx="11064240" cy="1508760"/>
          </a:xfrm>
          <a:prstGeom prst="rect">
            <a:avLst/>
          </a:prstGeom>
          <a:noFill/>
        </p:spPr>
        <p:txBody>
          <a:bodyPr wrap="square">
            <a:spAutoFit/>
          </a:bodyPr>
          <a:lstStyle/>
          <a:p>
            <a:pPr>
              <a:spcAft>
                <a:spcPts val="600"/>
              </a:spcAft>
              <a:defRPr sz="1300">
                <a:solidFill>
                  <a:srgbClr val="0B0B0B"/>
                </a:solidFill>
              </a:defRPr>
            </a:pPr>
            <a:r>
              <a:t>• So the results measure CLIO as an agent harness (loop, blueprint, runtime, telemetry), not its data engines.</a:t>
            </a:r>
          </a:p>
          <a:p>
            <a:pPr>
              <a:spcAft>
                <a:spcPts val="600"/>
              </a:spcAft>
              <a:defRPr sz="1300">
                <a:solidFill>
                  <a:srgbClr val="0B0B0B"/>
                </a:solidFill>
              </a:defRPr>
            </a:pPr>
            <a:r>
              <a:t>• The engines were tested separately, without a model (CLIO_engine_pilots/): transfer works but is slower than plain local storage when durability is matched and loses data on a crash; assimilation stores raw bytes without parsing Exodus; exploration has no semantic search in this build (indexer chimod missing).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625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spAutoFit/>
          </a:bodyPr>
          <a:lstStyle/>
          <a:p>
            <a:pPr>
              <a:defRPr sz="2600" b="1">
                <a:solidFill>
                  <a:srgbClr val="0B0B0B"/>
                </a:solidFill>
              </a:defRPr>
            </a:pPr>
            <a:r>
              <a:t>What the experiments show (qualitative)</a:t>
            </a:r>
          </a:p>
          <a:p>
            <a:pPr>
              <a:defRPr sz="1300">
                <a:solidFill>
                  <a:srgbClr val="52514E"/>
                </a:solidFill>
              </a:defRPr>
            </a:pPr>
            <a:r>
              <a:t>Same model and CLI in both arms; only the agent system around them differs</a:t>
            </a:r>
          </a:p>
        </p:txBody>
      </p:sp>
      <p:sp>
        <p:nvSpPr>
          <p:cNvPr id="4" name="TextBox 3"/>
          <p:cNvSpPr txBox="1"/>
          <p:nvPr/>
        </p:nvSpPr>
        <p:spPr>
          <a:xfrm>
            <a:off x="457200" y="6446520"/>
            <a:ext cx="11247120" cy="274320"/>
          </a:xfrm>
          <a:prstGeom prst="rect">
            <a:avLst/>
          </a:prstGeom>
          <a:noFill/>
        </p:spPr>
        <p:txBody>
          <a:bodyPr wrap="none">
            <a:spAutoFit/>
          </a:bodyPr>
          <a:lstStyle/>
          <a:p>
            <a:pPr>
              <a:defRPr sz="900">
                <a:solidFill>
                  <a:srgbClr val="52514E"/>
                </a:solidFill>
              </a:defRPr>
            </a:pPr>
            <a:r>
              <a:t>COUNTED THESIS TRIALS · CLIO (factorio-flat 0.5.0) vs Claude Code baseline · n = 5 per system per experiment</a:t>
            </a:r>
          </a:p>
        </p:txBody>
      </p:sp>
      <p:graphicFrame>
        <p:nvGraphicFramePr>
          <p:cNvPr id="5" name="Table 4"/>
          <p:cNvGraphicFramePr>
            <a:graphicFrameLocks noGrp="1"/>
          </p:cNvGraphicFramePr>
          <p:nvPr/>
        </p:nvGraphicFramePr>
        <p:xfrm>
          <a:off x="457200" y="1280160"/>
          <a:ext cx="11247120" cy="1371600"/>
        </p:xfrm>
        <a:graphic>
          <a:graphicData uri="http://schemas.openxmlformats.org/drawingml/2006/table">
            <a:tbl>
              <a:tblPr firstRow="1" bandRow="1">
                <a:tableStyleId>{5C22544A-7EE6-4342-B048-85BDC9FD1C3A}</a:tableStyleId>
              </a:tblPr>
              <a:tblGrid>
                <a:gridCol w="1828800"/>
                <a:gridCol w="4846320"/>
                <a:gridCol w="4572000"/>
              </a:tblGrid>
              <a:tr h="274320">
                <a:tc>
                  <a:txBody>
                    <a:bodyPr/>
                    <a:lstStyle/>
                    <a:p>
                      <a:pPr>
                        <a:defRPr sz="1200" b="1"/>
                      </a:pPr>
                      <a:r>
                        <a:t>Experiment</a:t>
                      </a:r>
                    </a:p>
                  </a:txBody>
                  <a:tcPr/>
                </a:tc>
                <a:tc>
                  <a:txBody>
                    <a:bodyPr/>
                    <a:lstStyle/>
                    <a:p>
                      <a:pPr>
                        <a:defRPr sz="1200" b="1"/>
                      </a:pPr>
                      <a:r>
                        <a:t>What CLIO changed</a:t>
                      </a:r>
                    </a:p>
                  </a:txBody>
                  <a:tcPr/>
                </a:tc>
                <a:tc>
                  <a:txBody>
                    <a:bodyPr/>
                    <a:lstStyle/>
                    <a:p>
                      <a:pPr>
                        <a:defRPr sz="1200" b="1"/>
                      </a:pPr>
                      <a:r>
                        <a:t>Why</a:t>
                      </a:r>
                    </a:p>
                  </a:txBody>
                  <a:tcPr/>
                </a:tc>
              </a:tr>
              <a:tr h="274320">
                <a:tc>
                  <a:txBody>
                    <a:bodyPr/>
                    <a:lstStyle/>
                    <a:p>
                      <a:pPr>
                        <a:defRPr sz="1200"/>
                      </a:pPr>
                      <a:r>
                        <a:t>All three</a:t>
                      </a:r>
                    </a:p>
                  </a:txBody>
                  <a:tcPr/>
                </a:tc>
                <a:tc>
                  <a:txBody>
                    <a:bodyPr/>
                    <a:lstStyle/>
                    <a:p>
                      <a:pPr>
                        <a:defRPr sz="1200"/>
                      </a:pPr>
                      <a:r>
                        <a:t>Same accepted science, no human input; less writing, fewer and larger model calls, much richer self-records</a:t>
                      </a:r>
                    </a:p>
                  </a:txBody>
                  <a:tcPr/>
                </a:tc>
                <a:tc>
                  <a:txBody>
                    <a:bodyPr/>
                    <a:lstStyle/>
                    <a:p>
                      <a:pPr>
                        <a:defRPr sz="1200"/>
                      </a:pPr>
                      <a:r>
                        <a:t>The harness and blueprint change how the model works, not what it can solve</a:t>
                      </a:r>
                    </a:p>
                  </a:txBody>
                  <a:tcPr/>
                </a:tc>
              </a:tr>
              <a:tr h="274320">
                <a:tc>
                  <a:txBody>
                    <a:bodyPr/>
                    <a:lstStyle/>
                    <a:p>
                      <a:pPr>
                        <a:defRPr sz="1200"/>
                      </a:pPr>
                      <a:r>
                        <a:t>E1 uninterrupted</a:t>
                      </a:r>
                    </a:p>
                  </a:txBody>
                  <a:tcPr/>
                </a:tc>
                <a:tc>
                  <a:txBody>
                    <a:bodyPr/>
                    <a:lstStyle/>
                    <a:p>
                      <a:pPr>
                        <a:defRPr sz="1200"/>
                      </a:pPr>
                      <a:r>
                        <a:t>Went straight to a correct deck and job; output 0.68×, cost 0.72×; agent time n.s.</a:t>
                      </a:r>
                    </a:p>
                  </a:txBody>
                  <a:tcPr/>
                </a:tc>
                <a:tc>
                  <a:txBody>
                    <a:bodyPr/>
                    <a:lstStyle/>
                    <a:p>
                      <a:pPr>
                        <a:defRPr sz="1200"/>
                      </a:pPr>
                      <a:r>
                        <a:t>Blueprint Morphorm/Slurm guidance and bundled checks; wall time higher only from Slurm node speed</a:t>
                      </a:r>
                    </a:p>
                  </a:txBody>
                  <a:tcPr/>
                </a:tc>
              </a:tr>
              <a:tr h="274320">
                <a:tc>
                  <a:txBody>
                    <a:bodyPr/>
                    <a:lstStyle/>
                    <a:p>
                      <a:pPr>
                        <a:defRPr sz="1200"/>
                      </a:pPr>
                      <a:r>
                        <a:t>E2 interrupted recovery</a:t>
                      </a:r>
                    </a:p>
                  </a:txBody>
                  <a:tcPr/>
                </a:tc>
                <a:tc>
                  <a:txBody>
                    <a:bodyPr/>
                    <a:lstStyle/>
                    <a:p>
                      <a:pPr>
                        <a:defRPr sz="1200"/>
                      </a:pPr>
                      <a:r>
                        <a:t>Clearest advantage: no wrong-restart cancels (baseline 4/5 runs); model time 0.73×, cost 0.78×</a:t>
                      </a:r>
                    </a:p>
                  </a:txBody>
                  <a:tcPr/>
                </a:tc>
                <a:tc>
                  <a:txBody>
                    <a:bodyPr/>
                    <a:lstStyle/>
                    <a:p>
                      <a:pPr>
                        <a:defRPr sz="1200"/>
                      </a:pPr>
                      <a:r>
                        <a:t>Encoded restart-state knowledge, not memory: Session B was a fresh deployment, as in the baseline</a:t>
                      </a:r>
                    </a:p>
                  </a:txBody>
                  <a:tcPr/>
                </a:tc>
              </a:tr>
              <a:tr h="274320">
                <a:tc>
                  <a:txBody>
                    <a:bodyPr/>
                    <a:lstStyle/>
                    <a:p>
                      <a:pPr>
                        <a:defRPr sz="1200"/>
                      </a:pPr>
                      <a:r>
                        <a:t>E3 disparate storage</a:t>
                      </a:r>
                    </a:p>
                  </a:txBody>
                  <a:tcPr/>
                </a:tc>
                <a:tc>
                  <a:txBody>
                    <a:bodyPr/>
                    <a:lstStyle/>
                    <a:p>
                      <a:pPr>
                        <a:defRPr sz="1200"/>
                      </a:pPr>
                      <a:r>
                        <a:t>Cheaper (0.83×), calls 0.55×; time and context ≈ baseline; staging behaviour the same</a:t>
                      </a:r>
                    </a:p>
                  </a:txBody>
                  <a:tcPr/>
                </a:tc>
                <a:tc>
                  <a:txBody>
                    <a:bodyPr/>
                    <a:lstStyle/>
                    <a:p>
                      <a:pPr>
                        <a:defRPr sz="1200"/>
                      </a:pPr>
                      <a:r>
                        <a:t>Only the Morphorm half was helped; nothing in CLIO's blueprint or tools addressed finding and staging data</a:t>
                      </a:r>
                    </a:p>
                  </a:txBody>
                  <a:tcPr/>
                </a:tc>
              </a:tr>
            </a:tbl>
          </a:graphicData>
        </a:graphic>
      </p:graphicFrame>
      <p:sp>
        <p:nvSpPr>
          <p:cNvPr id="6" name="TextBox 5"/>
          <p:cNvSpPr txBox="1"/>
          <p:nvPr/>
        </p:nvSpPr>
        <p:spPr>
          <a:xfrm>
            <a:off x="548640" y="5029200"/>
            <a:ext cx="11064240" cy="1325880"/>
          </a:xfrm>
          <a:prstGeom prst="rect">
            <a:avLst/>
          </a:prstGeom>
          <a:noFill/>
        </p:spPr>
        <p:txBody>
          <a:bodyPr wrap="square">
            <a:spAutoFit/>
          </a:bodyPr>
          <a:lstStyle/>
          <a:p>
            <a:pPr>
              <a:spcAft>
                <a:spcPts val="600"/>
              </a:spcAft>
              <a:defRPr sz="1500">
                <a:solidFill>
                  <a:srgbClr val="0B0B0B"/>
                </a:solidFill>
              </a:defRPr>
            </a:pPr>
            <a:r>
              <a:t>• Thesis point: CLIO's advantage scales with how much of the task its encoded domain knowledge covers.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625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spAutoFit/>
          </a:bodyPr>
          <a:lstStyle/>
          <a:p>
            <a:pPr>
              <a:defRPr sz="2600" b="1">
                <a:solidFill>
                  <a:srgbClr val="0B0B0B"/>
                </a:solidFill>
              </a:defRPr>
            </a:pPr>
            <a:r>
              <a:t>Why E3 improved least</a:t>
            </a:r>
          </a:p>
          <a:p>
            <a:pPr>
              <a:defRPr sz="1300">
                <a:solidFill>
                  <a:srgbClr val="52514E"/>
                </a:solidFill>
              </a:defRPr>
            </a:pPr>
            <a:r>
              <a:t>Not because E3 relied more on clio-core: the core was used as little in E3 as in E1</a:t>
            </a:r>
          </a:p>
        </p:txBody>
      </p:sp>
      <p:sp>
        <p:nvSpPr>
          <p:cNvPr id="4" name="TextBox 3"/>
          <p:cNvSpPr txBox="1"/>
          <p:nvPr/>
        </p:nvSpPr>
        <p:spPr>
          <a:xfrm>
            <a:off x="457200" y="6446520"/>
            <a:ext cx="11247120" cy="274320"/>
          </a:xfrm>
          <a:prstGeom prst="rect">
            <a:avLst/>
          </a:prstGeom>
          <a:noFill/>
        </p:spPr>
        <p:txBody>
          <a:bodyPr wrap="none">
            <a:spAutoFit/>
          </a:bodyPr>
          <a:lstStyle/>
          <a:p>
            <a:pPr>
              <a:defRPr sz="900">
                <a:solidFill>
                  <a:srgbClr val="52514E"/>
                </a:solidFill>
              </a:defRPr>
            </a:pPr>
            <a:r>
              <a:t>COUNTED THESIS TRIALS · CLIO (factorio-flat 0.5.0) vs Claude Code baseline · n = 5 per system per experiment</a:t>
            </a:r>
          </a:p>
        </p:txBody>
      </p:sp>
      <p:sp>
        <p:nvSpPr>
          <p:cNvPr id="5" name="TextBox 4"/>
          <p:cNvSpPr txBox="1"/>
          <p:nvPr/>
        </p:nvSpPr>
        <p:spPr>
          <a:xfrm>
            <a:off x="548640" y="1371600"/>
            <a:ext cx="11064240" cy="4983480"/>
          </a:xfrm>
          <a:prstGeom prst="rect">
            <a:avLst/>
          </a:prstGeom>
          <a:noFill/>
        </p:spPr>
        <p:txBody>
          <a:bodyPr wrap="square">
            <a:spAutoFit/>
          </a:bodyPr>
          <a:lstStyle/>
          <a:p>
            <a:pPr>
              <a:spcAft>
                <a:spcPts val="600"/>
              </a:spcAft>
              <a:defRPr sz="1400">
                <a:solidFill>
                  <a:srgbClr val="0B0B0B"/>
                </a:solidFill>
              </a:defRPr>
            </a:pPr>
            <a:r>
              <a:t>• No blueprint help for the data half: every E3 session loaded the same two skills as E1 (morphorm, hpc-batch-jobs). factorio-flat 0.5.0 has no skill for storage discovery, relevance judgement, Globus staging or provenance.</a:t>
            </a:r>
          </a:p>
          <a:p>
            <a:pPr>
              <a:spcAft>
                <a:spcPts val="600"/>
              </a:spcAft>
              <a:defRPr sz="1400">
                <a:solidFill>
                  <a:srgbClr val="0B0B0B"/>
                </a:solidFill>
              </a:defRPr>
            </a:pPr>
            <a:r>
              <a:t>• Data engines not in play: the agent called only shell_bash and load_skill; staging used Globus and plain files exactly as the baseline (14.4 vs 14.8 files staged, 11.6 vs 13.2 Globus transfers per run).</a:t>
            </a:r>
          </a:p>
          <a:p>
            <a:pPr>
              <a:spcAft>
                <a:spcPts val="600"/>
              </a:spcAft>
              <a:defRPr sz="1400">
                <a:solidFill>
                  <a:srgbClr val="0B0B0B"/>
                </a:solidFill>
              </a:defRPr>
            </a:pPr>
            <a:r>
              <a:t>• Reading that cannot be skipped: cache writes (≈ half the cost) track the final context. E1: CLIO 161k vs 221k tokens → cache-write cost 0.77×. E3: 183k vs 187k → 1.04×. CLIO's first prompt (≈22.5k vs ≈20.7k tokens) is also written to cache fresh every session, while the baseline's first call reads most of its prompt from a cache warmed by earlier sessions.</a:t>
            </a:r>
          </a:p>
          <a:p>
            <a:pPr>
              <a:spcAft>
                <a:spcPts val="600"/>
              </a:spcAft>
              <a:defRPr sz="1400">
                <a:solidFill>
                  <a:srgbClr val="0B0B0B"/>
                </a:solidFill>
              </a:defRPr>
            </a:pPr>
            <a:r>
              <a:t>• Fewer calls, same work: 27 vs 49 calls, but ≈6.2k vs ≈3.5k new tokens per call, so the saving shows in cache reads (0.54×) and cost, not time.</a:t>
            </a:r>
          </a:p>
          <a:p>
            <a:pPr>
              <a:spcAft>
                <a:spcPts val="600"/>
              </a:spcAft>
              <a:defRPr sz="1400">
                <a:solidFill>
                  <a:srgbClr val="0B0B0B"/>
                </a:solidFill>
              </a:defRPr>
            </a:pPr>
            <a:r>
              <a:t>• Tool-layer overhead where calls are many and small: E3 tool time 3.2 vs 1.7 min (reading and record-keeping around staging).</a:t>
            </a:r>
          </a:p>
          <a:p>
            <a:pPr>
              <a:spcAft>
                <a:spcPts val="600"/>
              </a:spcAft>
              <a:defRPr sz="1400">
                <a:solidFill>
                  <a:srgbClr val="0B0B0B"/>
                </a:solidFill>
              </a:defRPr>
            </a:pPr>
            <a:r>
              <a:t>• So E3 does not show CLIO is weak at data movement; it shows that part of CLIO was not tested.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625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spAutoFit/>
          </a:bodyPr>
          <a:lstStyle/>
          <a:p>
            <a:pPr>
              <a:defRPr sz="2600" b="1">
                <a:solidFill>
                  <a:srgbClr val="0B0B0B"/>
                </a:solidFill>
              </a:defRPr>
            </a:pPr>
            <a:r>
              <a:t>Next: E3 with the clio-core engines</a:t>
            </a:r>
          </a:p>
          <a:p>
            <a:pPr>
              <a:defRPr sz="1300">
                <a:solidFill>
                  <a:srgbClr val="52514E"/>
                </a:solidFill>
              </a:defRPr>
            </a:pPr>
            <a:r>
              <a:t>Three levels, cheapest first; Levels 1–2 piloted (non-counted, Sonnet), Level 3 not run</a:t>
            </a:r>
          </a:p>
        </p:txBody>
      </p:sp>
      <p:sp>
        <p:nvSpPr>
          <p:cNvPr id="4" name="TextBox 3"/>
          <p:cNvSpPr txBox="1"/>
          <p:nvPr/>
        </p:nvSpPr>
        <p:spPr>
          <a:xfrm>
            <a:off x="457200" y="6446520"/>
            <a:ext cx="11247120" cy="274320"/>
          </a:xfrm>
          <a:prstGeom prst="rect">
            <a:avLst/>
          </a:prstGeom>
          <a:noFill/>
        </p:spPr>
        <p:txBody>
          <a:bodyPr wrap="none">
            <a:spAutoFit/>
          </a:bodyPr>
          <a:lstStyle/>
          <a:p>
            <a:pPr>
              <a:defRPr sz="900">
                <a:solidFill>
                  <a:srgbClr val="52514E"/>
                </a:solidFill>
              </a:defRPr>
            </a:pPr>
            <a:r>
              <a:t>COUNTED THESIS TRIALS · CLIO (factorio-flat 0.5.0) vs Claude Code baseline · n = 5 per system per experiment</a:t>
            </a:r>
          </a:p>
        </p:txBody>
      </p:sp>
      <p:graphicFrame>
        <p:nvGraphicFramePr>
          <p:cNvPr id="5" name="Table 4"/>
          <p:cNvGraphicFramePr>
            <a:graphicFrameLocks noGrp="1"/>
          </p:cNvGraphicFramePr>
          <p:nvPr/>
        </p:nvGraphicFramePr>
        <p:xfrm>
          <a:off x="457200" y="1280160"/>
          <a:ext cx="11247120" cy="1097280"/>
        </p:xfrm>
        <a:graphic>
          <a:graphicData uri="http://schemas.openxmlformats.org/drawingml/2006/table">
            <a:tbl>
              <a:tblPr firstRow="1" bandRow="1">
                <a:tableStyleId>{5C22544A-7EE6-4342-B048-85BDC9FD1C3A}</a:tableStyleId>
              </a:tblPr>
              <a:tblGrid>
                <a:gridCol w="2103120"/>
                <a:gridCol w="4023360"/>
                <a:gridCol w="2743200"/>
                <a:gridCol w="2377440"/>
              </a:tblGrid>
              <a:tr h="274320">
                <a:tc>
                  <a:txBody>
                    <a:bodyPr/>
                    <a:lstStyle/>
                    <a:p>
                      <a:pPr>
                        <a:defRPr sz="1150" b="1"/>
                      </a:pPr>
                      <a:r>
                        <a:t>Level</a:t>
                      </a:r>
                    </a:p>
                  </a:txBody>
                  <a:tcPr/>
                </a:tc>
                <a:tc>
                  <a:txBody>
                    <a:bodyPr/>
                    <a:lstStyle/>
                    <a:p>
                      <a:pPr>
                        <a:defRPr sz="1150" b="1"/>
                      </a:pPr>
                      <a:r>
                        <a:t>What changes</a:t>
                      </a:r>
                    </a:p>
                  </a:txBody>
                  <a:tcPr/>
                </a:tc>
                <a:tc>
                  <a:txBody>
                    <a:bodyPr/>
                    <a:lstStyle/>
                    <a:p>
                      <a:pPr>
                        <a:defRPr sz="1150" b="1"/>
                      </a:pPr>
                      <a:r>
                        <a:t>What it tests</a:t>
                      </a:r>
                    </a:p>
                  </a:txBody>
                  <a:tcPr/>
                </a:tc>
                <a:tc>
                  <a:txBody>
                    <a:bodyPr/>
                    <a:lstStyle/>
                    <a:p>
                      <a:pPr>
                        <a:defRPr sz="1150" b="1"/>
                      </a:pPr>
                      <a:r>
                        <a:t>Expected</a:t>
                      </a:r>
                    </a:p>
                  </a:txBody>
                  <a:tcPr/>
                </a:tc>
              </a:tr>
              <a:tr h="274320">
                <a:tc>
                  <a:txBody>
                    <a:bodyPr/>
                    <a:lstStyle/>
                    <a:p>
                      <a:pPr>
                        <a:defRPr sz="1150"/>
                      </a:pPr>
                      <a:r>
                        <a:t>1. Transparent transfer engine</a:t>
                      </a:r>
                    </a:p>
                  </a:txBody>
                  <a:tcPr/>
                </a:tc>
                <a:tc>
                  <a:txBody>
                    <a:bodyPr/>
                    <a:lstStyle/>
                    <a:p>
                      <a:pPr>
                        <a:defRPr sz="1150"/>
                      </a:pPr>
                      <a:r>
                        <a:t>FUSE mount over a private disk-only CTE tier at the existing $E3_STAGING_DIR path; packet, prompt and helpers unchanged</a:t>
                      </a:r>
                    </a:p>
                  </a:txBody>
                  <a:tcPr/>
                </a:tc>
                <a:tc>
                  <a:txBody>
                    <a:bodyPr/>
                    <a:lstStyle/>
                    <a:p>
                      <a:pPr>
                        <a:defRPr sz="1150"/>
                      </a:pPr>
                      <a:r>
                        <a:t>Does E3 run unchanged on the engine?</a:t>
                      </a:r>
                    </a:p>
                  </a:txBody>
                  <a:tcPr/>
                </a:tc>
                <a:tc>
                  <a:txBody>
                    <a:bodyPr/>
                    <a:lstStyle/>
                    <a:p>
                      <a:pPr>
                        <a:defRPr sz="1150"/>
                      </a:pPr>
                      <a:r>
                        <a:t>Piloted: yes, accepted; no change in time</a:t>
                      </a:r>
                    </a:p>
                  </a:txBody>
                  <a:tcPr/>
                </a:tc>
              </a:tr>
              <a:tr h="274320">
                <a:tc>
                  <a:txBody>
                    <a:bodyPr/>
                    <a:lstStyle/>
                    <a:p>
                      <a:pPr>
                        <a:defRPr sz="1150"/>
                      </a:pPr>
                      <a:r>
                        <a:t>2. Agent-visible engines</a:t>
                      </a:r>
                    </a:p>
                  </a:txBody>
                  <a:tcPr/>
                </a:tc>
                <a:tc>
                  <a:txBody>
                    <a:bodyPr/>
                    <a:lstStyle/>
                    <a:p>
                      <a:pPr>
                        <a:defRPr sz="1150"/>
                      </a:pPr>
                      <a:r>
                        <a:t>MCP tools over the 2.3.1 engines (BM25 search of staged files, ingest, read, manifest) + a staging/provenance skill</a:t>
                      </a:r>
                    </a:p>
                  </a:txBody>
                  <a:tcPr/>
                </a:tc>
                <a:tc>
                  <a:txBody>
                    <a:bodyPr/>
                    <a:lstStyle/>
                    <a:p>
                      <a:pPr>
                        <a:defRPr sz="1150"/>
                      </a:pPr>
                      <a:r>
                        <a:t>Does an engine-aware agent stage and find data more efficiently?</a:t>
                      </a:r>
                    </a:p>
                  </a:txBody>
                  <a:tcPr/>
                </a:tc>
                <a:tc>
                  <a:txBody>
                    <a:bodyPr/>
                    <a:lstStyle/>
                    <a:p>
                      <a:pPr>
                        <a:defRPr sz="1150"/>
                      </a:pPr>
                      <a:r>
                        <a:t>Piloted: tools never called (0 in 2 runs); skill alone halved files staged</a:t>
                      </a:r>
                    </a:p>
                  </a:txBody>
                  <a:tcPr/>
                </a:tc>
              </a:tr>
              <a:tr h="274320">
                <a:tc>
                  <a:txBody>
                    <a:bodyPr/>
                    <a:lstStyle/>
                    <a:p>
                      <a:pPr>
                        <a:defRPr sz="1150"/>
                      </a:pPr>
                      <a:r>
                        <a:t>3. Engine-dependent</a:t>
                      </a:r>
                    </a:p>
                  </a:txBody>
                  <a:tcPr/>
                </a:tc>
                <a:tc>
                  <a:txBody>
                    <a:bodyPr/>
                    <a:lstStyle/>
                    <a:p>
                      <a:pPr>
                        <a:defRPr sz="1150"/>
                      </a:pPr>
                      <a:r>
                        <a:t>Parsed assimilation (Exodus/HDF5) + semantic search (indexer chimod)</a:t>
                      </a:r>
                    </a:p>
                  </a:txBody>
                  <a:tcPr/>
                </a:tc>
                <a:tc>
                  <a:txBody>
                    <a:bodyPr/>
                    <a:lstStyle/>
                    <a:p>
                      <a:pPr>
                        <a:defRPr sz="1150"/>
                      </a:pPr>
                      <a:r>
                        <a:t>Can the agent query data instead of reading it?</a:t>
                      </a:r>
                    </a:p>
                  </a:txBody>
                  <a:tcPr/>
                </a:tc>
                <a:tc>
                  <a:txBody>
                    <a:bodyPr/>
                    <a:lstStyle/>
                    <a:p>
                      <a:pPr>
                        <a:defRPr sz="1150"/>
                      </a:pPr>
                      <a:r>
                        <a:t>Blocked: missing in iowarp-core 2.2.1</a:t>
                      </a:r>
                    </a:p>
                  </a:txBody>
                  <a:tcPr/>
                </a:tc>
              </a:tr>
            </a:tbl>
          </a:graphicData>
        </a:graphic>
      </p:graphicFrame>
      <p:sp>
        <p:nvSpPr>
          <p:cNvPr id="6" name="TextBox 5"/>
          <p:cNvSpPr txBox="1"/>
          <p:nvPr/>
        </p:nvSpPr>
        <p:spPr>
          <a:xfrm>
            <a:off x="548640" y="4572000"/>
            <a:ext cx="11064240" cy="1783080"/>
          </a:xfrm>
          <a:prstGeom prst="rect">
            <a:avLst/>
          </a:prstGeom>
          <a:noFill/>
        </p:spPr>
        <p:txBody>
          <a:bodyPr wrap="square">
            <a:spAutoFit/>
          </a:bodyPr>
          <a:lstStyle/>
          <a:p>
            <a:pPr>
              <a:spcAft>
                <a:spcPts val="600"/>
              </a:spcAft>
              <a:defRPr sz="1250">
                <a:solidFill>
                  <a:srgbClr val="0B0B0B"/>
                </a:solidFill>
              </a:defRPr>
            </a:pPr>
            <a:r>
              <a:t>• Level 1 (2026-10-13): both arms accepted; same wall and Morphorm job time; staged files intact after clean stop + recover → compatible, no benefit at ≈2 MB.</a:t>
            </a:r>
          </a:p>
          <a:p>
            <a:pPr>
              <a:spcAft>
                <a:spcPts val="600"/>
              </a:spcAft>
              <a:defRPr sz="1250">
                <a:solidFill>
                  <a:srgbClr val="0B0B0B"/>
                </a:solidFill>
              </a:defRPr>
            </a:pPr>
            <a:r>
              <a:t>• Level 2 (2026-10-14): all runs accepted; the agent made 0 engine-tool calls in 2 of 2 runs (kept grep/sed); the staging skill alone halved files staged and Globus transfers. Offering the engine is not using it: knowledge changed behaviour, tools did not.</a:t>
            </a:r>
          </a:p>
          <a:p>
            <a:pPr>
              <a:spcAft>
                <a:spcPts val="600"/>
              </a:spcAft>
              <a:defRPr sz="1250">
                <a:solidFill>
                  <a:srgbClr val="0B0B0B"/>
                </a:solidFill>
              </a:defRPr>
            </a:pPr>
            <a:r>
              <a:t>• Constraints: crash loses files (2.2.1 pilot: 0/237 after kill -9) → clean unmount and stop; the agent's own store stays 2.2.1 (clio-agent pins ~=2.2.1).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625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spAutoFit/>
          </a:bodyPr>
          <a:lstStyle/>
          <a:p>
            <a:pPr>
              <a:defRPr sz="2600" b="1">
                <a:solidFill>
                  <a:srgbClr val="0B0B0B"/>
                </a:solidFill>
              </a:defRPr>
            </a:pPr>
            <a:r>
              <a:t>Caveats</a:t>
            </a:r>
          </a:p>
        </p:txBody>
      </p:sp>
      <p:sp>
        <p:nvSpPr>
          <p:cNvPr id="4" name="TextBox 3"/>
          <p:cNvSpPr txBox="1"/>
          <p:nvPr/>
        </p:nvSpPr>
        <p:spPr>
          <a:xfrm>
            <a:off x="457200" y="6446520"/>
            <a:ext cx="11247120" cy="274320"/>
          </a:xfrm>
          <a:prstGeom prst="rect">
            <a:avLst/>
          </a:prstGeom>
          <a:noFill/>
        </p:spPr>
        <p:txBody>
          <a:bodyPr wrap="none">
            <a:spAutoFit/>
          </a:bodyPr>
          <a:lstStyle/>
          <a:p>
            <a:pPr>
              <a:defRPr sz="900">
                <a:solidFill>
                  <a:srgbClr val="52514E"/>
                </a:solidFill>
              </a:defRPr>
            </a:pPr>
            <a:r>
              <a:t>COUNTED THESIS TRIALS · CLIO (factorio-flat 0.5.0) vs Claude Code baseline · n = 5 per system per experiment</a:t>
            </a:r>
          </a:p>
        </p:txBody>
      </p:sp>
      <p:sp>
        <p:nvSpPr>
          <p:cNvPr id="5" name="TextBox 4"/>
          <p:cNvSpPr txBox="1"/>
          <p:nvPr/>
        </p:nvSpPr>
        <p:spPr>
          <a:xfrm>
            <a:off x="548640" y="1371600"/>
            <a:ext cx="11064240" cy="4983480"/>
          </a:xfrm>
          <a:prstGeom prst="rect">
            <a:avLst/>
          </a:prstGeom>
          <a:noFill/>
        </p:spPr>
        <p:txBody>
          <a:bodyPr wrap="square">
            <a:spAutoFit/>
          </a:bodyPr>
          <a:lstStyle/>
          <a:p>
            <a:pPr>
              <a:spcAft>
                <a:spcPts val="600"/>
              </a:spcAft>
              <a:defRPr sz="1500">
                <a:solidFill>
                  <a:srgbClr val="0B0B0B"/>
                </a:solidFill>
              </a:defRPr>
            </a:pPr>
            <a:r>
              <a:t>• The CLIO trials ran on 2026-10-13, three to four days after the baseline (2026-10-09/10), on the same partition; node and contention differ between runs.</a:t>
            </a:r>
          </a:p>
          <a:p>
            <a:pPr>
              <a:spcAft>
                <a:spcPts val="600"/>
              </a:spcAft>
              <a:defRPr sz="1500">
                <a:solidFill>
                  <a:srgbClr val="0B0B0B"/>
                </a:solidFill>
              </a:defRPr>
            </a:pPr>
            <a:r>
              <a:t>• Slurm time depends on node and load (the same Morphorm job takes about 10 min on an idle notch351 and 17–19 min on notch272–274). Compare 'time outside Slurm' for agent speed.</a:t>
            </a:r>
          </a:p>
          <a:p>
            <a:pPr>
              <a:spcAft>
                <a:spcPts val="600"/>
              </a:spcAft>
              <a:defRPr sz="1500">
                <a:solidFill>
                  <a:srgbClr val="0B0B0B"/>
                </a:solidFill>
              </a:defRPr>
            </a:pPr>
            <a:r>
              <a:t>• factorio-flat 0.5.0 contains generic Morphorm/Slurm guidance and helper scripts that the baseline agent did not have; two items were informed by non-counted pilots (filter keyword form, restart-state counting). The blueprint is part of the CLIO system under test.</a:t>
            </a:r>
          </a:p>
          <a:p>
            <a:pPr>
              <a:spcAft>
                <a:spcPts val="600"/>
              </a:spcAft>
              <a:defRPr sz="1500">
                <a:solidFill>
                  <a:srgbClr val="0B0B0B"/>
                </a:solidFill>
              </a:defRPr>
            </a:pPr>
            <a:r>
              <a:t>• factorio-flat 0.5.0 here is the frozen pilot-validated copy (provenance and checksum: Thesis/automation/clio/blueprints/factorio-flat-0.5.0.PROVENANCE.md).</a:t>
            </a:r>
          </a:p>
          <a:p>
            <a:pPr>
              <a:spcAft>
                <a:spcPts val="600"/>
              </a:spcAft>
              <a:defRPr sz="1500">
                <a:solidFill>
                  <a:srgbClr val="0B0B0B"/>
                </a:solidFill>
              </a:defRPr>
            </a:pPr>
            <a:r>
              <a:t>• CLIO's context, assimilation, transfer and exploration engines are not exercised by E1–E3 (see 'Which parts of CLIO did E1–E3 exercise?'); results reflect the agent harness, blueprint and runtime.</a:t>
            </a:r>
          </a:p>
          <a:p>
            <a:pPr>
              <a:spcAft>
                <a:spcPts val="600"/>
              </a:spcAft>
              <a:defRPr sz="1500">
                <a:solidFill>
                  <a:srgbClr val="0B0B0B"/>
                </a:solidFill>
              </a:defRPr>
            </a:pPr>
            <a:r>
              <a:t>• E3 boundary audit (researcher decision 2026-10-13): reads of the CLIO agent's own runtime (its blueprint skills and its own session's saved tool output, 8–10 per trial) are re-labelled OWN_RUNTIME; every other finding still fails. The shared audit's own output (FAIL on those reads only) is kept in each trial. Counted CLIO E3 trials are 03–07 (06 and 07 replace the aborted 01 and the excluded 02).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625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spAutoFit/>
          </a:bodyPr>
          <a:lstStyle/>
          <a:p>
            <a:pPr>
              <a:defRPr sz="2600" b="1">
                <a:solidFill>
                  <a:srgbClr val="0B0B0B"/>
                </a:solidFill>
              </a:defRPr>
            </a:pPr>
            <a:r>
              <a:t>Per-run table: Claude Code baseline</a:t>
            </a:r>
          </a:p>
          <a:p>
            <a:pPr>
              <a:defRPr sz="1300">
                <a:solidFill>
                  <a:srgbClr val="52514E"/>
                </a:solidFill>
              </a:defRPr>
            </a:pPr>
            <a:r>
              <a:t>Minutes summed over sessions; Canc. = cancelled Morphorm jobs; Nudges = extra user messages (none allowed in counted trials)</a:t>
            </a:r>
          </a:p>
        </p:txBody>
      </p:sp>
      <p:sp>
        <p:nvSpPr>
          <p:cNvPr id="4" name="TextBox 3"/>
          <p:cNvSpPr txBox="1"/>
          <p:nvPr/>
        </p:nvSpPr>
        <p:spPr>
          <a:xfrm>
            <a:off x="457200" y="6446520"/>
            <a:ext cx="11247120" cy="274320"/>
          </a:xfrm>
          <a:prstGeom prst="rect">
            <a:avLst/>
          </a:prstGeom>
          <a:noFill/>
        </p:spPr>
        <p:txBody>
          <a:bodyPr wrap="none">
            <a:spAutoFit/>
          </a:bodyPr>
          <a:lstStyle/>
          <a:p>
            <a:pPr>
              <a:defRPr sz="900">
                <a:solidFill>
                  <a:srgbClr val="52514E"/>
                </a:solidFill>
              </a:defRPr>
            </a:pPr>
            <a:r>
              <a:t>COUNTED THESIS TRIALS · CLIO (factorio-flat 0.5.0) vs Claude Code baseline · n = 5 per system per experiment</a:t>
            </a:r>
          </a:p>
        </p:txBody>
      </p:sp>
      <p:graphicFrame>
        <p:nvGraphicFramePr>
          <p:cNvPr id="5" name="Table 4"/>
          <p:cNvGraphicFramePr>
            <a:graphicFrameLocks noGrp="1"/>
          </p:cNvGraphicFramePr>
          <p:nvPr/>
        </p:nvGraphicFramePr>
        <p:xfrm>
          <a:off x="457200" y="1280160"/>
          <a:ext cx="11247120" cy="4389120"/>
        </p:xfrm>
        <a:graphic>
          <a:graphicData uri="http://schemas.openxmlformats.org/drawingml/2006/table">
            <a:tbl>
              <a:tblPr firstRow="1" bandRow="1">
                <a:tableStyleId>{5C22544A-7EE6-4342-B048-85BDC9FD1C3A}</a:tableStyleId>
              </a:tblPr>
              <a:tblGrid>
                <a:gridCol w="457200"/>
                <a:gridCol w="640080"/>
                <a:gridCol w="1005840"/>
                <a:gridCol w="822960"/>
                <a:gridCol w="731520"/>
                <a:gridCol w="731520"/>
                <a:gridCol w="914400"/>
                <a:gridCol w="731520"/>
                <a:gridCol w="640080"/>
                <a:gridCol w="731520"/>
                <a:gridCol w="548640"/>
                <a:gridCol w="640080"/>
                <a:gridCol w="2651760"/>
              </a:tblGrid>
              <a:tr h="274320">
                <a:tc>
                  <a:txBody>
                    <a:bodyPr/>
                    <a:lstStyle/>
                    <a:p>
                      <a:pPr>
                        <a:defRPr sz="950" b="1"/>
                      </a:pPr>
                      <a:r>
                        <a:t>Exp</a:t>
                      </a:r>
                    </a:p>
                  </a:txBody>
                  <a:tcPr/>
                </a:tc>
                <a:tc>
                  <a:txBody>
                    <a:bodyPr/>
                    <a:lstStyle/>
                    <a:p>
                      <a:pPr>
                        <a:defRPr sz="950" b="1"/>
                      </a:pPr>
                      <a:r>
                        <a:t>Run</a:t>
                      </a:r>
                    </a:p>
                  </a:txBody>
                  <a:tcPr/>
                </a:tc>
                <a:tc>
                  <a:txBody>
                    <a:bodyPr/>
                    <a:lstStyle/>
                    <a:p>
                      <a:pPr>
                        <a:defRPr sz="950" b="1"/>
                      </a:pPr>
                      <a:r>
                        <a:t>Outcome</a:t>
                      </a:r>
                    </a:p>
                  </a:txBody>
                  <a:tcPr/>
                </a:tc>
                <a:tc>
                  <a:txBody>
                    <a:bodyPr/>
                    <a:lstStyle/>
                    <a:p>
                      <a:pPr>
                        <a:defRPr sz="950" b="1"/>
                      </a:pPr>
                      <a:r>
                        <a:t>Cost</a:t>
                      </a:r>
                    </a:p>
                  </a:txBody>
                  <a:tcPr/>
                </a:tc>
                <a:tc>
                  <a:txBody>
                    <a:bodyPr/>
                    <a:lstStyle/>
                    <a:p>
                      <a:pPr>
                        <a:defRPr sz="950" b="1"/>
                      </a:pPr>
                      <a:r>
                        <a:t>Wall</a:t>
                      </a:r>
                    </a:p>
                  </a:txBody>
                  <a:tcPr/>
                </a:tc>
                <a:tc>
                  <a:txBody>
                    <a:bodyPr/>
                    <a:lstStyle/>
                    <a:p>
                      <a:pPr>
                        <a:defRPr sz="950" b="1"/>
                      </a:pPr>
                      <a:r>
                        <a:t>Model</a:t>
                      </a:r>
                    </a:p>
                  </a:txBody>
                  <a:tcPr/>
                </a:tc>
                <a:tc>
                  <a:txBody>
                    <a:bodyPr/>
                    <a:lstStyle/>
                    <a:p>
                      <a:pPr>
                        <a:defRPr sz="950" b="1"/>
                      </a:pPr>
                      <a:r>
                        <a:t>Out. Slurm</a:t>
                      </a:r>
                    </a:p>
                  </a:txBody>
                  <a:tcPr/>
                </a:tc>
                <a:tc>
                  <a:txBody>
                    <a:bodyPr/>
                    <a:lstStyle/>
                    <a:p>
                      <a:pPr>
                        <a:defRPr sz="950" b="1"/>
                      </a:pPr>
                      <a:r>
                        <a:t>Slurm</a:t>
                      </a:r>
                    </a:p>
                  </a:txBody>
                  <a:tcPr/>
                </a:tc>
                <a:tc>
                  <a:txBody>
                    <a:bodyPr/>
                    <a:lstStyle/>
                    <a:p>
                      <a:pPr>
                        <a:defRPr sz="950" b="1"/>
                      </a:pPr>
                      <a:r>
                        <a:t>Calls</a:t>
                      </a:r>
                    </a:p>
                  </a:txBody>
                  <a:tcPr/>
                </a:tc>
                <a:tc>
                  <a:txBody>
                    <a:bodyPr/>
                    <a:lstStyle/>
                    <a:p>
                      <a:pPr>
                        <a:defRPr sz="950" b="1"/>
                      </a:pPr>
                      <a:r>
                        <a:t>Output</a:t>
                      </a:r>
                    </a:p>
                  </a:txBody>
                  <a:tcPr/>
                </a:tc>
                <a:tc>
                  <a:txBody>
                    <a:bodyPr/>
                    <a:lstStyle/>
                    <a:p>
                      <a:pPr>
                        <a:defRPr sz="950" b="1"/>
                      </a:pPr>
                      <a:r>
                        <a:t>Canc.</a:t>
                      </a:r>
                    </a:p>
                  </a:txBody>
                  <a:tcPr/>
                </a:tc>
                <a:tc>
                  <a:txBody>
                    <a:bodyPr/>
                    <a:lstStyle/>
                    <a:p>
                      <a:pPr>
                        <a:defRPr sz="950" b="1"/>
                      </a:pPr>
                      <a:r>
                        <a:t>Nudges</a:t>
                      </a:r>
                    </a:p>
                  </a:txBody>
                  <a:tcPr/>
                </a:tc>
                <a:tc>
                  <a:txBody>
                    <a:bodyPr/>
                    <a:lstStyle/>
                    <a:p>
                      <a:pPr>
                        <a:defRPr sz="950" b="1"/>
                      </a:pPr>
                      <a:r>
                        <a:t>Morphorm node(s)</a:t>
                      </a:r>
                    </a:p>
                  </a:txBody>
                  <a:tcPr/>
                </a:tc>
              </a:tr>
              <a:tr h="274320">
                <a:tc>
                  <a:txBody>
                    <a:bodyPr/>
                    <a:lstStyle/>
                    <a:p>
                      <a:pPr>
                        <a:defRPr sz="950"/>
                      </a:pPr>
                      <a:r>
                        <a:t>E1</a:t>
                      </a:r>
                    </a:p>
                  </a:txBody>
                  <a:tcPr/>
                </a:tc>
                <a:tc>
                  <a:txBody>
                    <a:bodyPr/>
                    <a:lstStyle/>
                    <a:p>
                      <a:pPr>
                        <a:defRPr sz="950"/>
                      </a:pPr>
                      <a:r>
                        <a:t>01</a:t>
                      </a:r>
                    </a:p>
                  </a:txBody>
                  <a:tcPr/>
                </a:tc>
                <a:tc>
                  <a:txBody>
                    <a:bodyPr/>
                    <a:lstStyle/>
                    <a:p>
                      <a:pPr>
                        <a:defRPr sz="950"/>
                      </a:pPr>
                      <a:r>
                        <a:t>accepted</a:t>
                      </a:r>
                    </a:p>
                  </a:txBody>
                  <a:tcPr/>
                </a:tc>
                <a:tc>
                  <a:txBody>
                    <a:bodyPr/>
                    <a:lstStyle/>
                    <a:p>
                      <a:pPr>
                        <a:defRPr sz="950"/>
                      </a:pPr>
                      <a:r>
                        <a:t>$7.58</a:t>
                      </a:r>
                    </a:p>
                  </a:txBody>
                  <a:tcPr/>
                </a:tc>
                <a:tc>
                  <a:txBody>
                    <a:bodyPr/>
                    <a:lstStyle/>
                    <a:p>
                      <a:pPr>
                        <a:defRPr sz="950"/>
                      </a:pPr>
                      <a:r>
                        <a:t>22.8</a:t>
                      </a:r>
                    </a:p>
                  </a:txBody>
                  <a:tcPr/>
                </a:tc>
                <a:tc>
                  <a:txBody>
                    <a:bodyPr/>
                    <a:lstStyle/>
                    <a:p>
                      <a:pPr>
                        <a:defRPr sz="950"/>
                      </a:pPr>
                      <a:r>
                        <a:t>12.1</a:t>
                      </a:r>
                    </a:p>
                  </a:txBody>
                  <a:tcPr/>
                </a:tc>
                <a:tc>
                  <a:txBody>
                    <a:bodyPr/>
                    <a:lstStyle/>
                    <a:p>
                      <a:pPr>
                        <a:defRPr sz="950"/>
                      </a:pPr>
                      <a:r>
                        <a:t>12.8</a:t>
                      </a:r>
                    </a:p>
                  </a:txBody>
                  <a:tcPr/>
                </a:tc>
                <a:tc>
                  <a:txBody>
                    <a:bodyPr/>
                    <a:lstStyle/>
                    <a:p>
                      <a:pPr>
                        <a:defRPr sz="950"/>
                      </a:pPr>
                      <a:r>
                        <a:t>10.0</a:t>
                      </a:r>
                    </a:p>
                  </a:txBody>
                  <a:tcPr/>
                </a:tc>
                <a:tc>
                  <a:txBody>
                    <a:bodyPr/>
                    <a:lstStyle/>
                    <a:p>
                      <a:pPr>
                        <a:defRPr sz="950"/>
                      </a:pPr>
                      <a:r>
                        <a:t>48</a:t>
                      </a:r>
                    </a:p>
                  </a:txBody>
                  <a:tcPr/>
                </a:tc>
                <a:tc>
                  <a:txBody>
                    <a:bodyPr/>
                    <a:lstStyle/>
                    <a:p>
                      <a:pPr>
                        <a:defRPr sz="950"/>
                      </a:pPr>
                      <a:r>
                        <a:t>49k</a:t>
                      </a:r>
                    </a:p>
                  </a:txBody>
                  <a:tcPr/>
                </a:tc>
                <a:tc>
                  <a:txBody>
                    <a:bodyPr/>
                    <a:lstStyle/>
                    <a:p>
                      <a:pPr>
                        <a:defRPr sz="950"/>
                      </a:pPr>
                      <a:r>
                        <a:t>0</a:t>
                      </a:r>
                    </a:p>
                  </a:txBody>
                  <a:tcPr/>
                </a:tc>
                <a:tc>
                  <a:txBody>
                    <a:bodyPr/>
                    <a:lstStyle/>
                    <a:p>
                      <a:pPr>
                        <a:defRPr sz="950"/>
                      </a:pPr>
                      <a:r>
                        <a:t>0</a:t>
                      </a:r>
                    </a:p>
                  </a:txBody>
                  <a:tcPr/>
                </a:tc>
                <a:tc>
                  <a:txBody>
                    <a:bodyPr/>
                    <a:lstStyle/>
                    <a:p>
                      <a:pPr>
                        <a:defRPr sz="950"/>
                      </a:pPr>
                      <a:r>
                        <a:t>notch351</a:t>
                      </a:r>
                    </a:p>
                  </a:txBody>
                  <a:tcPr/>
                </a:tc>
              </a:tr>
              <a:tr h="274320">
                <a:tc>
                  <a:txBody>
                    <a:bodyPr/>
                    <a:lstStyle/>
                    <a:p>
                      <a:pPr>
                        <a:defRPr sz="950"/>
                      </a:pPr>
                      <a:r>
                        <a:t>E1</a:t>
                      </a:r>
                    </a:p>
                  </a:txBody>
                  <a:tcPr/>
                </a:tc>
                <a:tc>
                  <a:txBody>
                    <a:bodyPr/>
                    <a:lstStyle/>
                    <a:p>
                      <a:pPr>
                        <a:defRPr sz="950"/>
                      </a:pPr>
                      <a:r>
                        <a:t>02</a:t>
                      </a:r>
                    </a:p>
                  </a:txBody>
                  <a:tcPr/>
                </a:tc>
                <a:tc>
                  <a:txBody>
                    <a:bodyPr/>
                    <a:lstStyle/>
                    <a:p>
                      <a:pPr>
                        <a:defRPr sz="950"/>
                      </a:pPr>
                      <a:r>
                        <a:t>accepted</a:t>
                      </a:r>
                    </a:p>
                  </a:txBody>
                  <a:tcPr/>
                </a:tc>
                <a:tc>
                  <a:txBody>
                    <a:bodyPr/>
                    <a:lstStyle/>
                    <a:p>
                      <a:pPr>
                        <a:defRPr sz="950"/>
                      </a:pPr>
                      <a:r>
                        <a:t>$8.78</a:t>
                      </a:r>
                    </a:p>
                  </a:txBody>
                  <a:tcPr/>
                </a:tc>
                <a:tc>
                  <a:txBody>
                    <a:bodyPr/>
                    <a:lstStyle/>
                    <a:p>
                      <a:pPr>
                        <a:defRPr sz="950"/>
                      </a:pPr>
                      <a:r>
                        <a:t>23.6</a:t>
                      </a:r>
                    </a:p>
                  </a:txBody>
                  <a:tcPr/>
                </a:tc>
                <a:tc>
                  <a:txBody>
                    <a:bodyPr/>
                    <a:lstStyle/>
                    <a:p>
                      <a:pPr>
                        <a:defRPr sz="950"/>
                      </a:pPr>
                      <a:r>
                        <a:t>12.8</a:t>
                      </a:r>
                    </a:p>
                  </a:txBody>
                  <a:tcPr/>
                </a:tc>
                <a:tc>
                  <a:txBody>
                    <a:bodyPr/>
                    <a:lstStyle/>
                    <a:p>
                      <a:pPr>
                        <a:defRPr sz="950"/>
                      </a:pPr>
                      <a:r>
                        <a:t>13.6</a:t>
                      </a:r>
                    </a:p>
                  </a:txBody>
                  <a:tcPr/>
                </a:tc>
                <a:tc>
                  <a:txBody>
                    <a:bodyPr/>
                    <a:lstStyle/>
                    <a:p>
                      <a:pPr>
                        <a:defRPr sz="950"/>
                      </a:pPr>
                      <a:r>
                        <a:t>9.9</a:t>
                      </a:r>
                    </a:p>
                  </a:txBody>
                  <a:tcPr/>
                </a:tc>
                <a:tc>
                  <a:txBody>
                    <a:bodyPr/>
                    <a:lstStyle/>
                    <a:p>
                      <a:pPr>
                        <a:defRPr sz="950"/>
                      </a:pPr>
                      <a:r>
                        <a:t>36</a:t>
                      </a:r>
                    </a:p>
                  </a:txBody>
                  <a:tcPr/>
                </a:tc>
                <a:tc>
                  <a:txBody>
                    <a:bodyPr/>
                    <a:lstStyle/>
                    <a:p>
                      <a:pPr>
                        <a:defRPr sz="950"/>
                      </a:pPr>
                      <a:r>
                        <a:t>64k</a:t>
                      </a:r>
                    </a:p>
                  </a:txBody>
                  <a:tcPr/>
                </a:tc>
                <a:tc>
                  <a:txBody>
                    <a:bodyPr/>
                    <a:lstStyle/>
                    <a:p>
                      <a:pPr>
                        <a:defRPr sz="950"/>
                      </a:pPr>
                      <a:r>
                        <a:t>0</a:t>
                      </a:r>
                    </a:p>
                  </a:txBody>
                  <a:tcPr/>
                </a:tc>
                <a:tc>
                  <a:txBody>
                    <a:bodyPr/>
                    <a:lstStyle/>
                    <a:p>
                      <a:pPr>
                        <a:defRPr sz="950"/>
                      </a:pPr>
                      <a:r>
                        <a:t>0</a:t>
                      </a:r>
                    </a:p>
                  </a:txBody>
                  <a:tcPr/>
                </a:tc>
                <a:tc>
                  <a:txBody>
                    <a:bodyPr/>
                    <a:lstStyle/>
                    <a:p>
                      <a:pPr>
                        <a:defRPr sz="950"/>
                      </a:pPr>
                      <a:r>
                        <a:t>notch351</a:t>
                      </a:r>
                    </a:p>
                  </a:txBody>
                  <a:tcPr/>
                </a:tc>
              </a:tr>
              <a:tr h="274320">
                <a:tc>
                  <a:txBody>
                    <a:bodyPr/>
                    <a:lstStyle/>
                    <a:p>
                      <a:pPr>
                        <a:defRPr sz="950"/>
                      </a:pPr>
                      <a:r>
                        <a:t>E1</a:t>
                      </a:r>
                    </a:p>
                  </a:txBody>
                  <a:tcPr/>
                </a:tc>
                <a:tc>
                  <a:txBody>
                    <a:bodyPr/>
                    <a:lstStyle/>
                    <a:p>
                      <a:pPr>
                        <a:defRPr sz="950"/>
                      </a:pPr>
                      <a:r>
                        <a:t>03</a:t>
                      </a:r>
                    </a:p>
                  </a:txBody>
                  <a:tcPr/>
                </a:tc>
                <a:tc>
                  <a:txBody>
                    <a:bodyPr/>
                    <a:lstStyle/>
                    <a:p>
                      <a:pPr>
                        <a:defRPr sz="950"/>
                      </a:pPr>
                      <a:r>
                        <a:t>accepted</a:t>
                      </a:r>
                    </a:p>
                  </a:txBody>
                  <a:tcPr/>
                </a:tc>
                <a:tc>
                  <a:txBody>
                    <a:bodyPr/>
                    <a:lstStyle/>
                    <a:p>
                      <a:pPr>
                        <a:defRPr sz="950"/>
                      </a:pPr>
                      <a:r>
                        <a:t>$7.86</a:t>
                      </a:r>
                    </a:p>
                  </a:txBody>
                  <a:tcPr/>
                </a:tc>
                <a:tc>
                  <a:txBody>
                    <a:bodyPr/>
                    <a:lstStyle/>
                    <a:p>
                      <a:pPr>
                        <a:defRPr sz="950"/>
                      </a:pPr>
                      <a:r>
                        <a:t>22.4</a:t>
                      </a:r>
                    </a:p>
                  </a:txBody>
                  <a:tcPr/>
                </a:tc>
                <a:tc>
                  <a:txBody>
                    <a:bodyPr/>
                    <a:lstStyle/>
                    <a:p>
                      <a:pPr>
                        <a:defRPr sz="950"/>
                      </a:pPr>
                      <a:r>
                        <a:t>13.8</a:t>
                      </a:r>
                    </a:p>
                  </a:txBody>
                  <a:tcPr/>
                </a:tc>
                <a:tc>
                  <a:txBody>
                    <a:bodyPr/>
                    <a:lstStyle/>
                    <a:p>
                      <a:pPr>
                        <a:defRPr sz="950"/>
                      </a:pPr>
                      <a:r>
                        <a:t>14.7</a:t>
                      </a:r>
                    </a:p>
                  </a:txBody>
                  <a:tcPr/>
                </a:tc>
                <a:tc>
                  <a:txBody>
                    <a:bodyPr/>
                    <a:lstStyle/>
                    <a:p>
                      <a:pPr>
                        <a:defRPr sz="950"/>
                      </a:pPr>
                      <a:r>
                        <a:t>7.8</a:t>
                      </a:r>
                    </a:p>
                  </a:txBody>
                  <a:tcPr/>
                </a:tc>
                <a:tc>
                  <a:txBody>
                    <a:bodyPr/>
                    <a:lstStyle/>
                    <a:p>
                      <a:pPr>
                        <a:defRPr sz="950"/>
                      </a:pPr>
                      <a:r>
                        <a:t>28</a:t>
                      </a:r>
                    </a:p>
                  </a:txBody>
                  <a:tcPr/>
                </a:tc>
                <a:tc>
                  <a:txBody>
                    <a:bodyPr/>
                    <a:lstStyle/>
                    <a:p>
                      <a:pPr>
                        <a:defRPr sz="950"/>
                      </a:pPr>
                      <a:r>
                        <a:t>58k</a:t>
                      </a:r>
                    </a:p>
                  </a:txBody>
                  <a:tcPr/>
                </a:tc>
                <a:tc>
                  <a:txBody>
                    <a:bodyPr/>
                    <a:lstStyle/>
                    <a:p>
                      <a:pPr>
                        <a:defRPr sz="950"/>
                      </a:pPr>
                      <a:r>
                        <a:t>0</a:t>
                      </a:r>
                    </a:p>
                  </a:txBody>
                  <a:tcPr/>
                </a:tc>
                <a:tc>
                  <a:txBody>
                    <a:bodyPr/>
                    <a:lstStyle/>
                    <a:p>
                      <a:pPr>
                        <a:defRPr sz="950"/>
                      </a:pPr>
                      <a:r>
                        <a:t>0</a:t>
                      </a:r>
                    </a:p>
                  </a:txBody>
                  <a:tcPr/>
                </a:tc>
                <a:tc>
                  <a:txBody>
                    <a:bodyPr/>
                    <a:lstStyle/>
                    <a:p>
                      <a:pPr>
                        <a:defRPr sz="950"/>
                      </a:pPr>
                      <a:r>
                        <a:t>notch351</a:t>
                      </a:r>
                    </a:p>
                  </a:txBody>
                  <a:tcPr/>
                </a:tc>
              </a:tr>
              <a:tr h="274320">
                <a:tc>
                  <a:txBody>
                    <a:bodyPr/>
                    <a:lstStyle/>
                    <a:p>
                      <a:pPr>
                        <a:defRPr sz="950"/>
                      </a:pPr>
                      <a:r>
                        <a:t>E1</a:t>
                      </a:r>
                    </a:p>
                  </a:txBody>
                  <a:tcPr/>
                </a:tc>
                <a:tc>
                  <a:txBody>
                    <a:bodyPr/>
                    <a:lstStyle/>
                    <a:p>
                      <a:pPr>
                        <a:defRPr sz="950"/>
                      </a:pPr>
                      <a:r>
                        <a:t>04R2</a:t>
                      </a:r>
                    </a:p>
                  </a:txBody>
                  <a:tcPr/>
                </a:tc>
                <a:tc>
                  <a:txBody>
                    <a:bodyPr/>
                    <a:lstStyle/>
                    <a:p>
                      <a:pPr>
                        <a:defRPr sz="950"/>
                      </a:pPr>
                      <a:r>
                        <a:t>accepted</a:t>
                      </a:r>
                    </a:p>
                  </a:txBody>
                  <a:tcPr/>
                </a:tc>
                <a:tc>
                  <a:txBody>
                    <a:bodyPr/>
                    <a:lstStyle/>
                    <a:p>
                      <a:pPr>
                        <a:defRPr sz="950"/>
                      </a:pPr>
                      <a:r>
                        <a:t>$7.74</a:t>
                      </a:r>
                    </a:p>
                  </a:txBody>
                  <a:tcPr/>
                </a:tc>
                <a:tc>
                  <a:txBody>
                    <a:bodyPr/>
                    <a:lstStyle/>
                    <a:p>
                      <a:pPr>
                        <a:defRPr sz="950"/>
                      </a:pPr>
                      <a:r>
                        <a:t>20.5</a:t>
                      </a:r>
                    </a:p>
                  </a:txBody>
                  <a:tcPr/>
                </a:tc>
                <a:tc>
                  <a:txBody>
                    <a:bodyPr/>
                    <a:lstStyle/>
                    <a:p>
                      <a:pPr>
                        <a:defRPr sz="950"/>
                      </a:pPr>
                      <a:r>
                        <a:t>10.3</a:t>
                      </a:r>
                    </a:p>
                  </a:txBody>
                  <a:tcPr/>
                </a:tc>
                <a:tc>
                  <a:txBody>
                    <a:bodyPr/>
                    <a:lstStyle/>
                    <a:p>
                      <a:pPr>
                        <a:defRPr sz="950"/>
                      </a:pPr>
                      <a:r>
                        <a:t>11.2</a:t>
                      </a:r>
                    </a:p>
                  </a:txBody>
                  <a:tcPr/>
                </a:tc>
                <a:tc>
                  <a:txBody>
                    <a:bodyPr/>
                    <a:lstStyle/>
                    <a:p>
                      <a:pPr>
                        <a:defRPr sz="950"/>
                      </a:pPr>
                      <a:r>
                        <a:t>9.4</a:t>
                      </a:r>
                    </a:p>
                  </a:txBody>
                  <a:tcPr/>
                </a:tc>
                <a:tc>
                  <a:txBody>
                    <a:bodyPr/>
                    <a:lstStyle/>
                    <a:p>
                      <a:pPr>
                        <a:defRPr sz="950"/>
                      </a:pPr>
                      <a:r>
                        <a:t>29</a:t>
                      </a:r>
                    </a:p>
                  </a:txBody>
                  <a:tcPr/>
                </a:tc>
                <a:tc>
                  <a:txBody>
                    <a:bodyPr/>
                    <a:lstStyle/>
                    <a:p>
                      <a:pPr>
                        <a:defRPr sz="950"/>
                      </a:pPr>
                      <a:r>
                        <a:t>57k</a:t>
                      </a:r>
                    </a:p>
                  </a:txBody>
                  <a:tcPr/>
                </a:tc>
                <a:tc>
                  <a:txBody>
                    <a:bodyPr/>
                    <a:lstStyle/>
                    <a:p>
                      <a:pPr>
                        <a:defRPr sz="950"/>
                      </a:pPr>
                      <a:r>
                        <a:t>0</a:t>
                      </a:r>
                    </a:p>
                  </a:txBody>
                  <a:tcPr/>
                </a:tc>
                <a:tc>
                  <a:txBody>
                    <a:bodyPr/>
                    <a:lstStyle/>
                    <a:p>
                      <a:pPr>
                        <a:defRPr sz="950"/>
                      </a:pPr>
                      <a:r>
                        <a:t>0</a:t>
                      </a:r>
                    </a:p>
                  </a:txBody>
                  <a:tcPr/>
                </a:tc>
                <a:tc>
                  <a:txBody>
                    <a:bodyPr/>
                    <a:lstStyle/>
                    <a:p>
                      <a:pPr>
                        <a:defRPr sz="950"/>
                      </a:pPr>
                      <a:r>
                        <a:t>notch351</a:t>
                      </a:r>
                    </a:p>
                  </a:txBody>
                  <a:tcPr/>
                </a:tc>
              </a:tr>
              <a:tr h="274320">
                <a:tc>
                  <a:txBody>
                    <a:bodyPr/>
                    <a:lstStyle/>
                    <a:p>
                      <a:pPr>
                        <a:defRPr sz="950"/>
                      </a:pPr>
                      <a:r>
                        <a:t>E1</a:t>
                      </a:r>
                    </a:p>
                  </a:txBody>
                  <a:tcPr/>
                </a:tc>
                <a:tc>
                  <a:txBody>
                    <a:bodyPr/>
                    <a:lstStyle/>
                    <a:p>
                      <a:pPr>
                        <a:defRPr sz="950"/>
                      </a:pPr>
                      <a:r>
                        <a:t>05</a:t>
                      </a:r>
                    </a:p>
                  </a:txBody>
                  <a:tcPr/>
                </a:tc>
                <a:tc>
                  <a:txBody>
                    <a:bodyPr/>
                    <a:lstStyle/>
                    <a:p>
                      <a:pPr>
                        <a:defRPr sz="950"/>
                      </a:pPr>
                      <a:r>
                        <a:t>accepted</a:t>
                      </a:r>
                    </a:p>
                  </a:txBody>
                  <a:tcPr/>
                </a:tc>
                <a:tc>
                  <a:txBody>
                    <a:bodyPr/>
                    <a:lstStyle/>
                    <a:p>
                      <a:pPr>
                        <a:defRPr sz="950"/>
                      </a:pPr>
                      <a:r>
                        <a:t>$7.96</a:t>
                      </a:r>
                    </a:p>
                  </a:txBody>
                  <a:tcPr/>
                </a:tc>
                <a:tc>
                  <a:txBody>
                    <a:bodyPr/>
                    <a:lstStyle/>
                    <a:p>
                      <a:pPr>
                        <a:defRPr sz="950"/>
                      </a:pPr>
                      <a:r>
                        <a:t>20.6</a:t>
                      </a:r>
                    </a:p>
                  </a:txBody>
                  <a:tcPr/>
                </a:tc>
                <a:tc>
                  <a:txBody>
                    <a:bodyPr/>
                    <a:lstStyle/>
                    <a:p>
                      <a:pPr>
                        <a:defRPr sz="950"/>
                      </a:pPr>
                      <a:r>
                        <a:t>9.2</a:t>
                      </a:r>
                    </a:p>
                  </a:txBody>
                  <a:tcPr/>
                </a:tc>
                <a:tc>
                  <a:txBody>
                    <a:bodyPr/>
                    <a:lstStyle/>
                    <a:p>
                      <a:pPr>
                        <a:defRPr sz="950"/>
                      </a:pPr>
                      <a:r>
                        <a:t>10.4</a:t>
                      </a:r>
                    </a:p>
                  </a:txBody>
                  <a:tcPr/>
                </a:tc>
                <a:tc>
                  <a:txBody>
                    <a:bodyPr/>
                    <a:lstStyle/>
                    <a:p>
                      <a:pPr>
                        <a:defRPr sz="950"/>
                      </a:pPr>
                      <a:r>
                        <a:t>10.3</a:t>
                      </a:r>
                    </a:p>
                  </a:txBody>
                  <a:tcPr/>
                </a:tc>
                <a:tc>
                  <a:txBody>
                    <a:bodyPr/>
                    <a:lstStyle/>
                    <a:p>
                      <a:pPr>
                        <a:defRPr sz="950"/>
                      </a:pPr>
                      <a:r>
                        <a:t>30</a:t>
                      </a:r>
                    </a:p>
                  </a:txBody>
                  <a:tcPr/>
                </a:tc>
                <a:tc>
                  <a:txBody>
                    <a:bodyPr/>
                    <a:lstStyle/>
                    <a:p>
                      <a:pPr>
                        <a:defRPr sz="950"/>
                      </a:pPr>
                      <a:r>
                        <a:t>50k</a:t>
                      </a:r>
                    </a:p>
                  </a:txBody>
                  <a:tcPr/>
                </a:tc>
                <a:tc>
                  <a:txBody>
                    <a:bodyPr/>
                    <a:lstStyle/>
                    <a:p>
                      <a:pPr>
                        <a:defRPr sz="950"/>
                      </a:pPr>
                      <a:r>
                        <a:t>0</a:t>
                      </a:r>
                    </a:p>
                  </a:txBody>
                  <a:tcPr/>
                </a:tc>
                <a:tc>
                  <a:txBody>
                    <a:bodyPr/>
                    <a:lstStyle/>
                    <a:p>
                      <a:pPr>
                        <a:defRPr sz="950"/>
                      </a:pPr>
                      <a:r>
                        <a:t>0</a:t>
                      </a:r>
                    </a:p>
                  </a:txBody>
                  <a:tcPr/>
                </a:tc>
                <a:tc>
                  <a:txBody>
                    <a:bodyPr/>
                    <a:lstStyle/>
                    <a:p>
                      <a:pPr>
                        <a:defRPr sz="950"/>
                      </a:pPr>
                      <a:r>
                        <a:t>notch351</a:t>
                      </a:r>
                    </a:p>
                  </a:txBody>
                  <a:tcPr/>
                </a:tc>
              </a:tr>
              <a:tr h="274320">
                <a:tc>
                  <a:txBody>
                    <a:bodyPr/>
                    <a:lstStyle/>
                    <a:p>
                      <a:pPr>
                        <a:defRPr sz="950"/>
                      </a:pPr>
                      <a:r>
                        <a:t>E2</a:t>
                      </a:r>
                    </a:p>
                  </a:txBody>
                  <a:tcPr/>
                </a:tc>
                <a:tc>
                  <a:txBody>
                    <a:bodyPr/>
                    <a:lstStyle/>
                    <a:p>
                      <a:pPr>
                        <a:defRPr sz="950"/>
                      </a:pPr>
                      <a:r>
                        <a:t>01</a:t>
                      </a:r>
                    </a:p>
                  </a:txBody>
                  <a:tcPr/>
                </a:tc>
                <a:tc>
                  <a:txBody>
                    <a:bodyPr/>
                    <a:lstStyle/>
                    <a:p>
                      <a:pPr>
                        <a:defRPr sz="950"/>
                      </a:pPr>
                      <a:r>
                        <a:t>accepted</a:t>
                      </a:r>
                    </a:p>
                  </a:txBody>
                  <a:tcPr/>
                </a:tc>
                <a:tc>
                  <a:txBody>
                    <a:bodyPr/>
                    <a:lstStyle/>
                    <a:p>
                      <a:pPr>
                        <a:defRPr sz="950"/>
                      </a:pPr>
                      <a:r>
                        <a:t>$13.89</a:t>
                      </a:r>
                    </a:p>
                  </a:txBody>
                  <a:tcPr/>
                </a:tc>
                <a:tc>
                  <a:txBody>
                    <a:bodyPr/>
                    <a:lstStyle/>
                    <a:p>
                      <a:pPr>
                        <a:defRPr sz="950"/>
                      </a:pPr>
                      <a:r>
                        <a:t>52.5</a:t>
                      </a:r>
                    </a:p>
                  </a:txBody>
                  <a:tcPr/>
                </a:tc>
                <a:tc>
                  <a:txBody>
                    <a:bodyPr/>
                    <a:lstStyle/>
                    <a:p>
                      <a:pPr>
                        <a:defRPr sz="950"/>
                      </a:pPr>
                      <a:r>
                        <a:t>19.7</a:t>
                      </a:r>
                    </a:p>
                  </a:txBody>
                  <a:tcPr/>
                </a:tc>
                <a:tc>
                  <a:txBody>
                    <a:bodyPr/>
                    <a:lstStyle/>
                    <a:p>
                      <a:pPr>
                        <a:defRPr sz="950"/>
                      </a:pPr>
                      <a:r>
                        <a:t>21.0</a:t>
                      </a:r>
                    </a:p>
                  </a:txBody>
                  <a:tcPr/>
                </a:tc>
                <a:tc>
                  <a:txBody>
                    <a:bodyPr/>
                    <a:lstStyle/>
                    <a:p>
                      <a:pPr>
                        <a:defRPr sz="950"/>
                      </a:pPr>
                      <a:r>
                        <a:t>31.5</a:t>
                      </a:r>
                    </a:p>
                  </a:txBody>
                  <a:tcPr/>
                </a:tc>
                <a:tc>
                  <a:txBody>
                    <a:bodyPr/>
                    <a:lstStyle/>
                    <a:p>
                      <a:pPr>
                        <a:defRPr sz="950"/>
                      </a:pPr>
                      <a:r>
                        <a:t>60</a:t>
                      </a:r>
                    </a:p>
                  </a:txBody>
                  <a:tcPr/>
                </a:tc>
                <a:tc>
                  <a:txBody>
                    <a:bodyPr/>
                    <a:lstStyle/>
                    <a:p>
                      <a:pPr>
                        <a:defRPr sz="950"/>
                      </a:pPr>
                      <a:r>
                        <a:t>106k</a:t>
                      </a:r>
                    </a:p>
                  </a:txBody>
                  <a:tcPr/>
                </a:tc>
                <a:tc>
                  <a:txBody>
                    <a:bodyPr/>
                    <a:lstStyle/>
                    <a:p>
                      <a:pPr>
                        <a:defRPr sz="950"/>
                      </a:pPr>
                      <a:r>
                        <a:t>1</a:t>
                      </a:r>
                    </a:p>
                  </a:txBody>
                  <a:tcPr/>
                </a:tc>
                <a:tc>
                  <a:txBody>
                    <a:bodyPr/>
                    <a:lstStyle/>
                    <a:p>
                      <a:pPr>
                        <a:defRPr sz="950"/>
                      </a:pPr>
                      <a:r>
                        <a:t>0</a:t>
                      </a:r>
                    </a:p>
                  </a:txBody>
                  <a:tcPr/>
                </a:tc>
                <a:tc>
                  <a:txBody>
                    <a:bodyPr/>
                    <a:lstStyle/>
                    <a:p>
                      <a:pPr>
                        <a:defRPr sz="950"/>
                      </a:pPr>
                      <a:r>
                        <a:t>notch351</a:t>
                      </a:r>
                    </a:p>
                  </a:txBody>
                  <a:tcPr/>
                </a:tc>
              </a:tr>
              <a:tr h="274320">
                <a:tc>
                  <a:txBody>
                    <a:bodyPr/>
                    <a:lstStyle/>
                    <a:p>
                      <a:pPr>
                        <a:defRPr sz="950"/>
                      </a:pPr>
                      <a:r>
                        <a:t>E2</a:t>
                      </a:r>
                    </a:p>
                  </a:txBody>
                  <a:tcPr/>
                </a:tc>
                <a:tc>
                  <a:txBody>
                    <a:bodyPr/>
                    <a:lstStyle/>
                    <a:p>
                      <a:pPr>
                        <a:defRPr sz="950"/>
                      </a:pPr>
                      <a:r>
                        <a:t>02R</a:t>
                      </a:r>
                    </a:p>
                  </a:txBody>
                  <a:tcPr/>
                </a:tc>
                <a:tc>
                  <a:txBody>
                    <a:bodyPr/>
                    <a:lstStyle/>
                    <a:p>
                      <a:pPr>
                        <a:defRPr sz="950"/>
                      </a:pPr>
                      <a:r>
                        <a:t>accepted</a:t>
                      </a:r>
                    </a:p>
                  </a:txBody>
                  <a:tcPr/>
                </a:tc>
                <a:tc>
                  <a:txBody>
                    <a:bodyPr/>
                    <a:lstStyle/>
                    <a:p>
                      <a:pPr>
                        <a:defRPr sz="950"/>
                      </a:pPr>
                      <a:r>
                        <a:t>$14.02</a:t>
                      </a:r>
                    </a:p>
                  </a:txBody>
                  <a:tcPr/>
                </a:tc>
                <a:tc>
                  <a:txBody>
                    <a:bodyPr/>
                    <a:lstStyle/>
                    <a:p>
                      <a:pPr>
                        <a:defRPr sz="950"/>
                      </a:pPr>
                      <a:r>
                        <a:t>63.1</a:t>
                      </a:r>
                    </a:p>
                  </a:txBody>
                  <a:tcPr/>
                </a:tc>
                <a:tc>
                  <a:txBody>
                    <a:bodyPr/>
                    <a:lstStyle/>
                    <a:p>
                      <a:pPr>
                        <a:defRPr sz="950"/>
                      </a:pPr>
                      <a:r>
                        <a:t>21.2</a:t>
                      </a:r>
                    </a:p>
                  </a:txBody>
                  <a:tcPr/>
                </a:tc>
                <a:tc>
                  <a:txBody>
                    <a:bodyPr/>
                    <a:lstStyle/>
                    <a:p>
                      <a:pPr>
                        <a:defRPr sz="950"/>
                      </a:pPr>
                      <a:r>
                        <a:t>22.9</a:t>
                      </a:r>
                    </a:p>
                  </a:txBody>
                  <a:tcPr/>
                </a:tc>
                <a:tc>
                  <a:txBody>
                    <a:bodyPr/>
                    <a:lstStyle/>
                    <a:p>
                      <a:pPr>
                        <a:defRPr sz="950"/>
                      </a:pPr>
                      <a:r>
                        <a:t>40.2</a:t>
                      </a:r>
                    </a:p>
                  </a:txBody>
                  <a:tcPr/>
                </a:tc>
                <a:tc>
                  <a:txBody>
                    <a:bodyPr/>
                    <a:lstStyle/>
                    <a:p>
                      <a:pPr>
                        <a:defRPr sz="950"/>
                      </a:pPr>
                      <a:r>
                        <a:t>66</a:t>
                      </a:r>
                    </a:p>
                  </a:txBody>
                  <a:tcPr/>
                </a:tc>
                <a:tc>
                  <a:txBody>
                    <a:bodyPr/>
                    <a:lstStyle/>
                    <a:p>
                      <a:pPr>
                        <a:defRPr sz="950"/>
                      </a:pPr>
                      <a:r>
                        <a:t>113k</a:t>
                      </a:r>
                    </a:p>
                  </a:txBody>
                  <a:tcPr/>
                </a:tc>
                <a:tc>
                  <a:txBody>
                    <a:bodyPr/>
                    <a:lstStyle/>
                    <a:p>
                      <a:pPr>
                        <a:defRPr sz="950"/>
                      </a:pPr>
                      <a:r>
                        <a:t>0</a:t>
                      </a:r>
                    </a:p>
                  </a:txBody>
                  <a:tcPr/>
                </a:tc>
                <a:tc>
                  <a:txBody>
                    <a:bodyPr/>
                    <a:lstStyle/>
                    <a:p>
                      <a:pPr>
                        <a:defRPr sz="950"/>
                      </a:pPr>
                      <a:r>
                        <a:t>0</a:t>
                      </a:r>
                    </a:p>
                  </a:txBody>
                  <a:tcPr/>
                </a:tc>
                <a:tc>
                  <a:txBody>
                    <a:bodyPr/>
                    <a:lstStyle/>
                    <a:p>
                      <a:pPr>
                        <a:defRPr sz="950"/>
                      </a:pPr>
                      <a:r>
                        <a:t>notch272+notch351</a:t>
                      </a:r>
                    </a:p>
                  </a:txBody>
                  <a:tcPr/>
                </a:tc>
              </a:tr>
              <a:tr h="274320">
                <a:tc>
                  <a:txBody>
                    <a:bodyPr/>
                    <a:lstStyle/>
                    <a:p>
                      <a:pPr>
                        <a:defRPr sz="950"/>
                      </a:pPr>
                      <a:r>
                        <a:t>E2</a:t>
                      </a:r>
                    </a:p>
                  </a:txBody>
                  <a:tcPr/>
                </a:tc>
                <a:tc>
                  <a:txBody>
                    <a:bodyPr/>
                    <a:lstStyle/>
                    <a:p>
                      <a:pPr>
                        <a:defRPr sz="950"/>
                      </a:pPr>
                      <a:r>
                        <a:t>03</a:t>
                      </a:r>
                    </a:p>
                  </a:txBody>
                  <a:tcPr/>
                </a:tc>
                <a:tc>
                  <a:txBody>
                    <a:bodyPr/>
                    <a:lstStyle/>
                    <a:p>
                      <a:pPr>
                        <a:defRPr sz="950"/>
                      </a:pPr>
                      <a:r>
                        <a:t>accepted</a:t>
                      </a:r>
                    </a:p>
                  </a:txBody>
                  <a:tcPr/>
                </a:tc>
                <a:tc>
                  <a:txBody>
                    <a:bodyPr/>
                    <a:lstStyle/>
                    <a:p>
                      <a:pPr>
                        <a:defRPr sz="950"/>
                      </a:pPr>
                      <a:r>
                        <a:t>$14.15</a:t>
                      </a:r>
                    </a:p>
                  </a:txBody>
                  <a:tcPr/>
                </a:tc>
                <a:tc>
                  <a:txBody>
                    <a:bodyPr/>
                    <a:lstStyle/>
                    <a:p>
                      <a:pPr>
                        <a:defRPr sz="950"/>
                      </a:pPr>
                      <a:r>
                        <a:t>75.2</a:t>
                      </a:r>
                    </a:p>
                  </a:txBody>
                  <a:tcPr/>
                </a:tc>
                <a:tc>
                  <a:txBody>
                    <a:bodyPr/>
                    <a:lstStyle/>
                    <a:p>
                      <a:pPr>
                        <a:defRPr sz="950"/>
                      </a:pPr>
                      <a:r>
                        <a:t>20.0</a:t>
                      </a:r>
                    </a:p>
                  </a:txBody>
                  <a:tcPr/>
                </a:tc>
                <a:tc>
                  <a:txBody>
                    <a:bodyPr/>
                    <a:lstStyle/>
                    <a:p>
                      <a:pPr>
                        <a:defRPr sz="950"/>
                      </a:pPr>
                      <a:r>
                        <a:t>21.6</a:t>
                      </a:r>
                    </a:p>
                  </a:txBody>
                  <a:tcPr/>
                </a:tc>
                <a:tc>
                  <a:txBody>
                    <a:bodyPr/>
                    <a:lstStyle/>
                    <a:p>
                      <a:pPr>
                        <a:defRPr sz="950"/>
                      </a:pPr>
                      <a:r>
                        <a:t>53.7</a:t>
                      </a:r>
                    </a:p>
                  </a:txBody>
                  <a:tcPr/>
                </a:tc>
                <a:tc>
                  <a:txBody>
                    <a:bodyPr/>
                    <a:lstStyle/>
                    <a:p>
                      <a:pPr>
                        <a:defRPr sz="950"/>
                      </a:pPr>
                      <a:r>
                        <a:t>87</a:t>
                      </a:r>
                    </a:p>
                  </a:txBody>
                  <a:tcPr/>
                </a:tc>
                <a:tc>
                  <a:txBody>
                    <a:bodyPr/>
                    <a:lstStyle/>
                    <a:p>
                      <a:pPr>
                        <a:defRPr sz="950"/>
                      </a:pPr>
                      <a:r>
                        <a:t>101k</a:t>
                      </a:r>
                    </a:p>
                  </a:txBody>
                  <a:tcPr/>
                </a:tc>
                <a:tc>
                  <a:txBody>
                    <a:bodyPr/>
                    <a:lstStyle/>
                    <a:p>
                      <a:pPr>
                        <a:defRPr sz="950"/>
                      </a:pPr>
                      <a:r>
                        <a:t>1</a:t>
                      </a:r>
                    </a:p>
                  </a:txBody>
                  <a:tcPr/>
                </a:tc>
                <a:tc>
                  <a:txBody>
                    <a:bodyPr/>
                    <a:lstStyle/>
                    <a:p>
                      <a:pPr>
                        <a:defRPr sz="950"/>
                      </a:pPr>
                      <a:r>
                        <a:t>0</a:t>
                      </a:r>
                    </a:p>
                  </a:txBody>
                  <a:tcPr/>
                </a:tc>
                <a:tc>
                  <a:txBody>
                    <a:bodyPr/>
                    <a:lstStyle/>
                    <a:p>
                      <a:pPr>
                        <a:defRPr sz="950"/>
                      </a:pPr>
                      <a:r>
                        <a:t>notch272+notch273+notch274</a:t>
                      </a:r>
                    </a:p>
                  </a:txBody>
                  <a:tcPr/>
                </a:tc>
              </a:tr>
              <a:tr h="274320">
                <a:tc>
                  <a:txBody>
                    <a:bodyPr/>
                    <a:lstStyle/>
                    <a:p>
                      <a:pPr>
                        <a:defRPr sz="950"/>
                      </a:pPr>
                      <a:r>
                        <a:t>E2</a:t>
                      </a:r>
                    </a:p>
                  </a:txBody>
                  <a:tcPr/>
                </a:tc>
                <a:tc>
                  <a:txBody>
                    <a:bodyPr/>
                    <a:lstStyle/>
                    <a:p>
                      <a:pPr>
                        <a:defRPr sz="950"/>
                      </a:pPr>
                      <a:r>
                        <a:t>04R</a:t>
                      </a:r>
                    </a:p>
                  </a:txBody>
                  <a:tcPr/>
                </a:tc>
                <a:tc>
                  <a:txBody>
                    <a:bodyPr/>
                    <a:lstStyle/>
                    <a:p>
                      <a:pPr>
                        <a:defRPr sz="950"/>
                      </a:pPr>
                      <a:r>
                        <a:t>accepted</a:t>
                      </a:r>
                    </a:p>
                  </a:txBody>
                  <a:tcPr/>
                </a:tc>
                <a:tc>
                  <a:txBody>
                    <a:bodyPr/>
                    <a:lstStyle/>
                    <a:p>
                      <a:pPr>
                        <a:defRPr sz="950"/>
                      </a:pPr>
                      <a:r>
                        <a:t>$12.06</a:t>
                      </a:r>
                    </a:p>
                  </a:txBody>
                  <a:tcPr/>
                </a:tc>
                <a:tc>
                  <a:txBody>
                    <a:bodyPr/>
                    <a:lstStyle/>
                    <a:p>
                      <a:pPr>
                        <a:defRPr sz="950"/>
                      </a:pPr>
                      <a:r>
                        <a:t>73.3</a:t>
                      </a:r>
                    </a:p>
                  </a:txBody>
                  <a:tcPr/>
                </a:tc>
                <a:tc>
                  <a:txBody>
                    <a:bodyPr/>
                    <a:lstStyle/>
                    <a:p>
                      <a:pPr>
                        <a:defRPr sz="950"/>
                      </a:pPr>
                      <a:r>
                        <a:t>17.7</a:t>
                      </a:r>
                    </a:p>
                  </a:txBody>
                  <a:tcPr/>
                </a:tc>
                <a:tc>
                  <a:txBody>
                    <a:bodyPr/>
                    <a:lstStyle/>
                    <a:p>
                      <a:pPr>
                        <a:defRPr sz="950"/>
                      </a:pPr>
                      <a:r>
                        <a:t>19.3</a:t>
                      </a:r>
                    </a:p>
                  </a:txBody>
                  <a:tcPr/>
                </a:tc>
                <a:tc>
                  <a:txBody>
                    <a:bodyPr/>
                    <a:lstStyle/>
                    <a:p>
                      <a:pPr>
                        <a:defRPr sz="950"/>
                      </a:pPr>
                      <a:r>
                        <a:t>54.0</a:t>
                      </a:r>
                    </a:p>
                  </a:txBody>
                  <a:tcPr/>
                </a:tc>
                <a:tc>
                  <a:txBody>
                    <a:bodyPr/>
                    <a:lstStyle/>
                    <a:p>
                      <a:pPr>
                        <a:defRPr sz="950"/>
                      </a:pPr>
                      <a:r>
                        <a:t>70</a:t>
                      </a:r>
                    </a:p>
                  </a:txBody>
                  <a:tcPr/>
                </a:tc>
                <a:tc>
                  <a:txBody>
                    <a:bodyPr/>
                    <a:lstStyle/>
                    <a:p>
                      <a:pPr>
                        <a:defRPr sz="950"/>
                      </a:pPr>
                      <a:r>
                        <a:t>94k</a:t>
                      </a:r>
                    </a:p>
                  </a:txBody>
                  <a:tcPr/>
                </a:tc>
                <a:tc>
                  <a:txBody>
                    <a:bodyPr/>
                    <a:lstStyle/>
                    <a:p>
                      <a:pPr>
                        <a:defRPr sz="950"/>
                      </a:pPr>
                      <a:r>
                        <a:t>1</a:t>
                      </a:r>
                    </a:p>
                  </a:txBody>
                  <a:tcPr/>
                </a:tc>
                <a:tc>
                  <a:txBody>
                    <a:bodyPr/>
                    <a:lstStyle/>
                    <a:p>
                      <a:pPr>
                        <a:defRPr sz="950"/>
                      </a:pPr>
                      <a:r>
                        <a:t>0</a:t>
                      </a:r>
                    </a:p>
                  </a:txBody>
                  <a:tcPr/>
                </a:tc>
                <a:tc>
                  <a:txBody>
                    <a:bodyPr/>
                    <a:lstStyle/>
                    <a:p>
                      <a:pPr>
                        <a:defRPr sz="950"/>
                      </a:pPr>
                      <a:r>
                        <a:t>notch272+notch274</a:t>
                      </a:r>
                    </a:p>
                  </a:txBody>
                  <a:tcPr/>
                </a:tc>
              </a:tr>
              <a:tr h="274320">
                <a:tc>
                  <a:txBody>
                    <a:bodyPr/>
                    <a:lstStyle/>
                    <a:p>
                      <a:pPr>
                        <a:defRPr sz="950"/>
                      </a:pPr>
                      <a:r>
                        <a:t>E2</a:t>
                      </a:r>
                    </a:p>
                  </a:txBody>
                  <a:tcPr/>
                </a:tc>
                <a:tc>
                  <a:txBody>
                    <a:bodyPr/>
                    <a:lstStyle/>
                    <a:p>
                      <a:pPr>
                        <a:defRPr sz="950"/>
                      </a:pPr>
                      <a:r>
                        <a:t>05</a:t>
                      </a:r>
                    </a:p>
                  </a:txBody>
                  <a:tcPr/>
                </a:tc>
                <a:tc>
                  <a:txBody>
                    <a:bodyPr/>
                    <a:lstStyle/>
                    <a:p>
                      <a:pPr>
                        <a:defRPr sz="950"/>
                      </a:pPr>
                      <a:r>
                        <a:t>accepted</a:t>
                      </a:r>
                    </a:p>
                  </a:txBody>
                  <a:tcPr/>
                </a:tc>
                <a:tc>
                  <a:txBody>
                    <a:bodyPr/>
                    <a:lstStyle/>
                    <a:p>
                      <a:pPr>
                        <a:defRPr sz="950"/>
                      </a:pPr>
                      <a:r>
                        <a:t>$13.70</a:t>
                      </a:r>
                    </a:p>
                  </a:txBody>
                  <a:tcPr/>
                </a:tc>
                <a:tc>
                  <a:txBody>
                    <a:bodyPr/>
                    <a:lstStyle/>
                    <a:p>
                      <a:pPr>
                        <a:defRPr sz="950"/>
                      </a:pPr>
                      <a:r>
                        <a:t>77.2</a:t>
                      </a:r>
                    </a:p>
                  </a:txBody>
                  <a:tcPr/>
                </a:tc>
                <a:tc>
                  <a:txBody>
                    <a:bodyPr/>
                    <a:lstStyle/>
                    <a:p>
                      <a:pPr>
                        <a:defRPr sz="950"/>
                      </a:pPr>
                      <a:r>
                        <a:t>19.5</a:t>
                      </a:r>
                    </a:p>
                  </a:txBody>
                  <a:tcPr/>
                </a:tc>
                <a:tc>
                  <a:txBody>
                    <a:bodyPr/>
                    <a:lstStyle/>
                    <a:p>
                      <a:pPr>
                        <a:defRPr sz="950"/>
                      </a:pPr>
                      <a:r>
                        <a:t>21.0</a:t>
                      </a:r>
                    </a:p>
                  </a:txBody>
                  <a:tcPr/>
                </a:tc>
                <a:tc>
                  <a:txBody>
                    <a:bodyPr/>
                    <a:lstStyle/>
                    <a:p>
                      <a:pPr>
                        <a:defRPr sz="950"/>
                      </a:pPr>
                      <a:r>
                        <a:t>56.2</a:t>
                      </a:r>
                    </a:p>
                  </a:txBody>
                  <a:tcPr/>
                </a:tc>
                <a:tc>
                  <a:txBody>
                    <a:bodyPr/>
                    <a:lstStyle/>
                    <a:p>
                      <a:pPr>
                        <a:defRPr sz="950"/>
                      </a:pPr>
                      <a:r>
                        <a:t>68</a:t>
                      </a:r>
                    </a:p>
                  </a:txBody>
                  <a:tcPr/>
                </a:tc>
                <a:tc>
                  <a:txBody>
                    <a:bodyPr/>
                    <a:lstStyle/>
                    <a:p>
                      <a:pPr>
                        <a:defRPr sz="950"/>
                      </a:pPr>
                      <a:r>
                        <a:t>104k</a:t>
                      </a:r>
                    </a:p>
                  </a:txBody>
                  <a:tcPr/>
                </a:tc>
                <a:tc>
                  <a:txBody>
                    <a:bodyPr/>
                    <a:lstStyle/>
                    <a:p>
                      <a:pPr>
                        <a:defRPr sz="950"/>
                      </a:pPr>
                      <a:r>
                        <a:t>1</a:t>
                      </a:r>
                    </a:p>
                  </a:txBody>
                  <a:tcPr/>
                </a:tc>
                <a:tc>
                  <a:txBody>
                    <a:bodyPr/>
                    <a:lstStyle/>
                    <a:p>
                      <a:pPr>
                        <a:defRPr sz="950"/>
                      </a:pPr>
                      <a:r>
                        <a:t>0</a:t>
                      </a:r>
                    </a:p>
                  </a:txBody>
                  <a:tcPr/>
                </a:tc>
                <a:tc>
                  <a:txBody>
                    <a:bodyPr/>
                    <a:lstStyle/>
                    <a:p>
                      <a:pPr>
                        <a:defRPr sz="950"/>
                      </a:pPr>
                      <a:r>
                        <a:t>notch272</a:t>
                      </a:r>
                    </a:p>
                  </a:txBody>
                  <a:tcPr/>
                </a:tc>
              </a:tr>
              <a:tr h="274320">
                <a:tc>
                  <a:txBody>
                    <a:bodyPr/>
                    <a:lstStyle/>
                    <a:p>
                      <a:pPr>
                        <a:defRPr sz="950"/>
                      </a:pPr>
                      <a:r>
                        <a:t>E3</a:t>
                      </a:r>
                    </a:p>
                  </a:txBody>
                  <a:tcPr/>
                </a:tc>
                <a:tc>
                  <a:txBody>
                    <a:bodyPr/>
                    <a:lstStyle/>
                    <a:p>
                      <a:pPr>
                        <a:defRPr sz="950"/>
                      </a:pPr>
                      <a:r>
                        <a:t>01</a:t>
                      </a:r>
                    </a:p>
                  </a:txBody>
                  <a:tcPr/>
                </a:tc>
                <a:tc>
                  <a:txBody>
                    <a:bodyPr/>
                    <a:lstStyle/>
                    <a:p>
                      <a:pPr>
                        <a:defRPr sz="950"/>
                      </a:pPr>
                      <a:r>
                        <a:t>accepted</a:t>
                      </a:r>
                    </a:p>
                  </a:txBody>
                  <a:tcPr/>
                </a:tc>
                <a:tc>
                  <a:txBody>
                    <a:bodyPr/>
                    <a:lstStyle/>
                    <a:p>
                      <a:pPr>
                        <a:defRPr sz="950"/>
                      </a:pPr>
                      <a:r>
                        <a:t>$7.81</a:t>
                      </a:r>
                    </a:p>
                  </a:txBody>
                  <a:tcPr/>
                </a:tc>
                <a:tc>
                  <a:txBody>
                    <a:bodyPr/>
                    <a:lstStyle/>
                    <a:p>
                      <a:pPr>
                        <a:defRPr sz="950"/>
                      </a:pPr>
                      <a:r>
                        <a:t>31.3</a:t>
                      </a:r>
                    </a:p>
                  </a:txBody>
                  <a:tcPr/>
                </a:tc>
                <a:tc>
                  <a:txBody>
                    <a:bodyPr/>
                    <a:lstStyle/>
                    <a:p>
                      <a:pPr>
                        <a:defRPr sz="950"/>
                      </a:pPr>
                      <a:r>
                        <a:t>10.3</a:t>
                      </a:r>
                    </a:p>
                  </a:txBody>
                  <a:tcPr/>
                </a:tc>
                <a:tc>
                  <a:txBody>
                    <a:bodyPr/>
                    <a:lstStyle/>
                    <a:p>
                      <a:pPr>
                        <a:defRPr sz="950"/>
                      </a:pPr>
                      <a:r>
                        <a:t>14.2</a:t>
                      </a:r>
                    </a:p>
                  </a:txBody>
                  <a:tcPr/>
                </a:tc>
                <a:tc>
                  <a:txBody>
                    <a:bodyPr/>
                    <a:lstStyle/>
                    <a:p>
                      <a:pPr>
                        <a:defRPr sz="950"/>
                      </a:pPr>
                      <a:r>
                        <a:t>17.1</a:t>
                      </a:r>
                    </a:p>
                  </a:txBody>
                  <a:tcPr/>
                </a:tc>
                <a:tc>
                  <a:txBody>
                    <a:bodyPr/>
                    <a:lstStyle/>
                    <a:p>
                      <a:pPr>
                        <a:defRPr sz="950"/>
                      </a:pPr>
                      <a:r>
                        <a:t>50</a:t>
                      </a:r>
                    </a:p>
                  </a:txBody>
                  <a:tcPr/>
                </a:tc>
                <a:tc>
                  <a:txBody>
                    <a:bodyPr/>
                    <a:lstStyle/>
                    <a:p>
                      <a:pPr>
                        <a:defRPr sz="950"/>
                      </a:pPr>
                      <a:r>
                        <a:t>53k</a:t>
                      </a:r>
                    </a:p>
                  </a:txBody>
                  <a:tcPr/>
                </a:tc>
                <a:tc>
                  <a:txBody>
                    <a:bodyPr/>
                    <a:lstStyle/>
                    <a:p>
                      <a:pPr>
                        <a:defRPr sz="950"/>
                      </a:pPr>
                      <a:r>
                        <a:t>0</a:t>
                      </a:r>
                    </a:p>
                  </a:txBody>
                  <a:tcPr/>
                </a:tc>
                <a:tc>
                  <a:txBody>
                    <a:bodyPr/>
                    <a:lstStyle/>
                    <a:p>
                      <a:pPr>
                        <a:defRPr sz="950"/>
                      </a:pPr>
                      <a:r>
                        <a:t>0</a:t>
                      </a:r>
                    </a:p>
                  </a:txBody>
                  <a:tcPr/>
                </a:tc>
                <a:tc>
                  <a:txBody>
                    <a:bodyPr/>
                    <a:lstStyle/>
                    <a:p>
                      <a:pPr>
                        <a:defRPr sz="950"/>
                      </a:pPr>
                      <a:r>
                        <a:t>notch273</a:t>
                      </a:r>
                    </a:p>
                  </a:txBody>
                  <a:tcPr/>
                </a:tc>
              </a:tr>
              <a:tr h="274320">
                <a:tc>
                  <a:txBody>
                    <a:bodyPr/>
                    <a:lstStyle/>
                    <a:p>
                      <a:pPr>
                        <a:defRPr sz="950"/>
                      </a:pPr>
                      <a:r>
                        <a:t>E3</a:t>
                      </a:r>
                    </a:p>
                  </a:txBody>
                  <a:tcPr/>
                </a:tc>
                <a:tc>
                  <a:txBody>
                    <a:bodyPr/>
                    <a:lstStyle/>
                    <a:p>
                      <a:pPr>
                        <a:defRPr sz="950"/>
                      </a:pPr>
                      <a:r>
                        <a:t>02R</a:t>
                      </a:r>
                    </a:p>
                  </a:txBody>
                  <a:tcPr/>
                </a:tc>
                <a:tc>
                  <a:txBody>
                    <a:bodyPr/>
                    <a:lstStyle/>
                    <a:p>
                      <a:pPr>
                        <a:defRPr sz="950"/>
                      </a:pPr>
                      <a:r>
                        <a:t>accepted</a:t>
                      </a:r>
                    </a:p>
                  </a:txBody>
                  <a:tcPr/>
                </a:tc>
                <a:tc>
                  <a:txBody>
                    <a:bodyPr/>
                    <a:lstStyle/>
                    <a:p>
                      <a:pPr>
                        <a:defRPr sz="950"/>
                      </a:pPr>
                      <a:r>
                        <a:t>$7.65</a:t>
                      </a:r>
                    </a:p>
                  </a:txBody>
                  <a:tcPr/>
                </a:tc>
                <a:tc>
                  <a:txBody>
                    <a:bodyPr/>
                    <a:lstStyle/>
                    <a:p>
                      <a:pPr>
                        <a:defRPr sz="950"/>
                      </a:pPr>
                      <a:r>
                        <a:t>32.2</a:t>
                      </a:r>
                    </a:p>
                  </a:txBody>
                  <a:tcPr/>
                </a:tc>
                <a:tc>
                  <a:txBody>
                    <a:bodyPr/>
                    <a:lstStyle/>
                    <a:p>
                      <a:pPr>
                        <a:defRPr sz="950"/>
                      </a:pPr>
                      <a:r>
                        <a:t>14.2</a:t>
                      </a:r>
                    </a:p>
                  </a:txBody>
                  <a:tcPr/>
                </a:tc>
                <a:tc>
                  <a:txBody>
                    <a:bodyPr/>
                    <a:lstStyle/>
                    <a:p>
                      <a:pPr>
                        <a:defRPr sz="950"/>
                      </a:pPr>
                      <a:r>
                        <a:t>15.6</a:t>
                      </a:r>
                    </a:p>
                  </a:txBody>
                  <a:tcPr/>
                </a:tc>
                <a:tc>
                  <a:txBody>
                    <a:bodyPr/>
                    <a:lstStyle/>
                    <a:p>
                      <a:pPr>
                        <a:defRPr sz="950"/>
                      </a:pPr>
                      <a:r>
                        <a:t>16.6</a:t>
                      </a:r>
                    </a:p>
                  </a:txBody>
                  <a:tcPr/>
                </a:tc>
                <a:tc>
                  <a:txBody>
                    <a:bodyPr/>
                    <a:lstStyle/>
                    <a:p>
                      <a:pPr>
                        <a:defRPr sz="950"/>
                      </a:pPr>
                      <a:r>
                        <a:t>50</a:t>
                      </a:r>
                    </a:p>
                  </a:txBody>
                  <a:tcPr/>
                </a:tc>
                <a:tc>
                  <a:txBody>
                    <a:bodyPr/>
                    <a:lstStyle/>
                    <a:p>
                      <a:pPr>
                        <a:defRPr sz="950"/>
                      </a:pPr>
                      <a:r>
                        <a:t>55k</a:t>
                      </a:r>
                    </a:p>
                  </a:txBody>
                  <a:tcPr/>
                </a:tc>
                <a:tc>
                  <a:txBody>
                    <a:bodyPr/>
                    <a:lstStyle/>
                    <a:p>
                      <a:pPr>
                        <a:defRPr sz="950"/>
                      </a:pPr>
                      <a:r>
                        <a:t>0</a:t>
                      </a:r>
                    </a:p>
                  </a:txBody>
                  <a:tcPr/>
                </a:tc>
                <a:tc>
                  <a:txBody>
                    <a:bodyPr/>
                    <a:lstStyle/>
                    <a:p>
                      <a:pPr>
                        <a:defRPr sz="950"/>
                      </a:pPr>
                      <a:r>
                        <a:t>0</a:t>
                      </a:r>
                    </a:p>
                  </a:txBody>
                  <a:tcPr/>
                </a:tc>
                <a:tc>
                  <a:txBody>
                    <a:bodyPr/>
                    <a:lstStyle/>
                    <a:p>
                      <a:pPr>
                        <a:defRPr sz="950"/>
                      </a:pPr>
                      <a:r>
                        <a:t>notch272</a:t>
                      </a:r>
                    </a:p>
                  </a:txBody>
                  <a:tcPr/>
                </a:tc>
              </a:tr>
              <a:tr h="274320">
                <a:tc>
                  <a:txBody>
                    <a:bodyPr/>
                    <a:lstStyle/>
                    <a:p>
                      <a:pPr>
                        <a:defRPr sz="950"/>
                      </a:pPr>
                      <a:r>
                        <a:t>E3</a:t>
                      </a:r>
                    </a:p>
                  </a:txBody>
                  <a:tcPr/>
                </a:tc>
                <a:tc>
                  <a:txBody>
                    <a:bodyPr/>
                    <a:lstStyle/>
                    <a:p>
                      <a:pPr>
                        <a:defRPr sz="950"/>
                      </a:pPr>
                      <a:r>
                        <a:t>03</a:t>
                      </a:r>
                    </a:p>
                  </a:txBody>
                  <a:tcPr/>
                </a:tc>
                <a:tc>
                  <a:txBody>
                    <a:bodyPr/>
                    <a:lstStyle/>
                    <a:p>
                      <a:pPr>
                        <a:defRPr sz="950"/>
                      </a:pPr>
                      <a:r>
                        <a:t>accepted</a:t>
                      </a:r>
                    </a:p>
                  </a:txBody>
                  <a:tcPr/>
                </a:tc>
                <a:tc>
                  <a:txBody>
                    <a:bodyPr/>
                    <a:lstStyle/>
                    <a:p>
                      <a:pPr>
                        <a:defRPr sz="950"/>
                      </a:pPr>
                      <a:r>
                        <a:t>$7.96</a:t>
                      </a:r>
                    </a:p>
                  </a:txBody>
                  <a:tcPr/>
                </a:tc>
                <a:tc>
                  <a:txBody>
                    <a:bodyPr/>
                    <a:lstStyle/>
                    <a:p>
                      <a:pPr>
                        <a:defRPr sz="950"/>
                      </a:pPr>
                      <a:r>
                        <a:t>29.5</a:t>
                      </a:r>
                    </a:p>
                  </a:txBody>
                  <a:tcPr/>
                </a:tc>
                <a:tc>
                  <a:txBody>
                    <a:bodyPr/>
                    <a:lstStyle/>
                    <a:p>
                      <a:pPr>
                        <a:defRPr sz="950"/>
                      </a:pPr>
                      <a:r>
                        <a:t>11.3</a:t>
                      </a:r>
                    </a:p>
                  </a:txBody>
                  <a:tcPr/>
                </a:tc>
                <a:tc>
                  <a:txBody>
                    <a:bodyPr/>
                    <a:lstStyle/>
                    <a:p>
                      <a:pPr>
                        <a:defRPr sz="950"/>
                      </a:pPr>
                      <a:r>
                        <a:t>13.0</a:t>
                      </a:r>
                    </a:p>
                  </a:txBody>
                  <a:tcPr/>
                </a:tc>
                <a:tc>
                  <a:txBody>
                    <a:bodyPr/>
                    <a:lstStyle/>
                    <a:p>
                      <a:pPr>
                        <a:defRPr sz="950"/>
                      </a:pPr>
                      <a:r>
                        <a:t>16.5</a:t>
                      </a:r>
                    </a:p>
                  </a:txBody>
                  <a:tcPr/>
                </a:tc>
                <a:tc>
                  <a:txBody>
                    <a:bodyPr/>
                    <a:lstStyle/>
                    <a:p>
                      <a:pPr>
                        <a:defRPr sz="950"/>
                      </a:pPr>
                      <a:r>
                        <a:t>53</a:t>
                      </a:r>
                    </a:p>
                  </a:txBody>
                  <a:tcPr/>
                </a:tc>
                <a:tc>
                  <a:txBody>
                    <a:bodyPr/>
                    <a:lstStyle/>
                    <a:p>
                      <a:pPr>
                        <a:defRPr sz="950"/>
                      </a:pPr>
                      <a:r>
                        <a:t>57k</a:t>
                      </a:r>
                    </a:p>
                  </a:txBody>
                  <a:tcPr/>
                </a:tc>
                <a:tc>
                  <a:txBody>
                    <a:bodyPr/>
                    <a:lstStyle/>
                    <a:p>
                      <a:pPr>
                        <a:defRPr sz="950"/>
                      </a:pPr>
                      <a:r>
                        <a:t>0</a:t>
                      </a:r>
                    </a:p>
                  </a:txBody>
                  <a:tcPr/>
                </a:tc>
                <a:tc>
                  <a:txBody>
                    <a:bodyPr/>
                    <a:lstStyle/>
                    <a:p>
                      <a:pPr>
                        <a:defRPr sz="950"/>
                      </a:pPr>
                      <a:r>
                        <a:t>0</a:t>
                      </a:r>
                    </a:p>
                  </a:txBody>
                  <a:tcPr/>
                </a:tc>
                <a:tc>
                  <a:txBody>
                    <a:bodyPr/>
                    <a:lstStyle/>
                    <a:p>
                      <a:pPr>
                        <a:defRPr sz="950"/>
                      </a:pPr>
                      <a:r>
                        <a:t>notch274</a:t>
                      </a:r>
                    </a:p>
                  </a:txBody>
                  <a:tcPr/>
                </a:tc>
              </a:tr>
              <a:tr h="274320">
                <a:tc>
                  <a:txBody>
                    <a:bodyPr/>
                    <a:lstStyle/>
                    <a:p>
                      <a:pPr>
                        <a:defRPr sz="950"/>
                      </a:pPr>
                      <a:r>
                        <a:t>E3</a:t>
                      </a:r>
                    </a:p>
                  </a:txBody>
                  <a:tcPr/>
                </a:tc>
                <a:tc>
                  <a:txBody>
                    <a:bodyPr/>
                    <a:lstStyle/>
                    <a:p>
                      <a:pPr>
                        <a:defRPr sz="950"/>
                      </a:pPr>
                      <a:r>
                        <a:t>04</a:t>
                      </a:r>
                    </a:p>
                  </a:txBody>
                  <a:tcPr/>
                </a:tc>
                <a:tc>
                  <a:txBody>
                    <a:bodyPr/>
                    <a:lstStyle/>
                    <a:p>
                      <a:pPr>
                        <a:defRPr sz="950"/>
                      </a:pPr>
                      <a:r>
                        <a:t>accepted</a:t>
                      </a:r>
                    </a:p>
                  </a:txBody>
                  <a:tcPr/>
                </a:tc>
                <a:tc>
                  <a:txBody>
                    <a:bodyPr/>
                    <a:lstStyle/>
                    <a:p>
                      <a:pPr>
                        <a:defRPr sz="950"/>
                      </a:pPr>
                      <a:r>
                        <a:t>$6.95</a:t>
                      </a:r>
                    </a:p>
                  </a:txBody>
                  <a:tcPr/>
                </a:tc>
                <a:tc>
                  <a:txBody>
                    <a:bodyPr/>
                    <a:lstStyle/>
                    <a:p>
                      <a:pPr>
                        <a:defRPr sz="950"/>
                      </a:pPr>
                      <a:r>
                        <a:t>31.7</a:t>
                      </a:r>
                    </a:p>
                  </a:txBody>
                  <a:tcPr/>
                </a:tc>
                <a:tc>
                  <a:txBody>
                    <a:bodyPr/>
                    <a:lstStyle/>
                    <a:p>
                      <a:pPr>
                        <a:defRPr sz="950"/>
                      </a:pPr>
                      <a:r>
                        <a:t>9.2</a:t>
                      </a:r>
                    </a:p>
                  </a:txBody>
                  <a:tcPr/>
                </a:tc>
                <a:tc>
                  <a:txBody>
                    <a:bodyPr/>
                    <a:lstStyle/>
                    <a:p>
                      <a:pPr>
                        <a:defRPr sz="950"/>
                      </a:pPr>
                      <a:r>
                        <a:t>10.0</a:t>
                      </a:r>
                    </a:p>
                  </a:txBody>
                  <a:tcPr/>
                </a:tc>
                <a:tc>
                  <a:txBody>
                    <a:bodyPr/>
                    <a:lstStyle/>
                    <a:p>
                      <a:pPr>
                        <a:defRPr sz="950"/>
                      </a:pPr>
                      <a:r>
                        <a:t>21.7</a:t>
                      </a:r>
                    </a:p>
                  </a:txBody>
                  <a:tcPr/>
                </a:tc>
                <a:tc>
                  <a:txBody>
                    <a:bodyPr/>
                    <a:lstStyle/>
                    <a:p>
                      <a:pPr>
                        <a:defRPr sz="950"/>
                      </a:pPr>
                      <a:r>
                        <a:t>46</a:t>
                      </a:r>
                    </a:p>
                  </a:txBody>
                  <a:tcPr/>
                </a:tc>
                <a:tc>
                  <a:txBody>
                    <a:bodyPr/>
                    <a:lstStyle/>
                    <a:p>
                      <a:pPr>
                        <a:defRPr sz="950"/>
                      </a:pPr>
                      <a:r>
                        <a:t>48k</a:t>
                      </a:r>
                    </a:p>
                  </a:txBody>
                  <a:tcPr/>
                </a:tc>
                <a:tc>
                  <a:txBody>
                    <a:bodyPr/>
                    <a:lstStyle/>
                    <a:p>
                      <a:pPr>
                        <a:defRPr sz="950"/>
                      </a:pPr>
                      <a:r>
                        <a:t>0</a:t>
                      </a:r>
                    </a:p>
                  </a:txBody>
                  <a:tcPr/>
                </a:tc>
                <a:tc>
                  <a:txBody>
                    <a:bodyPr/>
                    <a:lstStyle/>
                    <a:p>
                      <a:pPr>
                        <a:defRPr sz="950"/>
                      </a:pPr>
                      <a:r>
                        <a:t>0</a:t>
                      </a:r>
                    </a:p>
                  </a:txBody>
                  <a:tcPr/>
                </a:tc>
                <a:tc>
                  <a:txBody>
                    <a:bodyPr/>
                    <a:lstStyle/>
                    <a:p>
                      <a:pPr>
                        <a:defRPr sz="950"/>
                      </a:pPr>
                      <a:r>
                        <a:t>notch274</a:t>
                      </a:r>
                    </a:p>
                  </a:txBody>
                  <a:tcPr/>
                </a:tc>
              </a:tr>
              <a:tr h="274320">
                <a:tc>
                  <a:txBody>
                    <a:bodyPr/>
                    <a:lstStyle/>
                    <a:p>
                      <a:pPr>
                        <a:defRPr sz="950"/>
                      </a:pPr>
                      <a:r>
                        <a:t>E3</a:t>
                      </a:r>
                    </a:p>
                  </a:txBody>
                  <a:tcPr/>
                </a:tc>
                <a:tc>
                  <a:txBody>
                    <a:bodyPr/>
                    <a:lstStyle/>
                    <a:p>
                      <a:pPr>
                        <a:defRPr sz="950"/>
                      </a:pPr>
                      <a:r>
                        <a:t>05</a:t>
                      </a:r>
                    </a:p>
                  </a:txBody>
                  <a:tcPr/>
                </a:tc>
                <a:tc>
                  <a:txBody>
                    <a:bodyPr/>
                    <a:lstStyle/>
                    <a:p>
                      <a:pPr>
                        <a:defRPr sz="950"/>
                      </a:pPr>
                      <a:r>
                        <a:t>accepted</a:t>
                      </a:r>
                    </a:p>
                  </a:txBody>
                  <a:tcPr/>
                </a:tc>
                <a:tc>
                  <a:txBody>
                    <a:bodyPr/>
                    <a:lstStyle/>
                    <a:p>
                      <a:pPr>
                        <a:defRPr sz="950"/>
                      </a:pPr>
                      <a:r>
                        <a:t>$6.88</a:t>
                      </a:r>
                    </a:p>
                  </a:txBody>
                  <a:tcPr/>
                </a:tc>
                <a:tc>
                  <a:txBody>
                    <a:bodyPr/>
                    <a:lstStyle/>
                    <a:p>
                      <a:pPr>
                        <a:defRPr sz="950"/>
                      </a:pPr>
                      <a:r>
                        <a:t>29.9</a:t>
                      </a:r>
                    </a:p>
                  </a:txBody>
                  <a:tcPr/>
                </a:tc>
                <a:tc>
                  <a:txBody>
                    <a:bodyPr/>
                    <a:lstStyle/>
                    <a:p>
                      <a:pPr>
                        <a:defRPr sz="950"/>
                      </a:pPr>
                      <a:r>
                        <a:t>13.2</a:t>
                      </a:r>
                    </a:p>
                  </a:txBody>
                  <a:tcPr/>
                </a:tc>
                <a:tc>
                  <a:txBody>
                    <a:bodyPr/>
                    <a:lstStyle/>
                    <a:p>
                      <a:pPr>
                        <a:defRPr sz="950"/>
                      </a:pPr>
                      <a:r>
                        <a:t>14.0</a:t>
                      </a:r>
                    </a:p>
                  </a:txBody>
                  <a:tcPr/>
                </a:tc>
                <a:tc>
                  <a:txBody>
                    <a:bodyPr/>
                    <a:lstStyle/>
                    <a:p>
                      <a:pPr>
                        <a:defRPr sz="950"/>
                      </a:pPr>
                      <a:r>
                        <a:t>15.8</a:t>
                      </a:r>
                    </a:p>
                  </a:txBody>
                  <a:tcPr/>
                </a:tc>
                <a:tc>
                  <a:txBody>
                    <a:bodyPr/>
                    <a:lstStyle/>
                    <a:p>
                      <a:pPr>
                        <a:defRPr sz="950"/>
                      </a:pPr>
                      <a:r>
                        <a:t>46</a:t>
                      </a:r>
                    </a:p>
                  </a:txBody>
                  <a:tcPr/>
                </a:tc>
                <a:tc>
                  <a:txBody>
                    <a:bodyPr/>
                    <a:lstStyle/>
                    <a:p>
                      <a:pPr>
                        <a:defRPr sz="950"/>
                      </a:pPr>
                      <a:r>
                        <a:t>48k</a:t>
                      </a:r>
                    </a:p>
                  </a:txBody>
                  <a:tcPr/>
                </a:tc>
                <a:tc>
                  <a:txBody>
                    <a:bodyPr/>
                    <a:lstStyle/>
                    <a:p>
                      <a:pPr>
                        <a:defRPr sz="950"/>
                      </a:pPr>
                      <a:r>
                        <a:t>0</a:t>
                      </a:r>
                    </a:p>
                  </a:txBody>
                  <a:tcPr/>
                </a:tc>
                <a:tc>
                  <a:txBody>
                    <a:bodyPr/>
                    <a:lstStyle/>
                    <a:p>
                      <a:pPr>
                        <a:defRPr sz="950"/>
                      </a:pPr>
                      <a:r>
                        <a:t>0</a:t>
                      </a:r>
                    </a:p>
                  </a:txBody>
                  <a:tcPr/>
                </a:tc>
                <a:tc>
                  <a:txBody>
                    <a:bodyPr/>
                    <a:lstStyle/>
                    <a:p>
                      <a:pPr>
                        <a:defRPr sz="950"/>
                      </a:pPr>
                      <a:r>
                        <a:t>notch274</a:t>
                      </a:r>
                    </a:p>
                  </a:txBody>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625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spAutoFit/>
          </a:bodyPr>
          <a:lstStyle/>
          <a:p>
            <a:pPr>
              <a:defRPr sz="2600" b="1">
                <a:solidFill>
                  <a:srgbClr val="0B0B0B"/>
                </a:solidFill>
              </a:defRPr>
            </a:pPr>
            <a:r>
              <a:t>Per-run table: CLIO 0.5.0</a:t>
            </a:r>
          </a:p>
          <a:p>
            <a:pPr>
              <a:defRPr sz="1300">
                <a:solidFill>
                  <a:srgbClr val="52514E"/>
                </a:solidFill>
              </a:defRPr>
            </a:pPr>
            <a:r>
              <a:t>Minutes summed over sessions; Canc. = cancelled Morphorm jobs; Nudges = extra user messages (none allowed in counted trials)</a:t>
            </a:r>
          </a:p>
        </p:txBody>
      </p:sp>
      <p:sp>
        <p:nvSpPr>
          <p:cNvPr id="4" name="TextBox 3"/>
          <p:cNvSpPr txBox="1"/>
          <p:nvPr/>
        </p:nvSpPr>
        <p:spPr>
          <a:xfrm>
            <a:off x="457200" y="6446520"/>
            <a:ext cx="11247120" cy="274320"/>
          </a:xfrm>
          <a:prstGeom prst="rect">
            <a:avLst/>
          </a:prstGeom>
          <a:noFill/>
        </p:spPr>
        <p:txBody>
          <a:bodyPr wrap="none">
            <a:spAutoFit/>
          </a:bodyPr>
          <a:lstStyle/>
          <a:p>
            <a:pPr>
              <a:defRPr sz="900">
                <a:solidFill>
                  <a:srgbClr val="52514E"/>
                </a:solidFill>
              </a:defRPr>
            </a:pPr>
            <a:r>
              <a:t>COUNTED THESIS TRIALS · CLIO (factorio-flat 0.5.0) vs Claude Code baseline · n = 5 per system per experiment</a:t>
            </a:r>
          </a:p>
        </p:txBody>
      </p:sp>
      <p:graphicFrame>
        <p:nvGraphicFramePr>
          <p:cNvPr id="5" name="Table 4"/>
          <p:cNvGraphicFramePr>
            <a:graphicFrameLocks noGrp="1"/>
          </p:cNvGraphicFramePr>
          <p:nvPr/>
        </p:nvGraphicFramePr>
        <p:xfrm>
          <a:off x="457200" y="1280160"/>
          <a:ext cx="11247120" cy="4389120"/>
        </p:xfrm>
        <a:graphic>
          <a:graphicData uri="http://schemas.openxmlformats.org/drawingml/2006/table">
            <a:tbl>
              <a:tblPr firstRow="1" bandRow="1">
                <a:tableStyleId>{5C22544A-7EE6-4342-B048-85BDC9FD1C3A}</a:tableStyleId>
              </a:tblPr>
              <a:tblGrid>
                <a:gridCol w="457200"/>
                <a:gridCol w="640080"/>
                <a:gridCol w="1005840"/>
                <a:gridCol w="822960"/>
                <a:gridCol w="731520"/>
                <a:gridCol w="731520"/>
                <a:gridCol w="914400"/>
                <a:gridCol w="731520"/>
                <a:gridCol w="640080"/>
                <a:gridCol w="731520"/>
                <a:gridCol w="548640"/>
                <a:gridCol w="640080"/>
                <a:gridCol w="2651760"/>
              </a:tblGrid>
              <a:tr h="274320">
                <a:tc>
                  <a:txBody>
                    <a:bodyPr/>
                    <a:lstStyle/>
                    <a:p>
                      <a:pPr>
                        <a:defRPr sz="950" b="1"/>
                      </a:pPr>
                      <a:r>
                        <a:t>Exp</a:t>
                      </a:r>
                    </a:p>
                  </a:txBody>
                  <a:tcPr/>
                </a:tc>
                <a:tc>
                  <a:txBody>
                    <a:bodyPr/>
                    <a:lstStyle/>
                    <a:p>
                      <a:pPr>
                        <a:defRPr sz="950" b="1"/>
                      </a:pPr>
                      <a:r>
                        <a:t>Run</a:t>
                      </a:r>
                    </a:p>
                  </a:txBody>
                  <a:tcPr/>
                </a:tc>
                <a:tc>
                  <a:txBody>
                    <a:bodyPr/>
                    <a:lstStyle/>
                    <a:p>
                      <a:pPr>
                        <a:defRPr sz="950" b="1"/>
                      </a:pPr>
                      <a:r>
                        <a:t>Outcome</a:t>
                      </a:r>
                    </a:p>
                  </a:txBody>
                  <a:tcPr/>
                </a:tc>
                <a:tc>
                  <a:txBody>
                    <a:bodyPr/>
                    <a:lstStyle/>
                    <a:p>
                      <a:pPr>
                        <a:defRPr sz="950" b="1"/>
                      </a:pPr>
                      <a:r>
                        <a:t>Cost</a:t>
                      </a:r>
                    </a:p>
                  </a:txBody>
                  <a:tcPr/>
                </a:tc>
                <a:tc>
                  <a:txBody>
                    <a:bodyPr/>
                    <a:lstStyle/>
                    <a:p>
                      <a:pPr>
                        <a:defRPr sz="950" b="1"/>
                      </a:pPr>
                      <a:r>
                        <a:t>Wall</a:t>
                      </a:r>
                    </a:p>
                  </a:txBody>
                  <a:tcPr/>
                </a:tc>
                <a:tc>
                  <a:txBody>
                    <a:bodyPr/>
                    <a:lstStyle/>
                    <a:p>
                      <a:pPr>
                        <a:defRPr sz="950" b="1"/>
                      </a:pPr>
                      <a:r>
                        <a:t>Model</a:t>
                      </a:r>
                    </a:p>
                  </a:txBody>
                  <a:tcPr/>
                </a:tc>
                <a:tc>
                  <a:txBody>
                    <a:bodyPr/>
                    <a:lstStyle/>
                    <a:p>
                      <a:pPr>
                        <a:defRPr sz="950" b="1"/>
                      </a:pPr>
                      <a:r>
                        <a:t>Out. Slurm</a:t>
                      </a:r>
                    </a:p>
                  </a:txBody>
                  <a:tcPr/>
                </a:tc>
                <a:tc>
                  <a:txBody>
                    <a:bodyPr/>
                    <a:lstStyle/>
                    <a:p>
                      <a:pPr>
                        <a:defRPr sz="950" b="1"/>
                      </a:pPr>
                      <a:r>
                        <a:t>Slurm</a:t>
                      </a:r>
                    </a:p>
                  </a:txBody>
                  <a:tcPr/>
                </a:tc>
                <a:tc>
                  <a:txBody>
                    <a:bodyPr/>
                    <a:lstStyle/>
                    <a:p>
                      <a:pPr>
                        <a:defRPr sz="950" b="1"/>
                      </a:pPr>
                      <a:r>
                        <a:t>Calls</a:t>
                      </a:r>
                    </a:p>
                  </a:txBody>
                  <a:tcPr/>
                </a:tc>
                <a:tc>
                  <a:txBody>
                    <a:bodyPr/>
                    <a:lstStyle/>
                    <a:p>
                      <a:pPr>
                        <a:defRPr sz="950" b="1"/>
                      </a:pPr>
                      <a:r>
                        <a:t>Output</a:t>
                      </a:r>
                    </a:p>
                  </a:txBody>
                  <a:tcPr/>
                </a:tc>
                <a:tc>
                  <a:txBody>
                    <a:bodyPr/>
                    <a:lstStyle/>
                    <a:p>
                      <a:pPr>
                        <a:defRPr sz="950" b="1"/>
                      </a:pPr>
                      <a:r>
                        <a:t>Canc.</a:t>
                      </a:r>
                    </a:p>
                  </a:txBody>
                  <a:tcPr/>
                </a:tc>
                <a:tc>
                  <a:txBody>
                    <a:bodyPr/>
                    <a:lstStyle/>
                    <a:p>
                      <a:pPr>
                        <a:defRPr sz="950" b="1"/>
                      </a:pPr>
                      <a:r>
                        <a:t>Nudges</a:t>
                      </a:r>
                    </a:p>
                  </a:txBody>
                  <a:tcPr/>
                </a:tc>
                <a:tc>
                  <a:txBody>
                    <a:bodyPr/>
                    <a:lstStyle/>
                    <a:p>
                      <a:pPr>
                        <a:defRPr sz="950" b="1"/>
                      </a:pPr>
                      <a:r>
                        <a:t>Morphorm node(s)</a:t>
                      </a:r>
                    </a:p>
                  </a:txBody>
                  <a:tcPr/>
                </a:tc>
              </a:tr>
              <a:tr h="274320">
                <a:tc>
                  <a:txBody>
                    <a:bodyPr/>
                    <a:lstStyle/>
                    <a:p>
                      <a:pPr>
                        <a:defRPr sz="950"/>
                      </a:pPr>
                      <a:r>
                        <a:t>E1</a:t>
                      </a:r>
                    </a:p>
                  </a:txBody>
                  <a:tcPr/>
                </a:tc>
                <a:tc>
                  <a:txBody>
                    <a:bodyPr/>
                    <a:lstStyle/>
                    <a:p>
                      <a:pPr>
                        <a:defRPr sz="950"/>
                      </a:pPr>
                      <a:r>
                        <a:t>01</a:t>
                      </a:r>
                    </a:p>
                  </a:txBody>
                  <a:tcPr/>
                </a:tc>
                <a:tc>
                  <a:txBody>
                    <a:bodyPr/>
                    <a:lstStyle/>
                    <a:p>
                      <a:pPr>
                        <a:defRPr sz="950"/>
                      </a:pPr>
                      <a:r>
                        <a:t>accepted</a:t>
                      </a:r>
                    </a:p>
                  </a:txBody>
                  <a:tcPr/>
                </a:tc>
                <a:tc>
                  <a:txBody>
                    <a:bodyPr/>
                    <a:lstStyle/>
                    <a:p>
                      <a:pPr>
                        <a:defRPr sz="950"/>
                      </a:pPr>
                      <a:r>
                        <a:t>$5.74</a:t>
                      </a:r>
                    </a:p>
                  </a:txBody>
                  <a:tcPr/>
                </a:tc>
                <a:tc>
                  <a:txBody>
                    <a:bodyPr/>
                    <a:lstStyle/>
                    <a:p>
                      <a:pPr>
                        <a:defRPr sz="950"/>
                      </a:pPr>
                      <a:r>
                        <a:t>24.4</a:t>
                      </a:r>
                    </a:p>
                  </a:txBody>
                  <a:tcPr/>
                </a:tc>
                <a:tc>
                  <a:txBody>
                    <a:bodyPr/>
                    <a:lstStyle/>
                    <a:p>
                      <a:pPr>
                        <a:defRPr sz="950"/>
                      </a:pPr>
                      <a:r>
                        <a:t>12.9</a:t>
                      </a:r>
                    </a:p>
                  </a:txBody>
                  <a:tcPr/>
                </a:tc>
                <a:tc>
                  <a:txBody>
                    <a:bodyPr/>
                    <a:lstStyle/>
                    <a:p>
                      <a:pPr>
                        <a:defRPr sz="950"/>
                      </a:pPr>
                      <a:r>
                        <a:t>14.0</a:t>
                      </a:r>
                    </a:p>
                  </a:txBody>
                  <a:tcPr/>
                </a:tc>
                <a:tc>
                  <a:txBody>
                    <a:bodyPr/>
                    <a:lstStyle/>
                    <a:p>
                      <a:pPr>
                        <a:defRPr sz="950"/>
                      </a:pPr>
                      <a:r>
                        <a:t>10.4</a:t>
                      </a:r>
                    </a:p>
                  </a:txBody>
                  <a:tcPr/>
                </a:tc>
                <a:tc>
                  <a:txBody>
                    <a:bodyPr/>
                    <a:lstStyle/>
                    <a:p>
                      <a:pPr>
                        <a:defRPr sz="950"/>
                      </a:pPr>
                      <a:r>
                        <a:t>27</a:t>
                      </a:r>
                    </a:p>
                  </a:txBody>
                  <a:tcPr/>
                </a:tc>
                <a:tc>
                  <a:txBody>
                    <a:bodyPr/>
                    <a:lstStyle/>
                    <a:p>
                      <a:pPr>
                        <a:defRPr sz="950"/>
                      </a:pPr>
                      <a:r>
                        <a:t>35k</a:t>
                      </a:r>
                    </a:p>
                  </a:txBody>
                  <a:tcPr/>
                </a:tc>
                <a:tc>
                  <a:txBody>
                    <a:bodyPr/>
                    <a:lstStyle/>
                    <a:p>
                      <a:pPr>
                        <a:defRPr sz="950"/>
                      </a:pPr>
                      <a:r>
                        <a:t>0</a:t>
                      </a:r>
                    </a:p>
                  </a:txBody>
                  <a:tcPr/>
                </a:tc>
                <a:tc>
                  <a:txBody>
                    <a:bodyPr/>
                    <a:lstStyle/>
                    <a:p>
                      <a:pPr>
                        <a:defRPr sz="950"/>
                      </a:pPr>
                      <a:r>
                        <a:t>0</a:t>
                      </a:r>
                    </a:p>
                  </a:txBody>
                  <a:tcPr/>
                </a:tc>
                <a:tc>
                  <a:txBody>
                    <a:bodyPr/>
                    <a:lstStyle/>
                    <a:p>
                      <a:pPr>
                        <a:defRPr sz="950"/>
                      </a:pPr>
                      <a:r>
                        <a:t>notch351</a:t>
                      </a:r>
                    </a:p>
                  </a:txBody>
                  <a:tcPr/>
                </a:tc>
              </a:tr>
              <a:tr h="274320">
                <a:tc>
                  <a:txBody>
                    <a:bodyPr/>
                    <a:lstStyle/>
                    <a:p>
                      <a:pPr>
                        <a:defRPr sz="950"/>
                      </a:pPr>
                      <a:r>
                        <a:t>E1</a:t>
                      </a:r>
                    </a:p>
                  </a:txBody>
                  <a:tcPr/>
                </a:tc>
                <a:tc>
                  <a:txBody>
                    <a:bodyPr/>
                    <a:lstStyle/>
                    <a:p>
                      <a:pPr>
                        <a:defRPr sz="950"/>
                      </a:pPr>
                      <a:r>
                        <a:t>02</a:t>
                      </a:r>
                    </a:p>
                  </a:txBody>
                  <a:tcPr/>
                </a:tc>
                <a:tc>
                  <a:txBody>
                    <a:bodyPr/>
                    <a:lstStyle/>
                    <a:p>
                      <a:pPr>
                        <a:defRPr sz="950"/>
                      </a:pPr>
                      <a:r>
                        <a:t>accepted</a:t>
                      </a:r>
                    </a:p>
                  </a:txBody>
                  <a:tcPr/>
                </a:tc>
                <a:tc>
                  <a:txBody>
                    <a:bodyPr/>
                    <a:lstStyle/>
                    <a:p>
                      <a:pPr>
                        <a:defRPr sz="950"/>
                      </a:pPr>
                      <a:r>
                        <a:t>$5.29</a:t>
                      </a:r>
                    </a:p>
                  </a:txBody>
                  <a:tcPr/>
                </a:tc>
                <a:tc>
                  <a:txBody>
                    <a:bodyPr/>
                    <a:lstStyle/>
                    <a:p>
                      <a:pPr>
                        <a:defRPr sz="950"/>
                      </a:pPr>
                      <a:r>
                        <a:t>27.5</a:t>
                      </a:r>
                    </a:p>
                  </a:txBody>
                  <a:tcPr/>
                </a:tc>
                <a:tc>
                  <a:txBody>
                    <a:bodyPr/>
                    <a:lstStyle/>
                    <a:p>
                      <a:pPr>
                        <a:defRPr sz="950"/>
                      </a:pPr>
                      <a:r>
                        <a:t>6.8</a:t>
                      </a:r>
                    </a:p>
                  </a:txBody>
                  <a:tcPr/>
                </a:tc>
                <a:tc>
                  <a:txBody>
                    <a:bodyPr/>
                    <a:lstStyle/>
                    <a:p>
                      <a:pPr>
                        <a:defRPr sz="950"/>
                      </a:pPr>
                      <a:r>
                        <a:t>8.2</a:t>
                      </a:r>
                    </a:p>
                  </a:txBody>
                  <a:tcPr/>
                </a:tc>
                <a:tc>
                  <a:txBody>
                    <a:bodyPr/>
                    <a:lstStyle/>
                    <a:p>
                      <a:pPr>
                        <a:defRPr sz="950"/>
                      </a:pPr>
                      <a:r>
                        <a:t>19.3</a:t>
                      </a:r>
                    </a:p>
                  </a:txBody>
                  <a:tcPr/>
                </a:tc>
                <a:tc>
                  <a:txBody>
                    <a:bodyPr/>
                    <a:lstStyle/>
                    <a:p>
                      <a:pPr>
                        <a:defRPr sz="950"/>
                      </a:pPr>
                      <a:r>
                        <a:t>32</a:t>
                      </a:r>
                    </a:p>
                  </a:txBody>
                  <a:tcPr/>
                </a:tc>
                <a:tc>
                  <a:txBody>
                    <a:bodyPr/>
                    <a:lstStyle/>
                    <a:p>
                      <a:pPr>
                        <a:defRPr sz="950"/>
                      </a:pPr>
                      <a:r>
                        <a:t>34k</a:t>
                      </a:r>
                    </a:p>
                  </a:txBody>
                  <a:tcPr/>
                </a:tc>
                <a:tc>
                  <a:txBody>
                    <a:bodyPr/>
                    <a:lstStyle/>
                    <a:p>
                      <a:pPr>
                        <a:defRPr sz="950"/>
                      </a:pPr>
                      <a:r>
                        <a:t>0</a:t>
                      </a:r>
                    </a:p>
                  </a:txBody>
                  <a:tcPr/>
                </a:tc>
                <a:tc>
                  <a:txBody>
                    <a:bodyPr/>
                    <a:lstStyle/>
                    <a:p>
                      <a:pPr>
                        <a:defRPr sz="950"/>
                      </a:pPr>
                      <a:r>
                        <a:t>0</a:t>
                      </a:r>
                    </a:p>
                  </a:txBody>
                  <a:tcPr/>
                </a:tc>
                <a:tc>
                  <a:txBody>
                    <a:bodyPr/>
                    <a:lstStyle/>
                    <a:p>
                      <a:pPr>
                        <a:defRPr sz="950"/>
                      </a:pPr>
                      <a:r>
                        <a:t>notch273</a:t>
                      </a:r>
                    </a:p>
                  </a:txBody>
                  <a:tcPr/>
                </a:tc>
              </a:tr>
              <a:tr h="274320">
                <a:tc>
                  <a:txBody>
                    <a:bodyPr/>
                    <a:lstStyle/>
                    <a:p>
                      <a:pPr>
                        <a:defRPr sz="950"/>
                      </a:pPr>
                      <a:r>
                        <a:t>E1</a:t>
                      </a:r>
                    </a:p>
                  </a:txBody>
                  <a:tcPr/>
                </a:tc>
                <a:tc>
                  <a:txBody>
                    <a:bodyPr/>
                    <a:lstStyle/>
                    <a:p>
                      <a:pPr>
                        <a:defRPr sz="950"/>
                      </a:pPr>
                      <a:r>
                        <a:t>03R</a:t>
                      </a:r>
                    </a:p>
                  </a:txBody>
                  <a:tcPr/>
                </a:tc>
                <a:tc>
                  <a:txBody>
                    <a:bodyPr/>
                    <a:lstStyle/>
                    <a:p>
                      <a:pPr>
                        <a:defRPr sz="950"/>
                      </a:pPr>
                      <a:r>
                        <a:t>accepted</a:t>
                      </a:r>
                    </a:p>
                  </a:txBody>
                  <a:tcPr/>
                </a:tc>
                <a:tc>
                  <a:txBody>
                    <a:bodyPr/>
                    <a:lstStyle/>
                    <a:p>
                      <a:pPr>
                        <a:defRPr sz="950"/>
                      </a:pPr>
                      <a:r>
                        <a:t>$5.32</a:t>
                      </a:r>
                    </a:p>
                  </a:txBody>
                  <a:tcPr/>
                </a:tc>
                <a:tc>
                  <a:txBody>
                    <a:bodyPr/>
                    <a:lstStyle/>
                    <a:p>
                      <a:pPr>
                        <a:defRPr sz="950"/>
                      </a:pPr>
                      <a:r>
                        <a:t>27.2</a:t>
                      </a:r>
                    </a:p>
                  </a:txBody>
                  <a:tcPr/>
                </a:tc>
                <a:tc>
                  <a:txBody>
                    <a:bodyPr/>
                    <a:lstStyle/>
                    <a:p>
                      <a:pPr>
                        <a:defRPr sz="950"/>
                      </a:pPr>
                      <a:r>
                        <a:t>8.2</a:t>
                      </a:r>
                    </a:p>
                  </a:txBody>
                  <a:tcPr/>
                </a:tc>
                <a:tc>
                  <a:txBody>
                    <a:bodyPr/>
                    <a:lstStyle/>
                    <a:p>
                      <a:pPr>
                        <a:defRPr sz="950"/>
                      </a:pPr>
                      <a:r>
                        <a:t>9.4</a:t>
                      </a:r>
                    </a:p>
                  </a:txBody>
                  <a:tcPr/>
                </a:tc>
                <a:tc>
                  <a:txBody>
                    <a:bodyPr/>
                    <a:lstStyle/>
                    <a:p>
                      <a:pPr>
                        <a:defRPr sz="950"/>
                      </a:pPr>
                      <a:r>
                        <a:t>17.8</a:t>
                      </a:r>
                    </a:p>
                  </a:txBody>
                  <a:tcPr/>
                </a:tc>
                <a:tc>
                  <a:txBody>
                    <a:bodyPr/>
                    <a:lstStyle/>
                    <a:p>
                      <a:pPr>
                        <a:defRPr sz="950"/>
                      </a:pPr>
                      <a:r>
                        <a:t>26</a:t>
                      </a:r>
                    </a:p>
                  </a:txBody>
                  <a:tcPr/>
                </a:tc>
                <a:tc>
                  <a:txBody>
                    <a:bodyPr/>
                    <a:lstStyle/>
                    <a:p>
                      <a:pPr>
                        <a:defRPr sz="950"/>
                      </a:pPr>
                      <a:r>
                        <a:t>32k</a:t>
                      </a:r>
                    </a:p>
                  </a:txBody>
                  <a:tcPr/>
                </a:tc>
                <a:tc>
                  <a:txBody>
                    <a:bodyPr/>
                    <a:lstStyle/>
                    <a:p>
                      <a:pPr>
                        <a:defRPr sz="950"/>
                      </a:pPr>
                      <a:r>
                        <a:t>0</a:t>
                      </a:r>
                    </a:p>
                  </a:txBody>
                  <a:tcPr/>
                </a:tc>
                <a:tc>
                  <a:txBody>
                    <a:bodyPr/>
                    <a:lstStyle/>
                    <a:p>
                      <a:pPr>
                        <a:defRPr sz="950"/>
                      </a:pPr>
                      <a:r>
                        <a:t>0</a:t>
                      </a:r>
                    </a:p>
                  </a:txBody>
                  <a:tcPr/>
                </a:tc>
                <a:tc>
                  <a:txBody>
                    <a:bodyPr/>
                    <a:lstStyle/>
                    <a:p>
                      <a:pPr>
                        <a:defRPr sz="950"/>
                      </a:pPr>
                      <a:r>
                        <a:t>notch274</a:t>
                      </a:r>
                    </a:p>
                  </a:txBody>
                  <a:tcPr/>
                </a:tc>
              </a:tr>
              <a:tr h="274320">
                <a:tc>
                  <a:txBody>
                    <a:bodyPr/>
                    <a:lstStyle/>
                    <a:p>
                      <a:pPr>
                        <a:defRPr sz="950"/>
                      </a:pPr>
                      <a:r>
                        <a:t>E1</a:t>
                      </a:r>
                    </a:p>
                  </a:txBody>
                  <a:tcPr/>
                </a:tc>
                <a:tc>
                  <a:txBody>
                    <a:bodyPr/>
                    <a:lstStyle/>
                    <a:p>
                      <a:pPr>
                        <a:defRPr sz="950"/>
                      </a:pPr>
                      <a:r>
                        <a:t>04</a:t>
                      </a:r>
                    </a:p>
                  </a:txBody>
                  <a:tcPr/>
                </a:tc>
                <a:tc>
                  <a:txBody>
                    <a:bodyPr/>
                    <a:lstStyle/>
                    <a:p>
                      <a:pPr>
                        <a:defRPr sz="950"/>
                      </a:pPr>
                      <a:r>
                        <a:t>accepted</a:t>
                      </a:r>
                    </a:p>
                  </a:txBody>
                  <a:tcPr/>
                </a:tc>
                <a:tc>
                  <a:txBody>
                    <a:bodyPr/>
                    <a:lstStyle/>
                    <a:p>
                      <a:pPr>
                        <a:defRPr sz="950"/>
                      </a:pPr>
                      <a:r>
                        <a:t>$5.08</a:t>
                      </a:r>
                    </a:p>
                  </a:txBody>
                  <a:tcPr/>
                </a:tc>
                <a:tc>
                  <a:txBody>
                    <a:bodyPr/>
                    <a:lstStyle/>
                    <a:p>
                      <a:pPr>
                        <a:defRPr sz="950"/>
                      </a:pPr>
                      <a:r>
                        <a:t>24.8</a:t>
                      </a:r>
                    </a:p>
                  </a:txBody>
                  <a:tcPr/>
                </a:tc>
                <a:tc>
                  <a:txBody>
                    <a:bodyPr/>
                    <a:lstStyle/>
                    <a:p>
                      <a:pPr>
                        <a:defRPr sz="950"/>
                      </a:pPr>
                      <a:r>
                        <a:t>6.1</a:t>
                      </a:r>
                    </a:p>
                  </a:txBody>
                  <a:tcPr/>
                </a:tc>
                <a:tc>
                  <a:txBody>
                    <a:bodyPr/>
                    <a:lstStyle/>
                    <a:p>
                      <a:pPr>
                        <a:defRPr sz="950"/>
                      </a:pPr>
                      <a:r>
                        <a:t>7.3</a:t>
                      </a:r>
                    </a:p>
                  </a:txBody>
                  <a:tcPr/>
                </a:tc>
                <a:tc>
                  <a:txBody>
                    <a:bodyPr/>
                    <a:lstStyle/>
                    <a:p>
                      <a:pPr>
                        <a:defRPr sz="950"/>
                      </a:pPr>
                      <a:r>
                        <a:t>17.5</a:t>
                      </a:r>
                    </a:p>
                  </a:txBody>
                  <a:tcPr/>
                </a:tc>
                <a:tc>
                  <a:txBody>
                    <a:bodyPr/>
                    <a:lstStyle/>
                    <a:p>
                      <a:pPr>
                        <a:defRPr sz="950"/>
                      </a:pPr>
                      <a:r>
                        <a:t>25</a:t>
                      </a:r>
                    </a:p>
                  </a:txBody>
                  <a:tcPr/>
                </a:tc>
                <a:tc>
                  <a:txBody>
                    <a:bodyPr/>
                    <a:lstStyle/>
                    <a:p>
                      <a:pPr>
                        <a:defRPr sz="950"/>
                      </a:pPr>
                      <a:r>
                        <a:t>31k</a:t>
                      </a:r>
                    </a:p>
                  </a:txBody>
                  <a:tcPr/>
                </a:tc>
                <a:tc>
                  <a:txBody>
                    <a:bodyPr/>
                    <a:lstStyle/>
                    <a:p>
                      <a:pPr>
                        <a:defRPr sz="950"/>
                      </a:pPr>
                      <a:r>
                        <a:t>0</a:t>
                      </a:r>
                    </a:p>
                  </a:txBody>
                  <a:tcPr/>
                </a:tc>
                <a:tc>
                  <a:txBody>
                    <a:bodyPr/>
                    <a:lstStyle/>
                    <a:p>
                      <a:pPr>
                        <a:defRPr sz="950"/>
                      </a:pPr>
                      <a:r>
                        <a:t>0</a:t>
                      </a:r>
                    </a:p>
                  </a:txBody>
                  <a:tcPr/>
                </a:tc>
                <a:tc>
                  <a:txBody>
                    <a:bodyPr/>
                    <a:lstStyle/>
                    <a:p>
                      <a:pPr>
                        <a:defRPr sz="950"/>
                      </a:pPr>
                      <a:r>
                        <a:t>notch274</a:t>
                      </a:r>
                    </a:p>
                  </a:txBody>
                  <a:tcPr/>
                </a:tc>
              </a:tr>
              <a:tr h="274320">
                <a:tc>
                  <a:txBody>
                    <a:bodyPr/>
                    <a:lstStyle/>
                    <a:p>
                      <a:pPr>
                        <a:defRPr sz="950"/>
                      </a:pPr>
                      <a:r>
                        <a:t>E1</a:t>
                      </a:r>
                    </a:p>
                  </a:txBody>
                  <a:tcPr/>
                </a:tc>
                <a:tc>
                  <a:txBody>
                    <a:bodyPr/>
                    <a:lstStyle/>
                    <a:p>
                      <a:pPr>
                        <a:defRPr sz="950"/>
                      </a:pPr>
                      <a:r>
                        <a:t>05</a:t>
                      </a:r>
                    </a:p>
                  </a:txBody>
                  <a:tcPr/>
                </a:tc>
                <a:tc>
                  <a:txBody>
                    <a:bodyPr/>
                    <a:lstStyle/>
                    <a:p>
                      <a:pPr>
                        <a:defRPr sz="950"/>
                      </a:pPr>
                      <a:r>
                        <a:t>accepted</a:t>
                      </a:r>
                    </a:p>
                  </a:txBody>
                  <a:tcPr/>
                </a:tc>
                <a:tc>
                  <a:txBody>
                    <a:bodyPr/>
                    <a:lstStyle/>
                    <a:p>
                      <a:pPr>
                        <a:defRPr sz="950"/>
                      </a:pPr>
                      <a:r>
                        <a:t>$7.30</a:t>
                      </a:r>
                    </a:p>
                  </a:txBody>
                  <a:tcPr/>
                </a:tc>
                <a:tc>
                  <a:txBody>
                    <a:bodyPr/>
                    <a:lstStyle/>
                    <a:p>
                      <a:pPr>
                        <a:defRPr sz="950"/>
                      </a:pPr>
                      <a:r>
                        <a:t>29.9</a:t>
                      </a:r>
                    </a:p>
                  </a:txBody>
                  <a:tcPr/>
                </a:tc>
                <a:tc>
                  <a:txBody>
                    <a:bodyPr/>
                    <a:lstStyle/>
                    <a:p>
                      <a:pPr>
                        <a:defRPr sz="950"/>
                      </a:pPr>
                      <a:r>
                        <a:t>10.6</a:t>
                      </a:r>
                    </a:p>
                  </a:txBody>
                  <a:tcPr/>
                </a:tc>
                <a:tc>
                  <a:txBody>
                    <a:bodyPr/>
                    <a:lstStyle/>
                    <a:p>
                      <a:pPr>
                        <a:defRPr sz="950"/>
                      </a:pPr>
                      <a:r>
                        <a:t>12.4</a:t>
                      </a:r>
                    </a:p>
                  </a:txBody>
                  <a:tcPr/>
                </a:tc>
                <a:tc>
                  <a:txBody>
                    <a:bodyPr/>
                    <a:lstStyle/>
                    <a:p>
                      <a:pPr>
                        <a:defRPr sz="950"/>
                      </a:pPr>
                      <a:r>
                        <a:t>17.5</a:t>
                      </a:r>
                    </a:p>
                  </a:txBody>
                  <a:tcPr/>
                </a:tc>
                <a:tc>
                  <a:txBody>
                    <a:bodyPr/>
                    <a:lstStyle/>
                    <a:p>
                      <a:pPr>
                        <a:defRPr sz="950"/>
                      </a:pPr>
                      <a:r>
                        <a:t>36</a:t>
                      </a:r>
                    </a:p>
                  </a:txBody>
                  <a:tcPr/>
                </a:tc>
                <a:tc>
                  <a:txBody>
                    <a:bodyPr/>
                    <a:lstStyle/>
                    <a:p>
                      <a:pPr>
                        <a:defRPr sz="950"/>
                      </a:pPr>
                      <a:r>
                        <a:t>58k</a:t>
                      </a:r>
                    </a:p>
                  </a:txBody>
                  <a:tcPr/>
                </a:tc>
                <a:tc>
                  <a:txBody>
                    <a:bodyPr/>
                    <a:lstStyle/>
                    <a:p>
                      <a:pPr>
                        <a:defRPr sz="950"/>
                      </a:pPr>
                      <a:r>
                        <a:t>0</a:t>
                      </a:r>
                    </a:p>
                  </a:txBody>
                  <a:tcPr/>
                </a:tc>
                <a:tc>
                  <a:txBody>
                    <a:bodyPr/>
                    <a:lstStyle/>
                    <a:p>
                      <a:pPr>
                        <a:defRPr sz="950"/>
                      </a:pPr>
                      <a:r>
                        <a:t>0</a:t>
                      </a:r>
                    </a:p>
                  </a:txBody>
                  <a:tcPr/>
                </a:tc>
                <a:tc>
                  <a:txBody>
                    <a:bodyPr/>
                    <a:lstStyle/>
                    <a:p>
                      <a:pPr>
                        <a:defRPr sz="950"/>
                      </a:pPr>
                      <a:r>
                        <a:t>notch274</a:t>
                      </a:r>
                    </a:p>
                  </a:txBody>
                  <a:tcPr/>
                </a:tc>
              </a:tr>
              <a:tr h="274320">
                <a:tc>
                  <a:txBody>
                    <a:bodyPr/>
                    <a:lstStyle/>
                    <a:p>
                      <a:pPr>
                        <a:defRPr sz="950"/>
                      </a:pPr>
                      <a:r>
                        <a:t>E2</a:t>
                      </a:r>
                    </a:p>
                  </a:txBody>
                  <a:tcPr/>
                </a:tc>
                <a:tc>
                  <a:txBody>
                    <a:bodyPr/>
                    <a:lstStyle/>
                    <a:p>
                      <a:pPr>
                        <a:defRPr sz="950"/>
                      </a:pPr>
                      <a:r>
                        <a:t>01</a:t>
                      </a:r>
                    </a:p>
                  </a:txBody>
                  <a:tcPr/>
                </a:tc>
                <a:tc>
                  <a:txBody>
                    <a:bodyPr/>
                    <a:lstStyle/>
                    <a:p>
                      <a:pPr>
                        <a:defRPr sz="950"/>
                      </a:pPr>
                      <a:r>
                        <a:t>accepted</a:t>
                      </a:r>
                    </a:p>
                  </a:txBody>
                  <a:tcPr/>
                </a:tc>
                <a:tc>
                  <a:txBody>
                    <a:bodyPr/>
                    <a:lstStyle/>
                    <a:p>
                      <a:pPr>
                        <a:defRPr sz="950"/>
                      </a:pPr>
                      <a:r>
                        <a:t>$11.04</a:t>
                      </a:r>
                    </a:p>
                  </a:txBody>
                  <a:tcPr/>
                </a:tc>
                <a:tc>
                  <a:txBody>
                    <a:bodyPr/>
                    <a:lstStyle/>
                    <a:p>
                      <a:pPr>
                        <a:defRPr sz="950"/>
                      </a:pPr>
                      <a:r>
                        <a:t>59.7</a:t>
                      </a:r>
                    </a:p>
                  </a:txBody>
                  <a:tcPr/>
                </a:tc>
                <a:tc>
                  <a:txBody>
                    <a:bodyPr/>
                    <a:lstStyle/>
                    <a:p>
                      <a:pPr>
                        <a:defRPr sz="950"/>
                      </a:pPr>
                      <a:r>
                        <a:t>18.3</a:t>
                      </a:r>
                    </a:p>
                  </a:txBody>
                  <a:tcPr/>
                </a:tc>
                <a:tc>
                  <a:txBody>
                    <a:bodyPr/>
                    <a:lstStyle/>
                    <a:p>
                      <a:pPr>
                        <a:defRPr sz="950"/>
                      </a:pPr>
                      <a:r>
                        <a:t>21.0</a:t>
                      </a:r>
                    </a:p>
                  </a:txBody>
                  <a:tcPr/>
                </a:tc>
                <a:tc>
                  <a:txBody>
                    <a:bodyPr/>
                    <a:lstStyle/>
                    <a:p>
                      <a:pPr>
                        <a:defRPr sz="950"/>
                      </a:pPr>
                      <a:r>
                        <a:t>38.7</a:t>
                      </a:r>
                    </a:p>
                  </a:txBody>
                  <a:tcPr/>
                </a:tc>
                <a:tc>
                  <a:txBody>
                    <a:bodyPr/>
                    <a:lstStyle/>
                    <a:p>
                      <a:pPr>
                        <a:defRPr sz="950"/>
                      </a:pPr>
                      <a:r>
                        <a:t>53</a:t>
                      </a:r>
                    </a:p>
                  </a:txBody>
                  <a:tcPr/>
                </a:tc>
                <a:tc>
                  <a:txBody>
                    <a:bodyPr/>
                    <a:lstStyle/>
                    <a:p>
                      <a:pPr>
                        <a:defRPr sz="950"/>
                      </a:pPr>
                      <a:r>
                        <a:t>77k</a:t>
                      </a:r>
                    </a:p>
                  </a:txBody>
                  <a:tcPr/>
                </a:tc>
                <a:tc>
                  <a:txBody>
                    <a:bodyPr/>
                    <a:lstStyle/>
                    <a:p>
                      <a:pPr>
                        <a:defRPr sz="950"/>
                      </a:pPr>
                      <a:r>
                        <a:t>0</a:t>
                      </a:r>
                    </a:p>
                  </a:txBody>
                  <a:tcPr/>
                </a:tc>
                <a:tc>
                  <a:txBody>
                    <a:bodyPr/>
                    <a:lstStyle/>
                    <a:p>
                      <a:pPr>
                        <a:defRPr sz="950"/>
                      </a:pPr>
                      <a:r>
                        <a:t>0</a:t>
                      </a:r>
                    </a:p>
                  </a:txBody>
                  <a:tcPr/>
                </a:tc>
                <a:tc>
                  <a:txBody>
                    <a:bodyPr/>
                    <a:lstStyle/>
                    <a:p>
                      <a:pPr>
                        <a:defRPr sz="950"/>
                      </a:pPr>
                      <a:r>
                        <a:t>notch274+notch351</a:t>
                      </a:r>
                    </a:p>
                  </a:txBody>
                  <a:tcPr/>
                </a:tc>
              </a:tr>
              <a:tr h="274320">
                <a:tc>
                  <a:txBody>
                    <a:bodyPr/>
                    <a:lstStyle/>
                    <a:p>
                      <a:pPr>
                        <a:defRPr sz="950"/>
                      </a:pPr>
                      <a:r>
                        <a:t>E2</a:t>
                      </a:r>
                    </a:p>
                  </a:txBody>
                  <a:tcPr/>
                </a:tc>
                <a:tc>
                  <a:txBody>
                    <a:bodyPr/>
                    <a:lstStyle/>
                    <a:p>
                      <a:pPr>
                        <a:defRPr sz="950"/>
                      </a:pPr>
                      <a:r>
                        <a:t>02</a:t>
                      </a:r>
                    </a:p>
                  </a:txBody>
                  <a:tcPr/>
                </a:tc>
                <a:tc>
                  <a:txBody>
                    <a:bodyPr/>
                    <a:lstStyle/>
                    <a:p>
                      <a:pPr>
                        <a:defRPr sz="950"/>
                      </a:pPr>
                      <a:r>
                        <a:t>accepted</a:t>
                      </a:r>
                    </a:p>
                  </a:txBody>
                  <a:tcPr/>
                </a:tc>
                <a:tc>
                  <a:txBody>
                    <a:bodyPr/>
                    <a:lstStyle/>
                    <a:p>
                      <a:pPr>
                        <a:defRPr sz="950"/>
                      </a:pPr>
                      <a:r>
                        <a:t>$10.18</a:t>
                      </a:r>
                    </a:p>
                  </a:txBody>
                  <a:tcPr/>
                </a:tc>
                <a:tc>
                  <a:txBody>
                    <a:bodyPr/>
                    <a:lstStyle/>
                    <a:p>
                      <a:pPr>
                        <a:defRPr sz="950"/>
                      </a:pPr>
                      <a:r>
                        <a:t>66.2</a:t>
                      </a:r>
                    </a:p>
                  </a:txBody>
                  <a:tcPr/>
                </a:tc>
                <a:tc>
                  <a:txBody>
                    <a:bodyPr/>
                    <a:lstStyle/>
                    <a:p>
                      <a:pPr>
                        <a:defRPr sz="950"/>
                      </a:pPr>
                      <a:r>
                        <a:t>12.5</a:t>
                      </a:r>
                    </a:p>
                  </a:txBody>
                  <a:tcPr/>
                </a:tc>
                <a:tc>
                  <a:txBody>
                    <a:bodyPr/>
                    <a:lstStyle/>
                    <a:p>
                      <a:pPr>
                        <a:defRPr sz="950"/>
                      </a:pPr>
                      <a:r>
                        <a:t>14.6</a:t>
                      </a:r>
                    </a:p>
                  </a:txBody>
                  <a:tcPr/>
                </a:tc>
                <a:tc>
                  <a:txBody>
                    <a:bodyPr/>
                    <a:lstStyle/>
                    <a:p>
                      <a:pPr>
                        <a:defRPr sz="950"/>
                      </a:pPr>
                      <a:r>
                        <a:t>51.5</a:t>
                      </a:r>
                    </a:p>
                  </a:txBody>
                  <a:tcPr/>
                </a:tc>
                <a:tc>
                  <a:txBody>
                    <a:bodyPr/>
                    <a:lstStyle/>
                    <a:p>
                      <a:pPr>
                        <a:defRPr sz="950"/>
                      </a:pPr>
                      <a:r>
                        <a:t>49</a:t>
                      </a:r>
                    </a:p>
                  </a:txBody>
                  <a:tcPr/>
                </a:tc>
                <a:tc>
                  <a:txBody>
                    <a:bodyPr/>
                    <a:lstStyle/>
                    <a:p>
                      <a:pPr>
                        <a:defRPr sz="950"/>
                      </a:pPr>
                      <a:r>
                        <a:t>62k</a:t>
                      </a:r>
                    </a:p>
                  </a:txBody>
                  <a:tcPr/>
                </a:tc>
                <a:tc>
                  <a:txBody>
                    <a:bodyPr/>
                    <a:lstStyle/>
                    <a:p>
                      <a:pPr>
                        <a:defRPr sz="950"/>
                      </a:pPr>
                      <a:r>
                        <a:t>0</a:t>
                      </a:r>
                    </a:p>
                  </a:txBody>
                  <a:tcPr/>
                </a:tc>
                <a:tc>
                  <a:txBody>
                    <a:bodyPr/>
                    <a:lstStyle/>
                    <a:p>
                      <a:pPr>
                        <a:defRPr sz="950"/>
                      </a:pPr>
                      <a:r>
                        <a:t>0</a:t>
                      </a:r>
                    </a:p>
                  </a:txBody>
                  <a:tcPr/>
                </a:tc>
                <a:tc>
                  <a:txBody>
                    <a:bodyPr/>
                    <a:lstStyle/>
                    <a:p>
                      <a:pPr>
                        <a:defRPr sz="950"/>
                      </a:pPr>
                      <a:r>
                        <a:t>notch274</a:t>
                      </a:r>
                    </a:p>
                  </a:txBody>
                  <a:tcPr/>
                </a:tc>
              </a:tr>
              <a:tr h="274320">
                <a:tc>
                  <a:txBody>
                    <a:bodyPr/>
                    <a:lstStyle/>
                    <a:p>
                      <a:pPr>
                        <a:defRPr sz="950"/>
                      </a:pPr>
                      <a:r>
                        <a:t>E2</a:t>
                      </a:r>
                    </a:p>
                  </a:txBody>
                  <a:tcPr/>
                </a:tc>
                <a:tc>
                  <a:txBody>
                    <a:bodyPr/>
                    <a:lstStyle/>
                    <a:p>
                      <a:pPr>
                        <a:defRPr sz="950"/>
                      </a:pPr>
                      <a:r>
                        <a:t>03</a:t>
                      </a:r>
                    </a:p>
                  </a:txBody>
                  <a:tcPr/>
                </a:tc>
                <a:tc>
                  <a:txBody>
                    <a:bodyPr/>
                    <a:lstStyle/>
                    <a:p>
                      <a:pPr>
                        <a:defRPr sz="950"/>
                      </a:pPr>
                      <a:r>
                        <a:t>accepted</a:t>
                      </a:r>
                    </a:p>
                  </a:txBody>
                  <a:tcPr/>
                </a:tc>
                <a:tc>
                  <a:txBody>
                    <a:bodyPr/>
                    <a:lstStyle/>
                    <a:p>
                      <a:pPr>
                        <a:defRPr sz="950"/>
                      </a:pPr>
                      <a:r>
                        <a:t>$10.62</a:t>
                      </a:r>
                    </a:p>
                  </a:txBody>
                  <a:tcPr/>
                </a:tc>
                <a:tc>
                  <a:txBody>
                    <a:bodyPr/>
                    <a:lstStyle/>
                    <a:p>
                      <a:pPr>
                        <a:defRPr sz="950"/>
                      </a:pPr>
                      <a:r>
                        <a:t>47.9</a:t>
                      </a:r>
                    </a:p>
                  </a:txBody>
                  <a:tcPr/>
                </a:tc>
                <a:tc>
                  <a:txBody>
                    <a:bodyPr/>
                    <a:lstStyle/>
                    <a:p>
                      <a:pPr>
                        <a:defRPr sz="950"/>
                      </a:pPr>
                      <a:r>
                        <a:t>13.9</a:t>
                      </a:r>
                    </a:p>
                  </a:txBody>
                  <a:tcPr/>
                </a:tc>
                <a:tc>
                  <a:txBody>
                    <a:bodyPr/>
                    <a:lstStyle/>
                    <a:p>
                      <a:pPr>
                        <a:defRPr sz="950"/>
                      </a:pPr>
                      <a:r>
                        <a:t>15.3</a:t>
                      </a:r>
                    </a:p>
                  </a:txBody>
                  <a:tcPr/>
                </a:tc>
                <a:tc>
                  <a:txBody>
                    <a:bodyPr/>
                    <a:lstStyle/>
                    <a:p>
                      <a:pPr>
                        <a:defRPr sz="950"/>
                      </a:pPr>
                      <a:r>
                        <a:t>32.6</a:t>
                      </a:r>
                    </a:p>
                  </a:txBody>
                  <a:tcPr/>
                </a:tc>
                <a:tc>
                  <a:txBody>
                    <a:bodyPr/>
                    <a:lstStyle/>
                    <a:p>
                      <a:pPr>
                        <a:defRPr sz="950"/>
                      </a:pPr>
                      <a:r>
                        <a:t>50</a:t>
                      </a:r>
                    </a:p>
                  </a:txBody>
                  <a:tcPr/>
                </a:tc>
                <a:tc>
                  <a:txBody>
                    <a:bodyPr/>
                    <a:lstStyle/>
                    <a:p>
                      <a:pPr>
                        <a:defRPr sz="950"/>
                      </a:pPr>
                      <a:r>
                        <a:t>73k</a:t>
                      </a:r>
                    </a:p>
                  </a:txBody>
                  <a:tcPr/>
                </a:tc>
                <a:tc>
                  <a:txBody>
                    <a:bodyPr/>
                    <a:lstStyle/>
                    <a:p>
                      <a:pPr>
                        <a:defRPr sz="950"/>
                      </a:pPr>
                      <a:r>
                        <a:t>0</a:t>
                      </a:r>
                    </a:p>
                  </a:txBody>
                  <a:tcPr/>
                </a:tc>
                <a:tc>
                  <a:txBody>
                    <a:bodyPr/>
                    <a:lstStyle/>
                    <a:p>
                      <a:pPr>
                        <a:defRPr sz="950"/>
                      </a:pPr>
                      <a:r>
                        <a:t>0</a:t>
                      </a:r>
                    </a:p>
                  </a:txBody>
                  <a:tcPr/>
                </a:tc>
                <a:tc>
                  <a:txBody>
                    <a:bodyPr/>
                    <a:lstStyle/>
                    <a:p>
                      <a:pPr>
                        <a:defRPr sz="950"/>
                      </a:pPr>
                      <a:r>
                        <a:t>notch351</a:t>
                      </a:r>
                    </a:p>
                  </a:txBody>
                  <a:tcPr/>
                </a:tc>
              </a:tr>
              <a:tr h="274320">
                <a:tc>
                  <a:txBody>
                    <a:bodyPr/>
                    <a:lstStyle/>
                    <a:p>
                      <a:pPr>
                        <a:defRPr sz="950"/>
                      </a:pPr>
                      <a:r>
                        <a:t>E2</a:t>
                      </a:r>
                    </a:p>
                  </a:txBody>
                  <a:tcPr/>
                </a:tc>
                <a:tc>
                  <a:txBody>
                    <a:bodyPr/>
                    <a:lstStyle/>
                    <a:p>
                      <a:pPr>
                        <a:defRPr sz="950"/>
                      </a:pPr>
                      <a:r>
                        <a:t>04</a:t>
                      </a:r>
                    </a:p>
                  </a:txBody>
                  <a:tcPr/>
                </a:tc>
                <a:tc>
                  <a:txBody>
                    <a:bodyPr/>
                    <a:lstStyle/>
                    <a:p>
                      <a:pPr>
                        <a:defRPr sz="950"/>
                      </a:pPr>
                      <a:r>
                        <a:t>accepted</a:t>
                      </a:r>
                    </a:p>
                  </a:txBody>
                  <a:tcPr/>
                </a:tc>
                <a:tc>
                  <a:txBody>
                    <a:bodyPr/>
                    <a:lstStyle/>
                    <a:p>
                      <a:pPr>
                        <a:defRPr sz="950"/>
                      </a:pPr>
                      <a:r>
                        <a:t>$10.37</a:t>
                      </a:r>
                    </a:p>
                  </a:txBody>
                  <a:tcPr/>
                </a:tc>
                <a:tc>
                  <a:txBody>
                    <a:bodyPr/>
                    <a:lstStyle/>
                    <a:p>
                      <a:pPr>
                        <a:defRPr sz="950"/>
                      </a:pPr>
                      <a:r>
                        <a:t>47.2</a:t>
                      </a:r>
                    </a:p>
                  </a:txBody>
                  <a:tcPr/>
                </a:tc>
                <a:tc>
                  <a:txBody>
                    <a:bodyPr/>
                    <a:lstStyle/>
                    <a:p>
                      <a:pPr>
                        <a:defRPr sz="950"/>
                      </a:pPr>
                      <a:r>
                        <a:t>13.3</a:t>
                      </a:r>
                    </a:p>
                  </a:txBody>
                  <a:tcPr/>
                </a:tc>
                <a:tc>
                  <a:txBody>
                    <a:bodyPr/>
                    <a:lstStyle/>
                    <a:p>
                      <a:pPr>
                        <a:defRPr sz="950"/>
                      </a:pPr>
                      <a:r>
                        <a:t>14.8</a:t>
                      </a:r>
                    </a:p>
                  </a:txBody>
                  <a:tcPr/>
                </a:tc>
                <a:tc>
                  <a:txBody>
                    <a:bodyPr/>
                    <a:lstStyle/>
                    <a:p>
                      <a:pPr>
                        <a:defRPr sz="950"/>
                      </a:pPr>
                      <a:r>
                        <a:t>32.3</a:t>
                      </a:r>
                    </a:p>
                  </a:txBody>
                  <a:tcPr/>
                </a:tc>
                <a:tc>
                  <a:txBody>
                    <a:bodyPr/>
                    <a:lstStyle/>
                    <a:p>
                      <a:pPr>
                        <a:defRPr sz="950"/>
                      </a:pPr>
                      <a:r>
                        <a:t>47</a:t>
                      </a:r>
                    </a:p>
                  </a:txBody>
                  <a:tcPr/>
                </a:tc>
                <a:tc>
                  <a:txBody>
                    <a:bodyPr/>
                    <a:lstStyle/>
                    <a:p>
                      <a:pPr>
                        <a:defRPr sz="950"/>
                      </a:pPr>
                      <a:r>
                        <a:t>68k</a:t>
                      </a:r>
                    </a:p>
                  </a:txBody>
                  <a:tcPr/>
                </a:tc>
                <a:tc>
                  <a:txBody>
                    <a:bodyPr/>
                    <a:lstStyle/>
                    <a:p>
                      <a:pPr>
                        <a:defRPr sz="950"/>
                      </a:pPr>
                      <a:r>
                        <a:t>0</a:t>
                      </a:r>
                    </a:p>
                  </a:txBody>
                  <a:tcPr/>
                </a:tc>
                <a:tc>
                  <a:txBody>
                    <a:bodyPr/>
                    <a:lstStyle/>
                    <a:p>
                      <a:pPr>
                        <a:defRPr sz="950"/>
                      </a:pPr>
                      <a:r>
                        <a:t>0</a:t>
                      </a:r>
                    </a:p>
                  </a:txBody>
                  <a:tcPr/>
                </a:tc>
                <a:tc>
                  <a:txBody>
                    <a:bodyPr/>
                    <a:lstStyle/>
                    <a:p>
                      <a:pPr>
                        <a:defRPr sz="950"/>
                      </a:pPr>
                      <a:r>
                        <a:t>notch351</a:t>
                      </a:r>
                    </a:p>
                  </a:txBody>
                  <a:tcPr/>
                </a:tc>
              </a:tr>
              <a:tr h="274320">
                <a:tc>
                  <a:txBody>
                    <a:bodyPr/>
                    <a:lstStyle/>
                    <a:p>
                      <a:pPr>
                        <a:defRPr sz="950"/>
                      </a:pPr>
                      <a:r>
                        <a:t>E2</a:t>
                      </a:r>
                    </a:p>
                  </a:txBody>
                  <a:tcPr/>
                </a:tc>
                <a:tc>
                  <a:txBody>
                    <a:bodyPr/>
                    <a:lstStyle/>
                    <a:p>
                      <a:pPr>
                        <a:defRPr sz="950"/>
                      </a:pPr>
                      <a:r>
                        <a:t>05R</a:t>
                      </a:r>
                    </a:p>
                  </a:txBody>
                  <a:tcPr/>
                </a:tc>
                <a:tc>
                  <a:txBody>
                    <a:bodyPr/>
                    <a:lstStyle/>
                    <a:p>
                      <a:pPr>
                        <a:defRPr sz="950"/>
                      </a:pPr>
                      <a:r>
                        <a:t>accepted</a:t>
                      </a:r>
                    </a:p>
                  </a:txBody>
                  <a:tcPr/>
                </a:tc>
                <a:tc>
                  <a:txBody>
                    <a:bodyPr/>
                    <a:lstStyle/>
                    <a:p>
                      <a:pPr>
                        <a:defRPr sz="950"/>
                      </a:pPr>
                      <a:r>
                        <a:t>$10.71</a:t>
                      </a:r>
                    </a:p>
                  </a:txBody>
                  <a:tcPr/>
                </a:tc>
                <a:tc>
                  <a:txBody>
                    <a:bodyPr/>
                    <a:lstStyle/>
                    <a:p>
                      <a:pPr>
                        <a:defRPr sz="950"/>
                      </a:pPr>
                      <a:r>
                        <a:t>70.0</a:t>
                      </a:r>
                    </a:p>
                  </a:txBody>
                  <a:tcPr/>
                </a:tc>
                <a:tc>
                  <a:txBody>
                    <a:bodyPr/>
                    <a:lstStyle/>
                    <a:p>
                      <a:pPr>
                        <a:defRPr sz="950"/>
                      </a:pPr>
                      <a:r>
                        <a:t>13.5</a:t>
                      </a:r>
                    </a:p>
                  </a:txBody>
                  <a:tcPr/>
                </a:tc>
                <a:tc>
                  <a:txBody>
                    <a:bodyPr/>
                    <a:lstStyle/>
                    <a:p>
                      <a:pPr>
                        <a:defRPr sz="950"/>
                      </a:pPr>
                      <a:r>
                        <a:t>15.3</a:t>
                      </a:r>
                    </a:p>
                  </a:txBody>
                  <a:tcPr/>
                </a:tc>
                <a:tc>
                  <a:txBody>
                    <a:bodyPr/>
                    <a:lstStyle/>
                    <a:p>
                      <a:pPr>
                        <a:defRPr sz="950"/>
                      </a:pPr>
                      <a:r>
                        <a:t>54.7</a:t>
                      </a:r>
                    </a:p>
                  </a:txBody>
                  <a:tcPr/>
                </a:tc>
                <a:tc>
                  <a:txBody>
                    <a:bodyPr/>
                    <a:lstStyle/>
                    <a:p>
                      <a:pPr>
                        <a:defRPr sz="950"/>
                      </a:pPr>
                      <a:r>
                        <a:t>55</a:t>
                      </a:r>
                    </a:p>
                  </a:txBody>
                  <a:tcPr/>
                </a:tc>
                <a:tc>
                  <a:txBody>
                    <a:bodyPr/>
                    <a:lstStyle/>
                    <a:p>
                      <a:pPr>
                        <a:defRPr sz="950"/>
                      </a:pPr>
                      <a:r>
                        <a:t>66k</a:t>
                      </a:r>
                    </a:p>
                  </a:txBody>
                  <a:tcPr/>
                </a:tc>
                <a:tc>
                  <a:txBody>
                    <a:bodyPr/>
                    <a:lstStyle/>
                    <a:p>
                      <a:pPr>
                        <a:defRPr sz="950"/>
                      </a:pPr>
                      <a:r>
                        <a:t>0</a:t>
                      </a:r>
                    </a:p>
                  </a:txBody>
                  <a:tcPr/>
                </a:tc>
                <a:tc>
                  <a:txBody>
                    <a:bodyPr/>
                    <a:lstStyle/>
                    <a:p>
                      <a:pPr>
                        <a:defRPr sz="950"/>
                      </a:pPr>
                      <a:r>
                        <a:t>0</a:t>
                      </a:r>
                    </a:p>
                  </a:txBody>
                  <a:tcPr/>
                </a:tc>
                <a:tc>
                  <a:txBody>
                    <a:bodyPr/>
                    <a:lstStyle/>
                    <a:p>
                      <a:pPr>
                        <a:defRPr sz="950"/>
                      </a:pPr>
                      <a:r>
                        <a:t>notch204</a:t>
                      </a:r>
                    </a:p>
                  </a:txBody>
                  <a:tcPr/>
                </a:tc>
              </a:tr>
              <a:tr h="274320">
                <a:tc>
                  <a:txBody>
                    <a:bodyPr/>
                    <a:lstStyle/>
                    <a:p>
                      <a:pPr>
                        <a:defRPr sz="950"/>
                      </a:pPr>
                      <a:r>
                        <a:t>E3</a:t>
                      </a:r>
                    </a:p>
                  </a:txBody>
                  <a:tcPr/>
                </a:tc>
                <a:tc>
                  <a:txBody>
                    <a:bodyPr/>
                    <a:lstStyle/>
                    <a:p>
                      <a:pPr>
                        <a:defRPr sz="950"/>
                      </a:pPr>
                      <a:r>
                        <a:t>03</a:t>
                      </a:r>
                    </a:p>
                  </a:txBody>
                  <a:tcPr/>
                </a:tc>
                <a:tc>
                  <a:txBody>
                    <a:bodyPr/>
                    <a:lstStyle/>
                    <a:p>
                      <a:pPr>
                        <a:defRPr sz="950"/>
                      </a:pPr>
                      <a:r>
                        <a:t>accepted</a:t>
                      </a:r>
                    </a:p>
                  </a:txBody>
                  <a:tcPr/>
                </a:tc>
                <a:tc>
                  <a:txBody>
                    <a:bodyPr/>
                    <a:lstStyle/>
                    <a:p>
                      <a:pPr>
                        <a:defRPr sz="950"/>
                      </a:pPr>
                      <a:r>
                        <a:t>$6.13</a:t>
                      </a:r>
                    </a:p>
                  </a:txBody>
                  <a:tcPr/>
                </a:tc>
                <a:tc>
                  <a:txBody>
                    <a:bodyPr/>
                    <a:lstStyle/>
                    <a:p>
                      <a:pPr>
                        <a:defRPr sz="950"/>
                      </a:pPr>
                      <a:r>
                        <a:t>29.1</a:t>
                      </a:r>
                    </a:p>
                  </a:txBody>
                  <a:tcPr/>
                </a:tc>
                <a:tc>
                  <a:txBody>
                    <a:bodyPr/>
                    <a:lstStyle/>
                    <a:p>
                      <a:pPr>
                        <a:defRPr sz="950"/>
                      </a:pPr>
                      <a:r>
                        <a:t>10.7</a:t>
                      </a:r>
                    </a:p>
                  </a:txBody>
                  <a:tcPr/>
                </a:tc>
                <a:tc>
                  <a:txBody>
                    <a:bodyPr/>
                    <a:lstStyle/>
                    <a:p>
                      <a:pPr>
                        <a:defRPr sz="950"/>
                      </a:pPr>
                      <a:r>
                        <a:t>12.7</a:t>
                      </a:r>
                    </a:p>
                  </a:txBody>
                  <a:tcPr/>
                </a:tc>
                <a:tc>
                  <a:txBody>
                    <a:bodyPr/>
                    <a:lstStyle/>
                    <a:p>
                      <a:pPr>
                        <a:defRPr sz="950"/>
                      </a:pPr>
                      <a:r>
                        <a:t>16.4</a:t>
                      </a:r>
                    </a:p>
                  </a:txBody>
                  <a:tcPr/>
                </a:tc>
                <a:tc>
                  <a:txBody>
                    <a:bodyPr/>
                    <a:lstStyle/>
                    <a:p>
                      <a:pPr>
                        <a:defRPr sz="950"/>
                      </a:pPr>
                      <a:r>
                        <a:t>26</a:t>
                      </a:r>
                    </a:p>
                  </a:txBody>
                  <a:tcPr/>
                </a:tc>
                <a:tc>
                  <a:txBody>
                    <a:bodyPr/>
                    <a:lstStyle/>
                    <a:p>
                      <a:pPr>
                        <a:defRPr sz="950"/>
                      </a:pPr>
                      <a:r>
                        <a:t>36k</a:t>
                      </a:r>
                    </a:p>
                  </a:txBody>
                  <a:tcPr/>
                </a:tc>
                <a:tc>
                  <a:txBody>
                    <a:bodyPr/>
                    <a:lstStyle/>
                    <a:p>
                      <a:pPr>
                        <a:defRPr sz="950"/>
                      </a:pPr>
                      <a:r>
                        <a:t>0</a:t>
                      </a:r>
                    </a:p>
                  </a:txBody>
                  <a:tcPr/>
                </a:tc>
                <a:tc>
                  <a:txBody>
                    <a:bodyPr/>
                    <a:lstStyle/>
                    <a:p>
                      <a:pPr>
                        <a:defRPr sz="950"/>
                      </a:pPr>
                      <a:r>
                        <a:t>0</a:t>
                      </a:r>
                    </a:p>
                  </a:txBody>
                  <a:tcPr/>
                </a:tc>
                <a:tc>
                  <a:txBody>
                    <a:bodyPr/>
                    <a:lstStyle/>
                    <a:p>
                      <a:pPr>
                        <a:defRPr sz="950"/>
                      </a:pPr>
                      <a:r>
                        <a:t>notch351</a:t>
                      </a:r>
                    </a:p>
                  </a:txBody>
                  <a:tcPr/>
                </a:tc>
              </a:tr>
              <a:tr h="274320">
                <a:tc>
                  <a:txBody>
                    <a:bodyPr/>
                    <a:lstStyle/>
                    <a:p>
                      <a:pPr>
                        <a:defRPr sz="950"/>
                      </a:pPr>
                      <a:r>
                        <a:t>E3</a:t>
                      </a:r>
                    </a:p>
                  </a:txBody>
                  <a:tcPr/>
                </a:tc>
                <a:tc>
                  <a:txBody>
                    <a:bodyPr/>
                    <a:lstStyle/>
                    <a:p>
                      <a:pPr>
                        <a:defRPr sz="950"/>
                      </a:pPr>
                      <a:r>
                        <a:t>04</a:t>
                      </a:r>
                    </a:p>
                  </a:txBody>
                  <a:tcPr/>
                </a:tc>
                <a:tc>
                  <a:txBody>
                    <a:bodyPr/>
                    <a:lstStyle/>
                    <a:p>
                      <a:pPr>
                        <a:defRPr sz="950"/>
                      </a:pPr>
                      <a:r>
                        <a:t>accepted</a:t>
                      </a:r>
                    </a:p>
                  </a:txBody>
                  <a:tcPr/>
                </a:tc>
                <a:tc>
                  <a:txBody>
                    <a:bodyPr/>
                    <a:lstStyle/>
                    <a:p>
                      <a:pPr>
                        <a:defRPr sz="950"/>
                      </a:pPr>
                      <a:r>
                        <a:t>$6.17</a:t>
                      </a:r>
                    </a:p>
                  </a:txBody>
                  <a:tcPr/>
                </a:tc>
                <a:tc>
                  <a:txBody>
                    <a:bodyPr/>
                    <a:lstStyle/>
                    <a:p>
                      <a:pPr>
                        <a:defRPr sz="950"/>
                      </a:pPr>
                      <a:r>
                        <a:t>20.1</a:t>
                      </a:r>
                    </a:p>
                  </a:txBody>
                  <a:tcPr/>
                </a:tc>
                <a:tc>
                  <a:txBody>
                    <a:bodyPr/>
                    <a:lstStyle/>
                    <a:p>
                      <a:pPr>
                        <a:defRPr sz="950"/>
                      </a:pPr>
                      <a:r>
                        <a:t>7.6</a:t>
                      </a:r>
                    </a:p>
                  </a:txBody>
                  <a:tcPr/>
                </a:tc>
                <a:tc>
                  <a:txBody>
                    <a:bodyPr/>
                    <a:lstStyle/>
                    <a:p>
                      <a:pPr>
                        <a:defRPr sz="950"/>
                      </a:pPr>
                      <a:r>
                        <a:t>10.3</a:t>
                      </a:r>
                    </a:p>
                  </a:txBody>
                  <a:tcPr/>
                </a:tc>
                <a:tc>
                  <a:txBody>
                    <a:bodyPr/>
                    <a:lstStyle/>
                    <a:p>
                      <a:pPr>
                        <a:defRPr sz="950"/>
                      </a:pPr>
                      <a:r>
                        <a:t>9.8</a:t>
                      </a:r>
                    </a:p>
                  </a:txBody>
                  <a:tcPr/>
                </a:tc>
                <a:tc>
                  <a:txBody>
                    <a:bodyPr/>
                    <a:lstStyle/>
                    <a:p>
                      <a:pPr>
                        <a:defRPr sz="950"/>
                      </a:pPr>
                      <a:r>
                        <a:t>27</a:t>
                      </a:r>
                    </a:p>
                  </a:txBody>
                  <a:tcPr/>
                </a:tc>
                <a:tc>
                  <a:txBody>
                    <a:bodyPr/>
                    <a:lstStyle/>
                    <a:p>
                      <a:pPr>
                        <a:defRPr sz="950"/>
                      </a:pPr>
                      <a:r>
                        <a:t>36k</a:t>
                      </a:r>
                    </a:p>
                  </a:txBody>
                  <a:tcPr/>
                </a:tc>
                <a:tc>
                  <a:txBody>
                    <a:bodyPr/>
                    <a:lstStyle/>
                    <a:p>
                      <a:pPr>
                        <a:defRPr sz="950"/>
                      </a:pPr>
                      <a:r>
                        <a:t>0</a:t>
                      </a:r>
                    </a:p>
                  </a:txBody>
                  <a:tcPr/>
                </a:tc>
                <a:tc>
                  <a:txBody>
                    <a:bodyPr/>
                    <a:lstStyle/>
                    <a:p>
                      <a:pPr>
                        <a:defRPr sz="950"/>
                      </a:pPr>
                      <a:r>
                        <a:t>0</a:t>
                      </a:r>
                    </a:p>
                  </a:txBody>
                  <a:tcPr/>
                </a:tc>
                <a:tc>
                  <a:txBody>
                    <a:bodyPr/>
                    <a:lstStyle/>
                    <a:p>
                      <a:pPr>
                        <a:defRPr sz="950"/>
                      </a:pPr>
                      <a:r>
                        <a:t>notch351</a:t>
                      </a:r>
                    </a:p>
                  </a:txBody>
                  <a:tcPr/>
                </a:tc>
              </a:tr>
              <a:tr h="274320">
                <a:tc>
                  <a:txBody>
                    <a:bodyPr/>
                    <a:lstStyle/>
                    <a:p>
                      <a:pPr>
                        <a:defRPr sz="950"/>
                      </a:pPr>
                      <a:r>
                        <a:t>E3</a:t>
                      </a:r>
                    </a:p>
                  </a:txBody>
                  <a:tcPr/>
                </a:tc>
                <a:tc>
                  <a:txBody>
                    <a:bodyPr/>
                    <a:lstStyle/>
                    <a:p>
                      <a:pPr>
                        <a:defRPr sz="950"/>
                      </a:pPr>
                      <a:r>
                        <a:t>05</a:t>
                      </a:r>
                    </a:p>
                  </a:txBody>
                  <a:tcPr/>
                </a:tc>
                <a:tc>
                  <a:txBody>
                    <a:bodyPr/>
                    <a:lstStyle/>
                    <a:p>
                      <a:pPr>
                        <a:defRPr sz="950"/>
                      </a:pPr>
                      <a:r>
                        <a:t>accepted</a:t>
                      </a:r>
                    </a:p>
                  </a:txBody>
                  <a:tcPr/>
                </a:tc>
                <a:tc>
                  <a:txBody>
                    <a:bodyPr/>
                    <a:lstStyle/>
                    <a:p>
                      <a:pPr>
                        <a:defRPr sz="950"/>
                      </a:pPr>
                      <a:r>
                        <a:t>$5.84</a:t>
                      </a:r>
                    </a:p>
                  </a:txBody>
                  <a:tcPr/>
                </a:tc>
                <a:tc>
                  <a:txBody>
                    <a:bodyPr/>
                    <a:lstStyle/>
                    <a:p>
                      <a:pPr>
                        <a:defRPr sz="950"/>
                      </a:pPr>
                      <a:r>
                        <a:t>32.2</a:t>
                      </a:r>
                    </a:p>
                  </a:txBody>
                  <a:tcPr/>
                </a:tc>
                <a:tc>
                  <a:txBody>
                    <a:bodyPr/>
                    <a:lstStyle/>
                    <a:p>
                      <a:pPr>
                        <a:defRPr sz="950"/>
                      </a:pPr>
                      <a:r>
                        <a:t>8.3</a:t>
                      </a:r>
                    </a:p>
                  </a:txBody>
                  <a:tcPr/>
                </a:tc>
                <a:tc>
                  <a:txBody>
                    <a:bodyPr/>
                    <a:lstStyle/>
                    <a:p>
                      <a:pPr>
                        <a:defRPr sz="950"/>
                      </a:pPr>
                      <a:r>
                        <a:t>13.9</a:t>
                      </a:r>
                    </a:p>
                  </a:txBody>
                  <a:tcPr/>
                </a:tc>
                <a:tc>
                  <a:txBody>
                    <a:bodyPr/>
                    <a:lstStyle/>
                    <a:p>
                      <a:pPr>
                        <a:defRPr sz="950"/>
                      </a:pPr>
                      <a:r>
                        <a:t>18.3</a:t>
                      </a:r>
                    </a:p>
                  </a:txBody>
                  <a:tcPr/>
                </a:tc>
                <a:tc>
                  <a:txBody>
                    <a:bodyPr/>
                    <a:lstStyle/>
                    <a:p>
                      <a:pPr>
                        <a:defRPr sz="950"/>
                      </a:pPr>
                      <a:r>
                        <a:t>26</a:t>
                      </a:r>
                    </a:p>
                  </a:txBody>
                  <a:tcPr/>
                </a:tc>
                <a:tc>
                  <a:txBody>
                    <a:bodyPr/>
                    <a:lstStyle/>
                    <a:p>
                      <a:pPr>
                        <a:defRPr sz="950"/>
                      </a:pPr>
                      <a:r>
                        <a:t>34k</a:t>
                      </a:r>
                    </a:p>
                  </a:txBody>
                  <a:tcPr/>
                </a:tc>
                <a:tc>
                  <a:txBody>
                    <a:bodyPr/>
                    <a:lstStyle/>
                    <a:p>
                      <a:pPr>
                        <a:defRPr sz="950"/>
                      </a:pPr>
                      <a:r>
                        <a:t>0</a:t>
                      </a:r>
                    </a:p>
                  </a:txBody>
                  <a:tcPr/>
                </a:tc>
                <a:tc>
                  <a:txBody>
                    <a:bodyPr/>
                    <a:lstStyle/>
                    <a:p>
                      <a:pPr>
                        <a:defRPr sz="950"/>
                      </a:pPr>
                      <a:r>
                        <a:t>0</a:t>
                      </a:r>
                    </a:p>
                  </a:txBody>
                  <a:tcPr/>
                </a:tc>
                <a:tc>
                  <a:txBody>
                    <a:bodyPr/>
                    <a:lstStyle/>
                    <a:p>
                      <a:pPr>
                        <a:defRPr sz="950"/>
                      </a:pPr>
                      <a:r>
                        <a:t>notch273</a:t>
                      </a:r>
                    </a:p>
                  </a:txBody>
                  <a:tcPr/>
                </a:tc>
              </a:tr>
              <a:tr h="274320">
                <a:tc>
                  <a:txBody>
                    <a:bodyPr/>
                    <a:lstStyle/>
                    <a:p>
                      <a:pPr>
                        <a:defRPr sz="950"/>
                      </a:pPr>
                      <a:r>
                        <a:t>E3</a:t>
                      </a:r>
                    </a:p>
                  </a:txBody>
                  <a:tcPr/>
                </a:tc>
                <a:tc>
                  <a:txBody>
                    <a:bodyPr/>
                    <a:lstStyle/>
                    <a:p>
                      <a:pPr>
                        <a:defRPr sz="950"/>
                      </a:pPr>
                      <a:r>
                        <a:t>06</a:t>
                      </a:r>
                    </a:p>
                  </a:txBody>
                  <a:tcPr/>
                </a:tc>
                <a:tc>
                  <a:txBody>
                    <a:bodyPr/>
                    <a:lstStyle/>
                    <a:p>
                      <a:pPr>
                        <a:defRPr sz="950"/>
                      </a:pPr>
                      <a:r>
                        <a:t>accepted</a:t>
                      </a:r>
                    </a:p>
                  </a:txBody>
                  <a:tcPr/>
                </a:tc>
                <a:tc>
                  <a:txBody>
                    <a:bodyPr/>
                    <a:lstStyle/>
                    <a:p>
                      <a:pPr>
                        <a:defRPr sz="950"/>
                      </a:pPr>
                      <a:r>
                        <a:t>$6.72</a:t>
                      </a:r>
                    </a:p>
                  </a:txBody>
                  <a:tcPr/>
                </a:tc>
                <a:tc>
                  <a:txBody>
                    <a:bodyPr/>
                    <a:lstStyle/>
                    <a:p>
                      <a:pPr>
                        <a:defRPr sz="950"/>
                      </a:pPr>
                      <a:r>
                        <a:t>32.3</a:t>
                      </a:r>
                    </a:p>
                  </a:txBody>
                  <a:tcPr/>
                </a:tc>
                <a:tc>
                  <a:txBody>
                    <a:bodyPr/>
                    <a:lstStyle/>
                    <a:p>
                      <a:pPr>
                        <a:defRPr sz="950"/>
                      </a:pPr>
                      <a:r>
                        <a:t>12.2</a:t>
                      </a:r>
                    </a:p>
                  </a:txBody>
                  <a:tcPr/>
                </a:tc>
                <a:tc>
                  <a:txBody>
                    <a:bodyPr/>
                    <a:lstStyle/>
                    <a:p>
                      <a:pPr>
                        <a:defRPr sz="950"/>
                      </a:pPr>
                      <a:r>
                        <a:t>15.8</a:t>
                      </a:r>
                    </a:p>
                  </a:txBody>
                  <a:tcPr/>
                </a:tc>
                <a:tc>
                  <a:txBody>
                    <a:bodyPr/>
                    <a:lstStyle/>
                    <a:p>
                      <a:pPr>
                        <a:defRPr sz="950"/>
                      </a:pPr>
                      <a:r>
                        <a:t>16.5</a:t>
                      </a:r>
                    </a:p>
                  </a:txBody>
                  <a:tcPr/>
                </a:tc>
                <a:tc>
                  <a:txBody>
                    <a:bodyPr/>
                    <a:lstStyle/>
                    <a:p>
                      <a:pPr>
                        <a:defRPr sz="950"/>
                      </a:pPr>
                      <a:r>
                        <a:t>28</a:t>
                      </a:r>
                    </a:p>
                  </a:txBody>
                  <a:tcPr/>
                </a:tc>
                <a:tc>
                  <a:txBody>
                    <a:bodyPr/>
                    <a:lstStyle/>
                    <a:p>
                      <a:pPr>
                        <a:defRPr sz="950"/>
                      </a:pPr>
                      <a:r>
                        <a:t>38k</a:t>
                      </a:r>
                    </a:p>
                  </a:txBody>
                  <a:tcPr/>
                </a:tc>
                <a:tc>
                  <a:txBody>
                    <a:bodyPr/>
                    <a:lstStyle/>
                    <a:p>
                      <a:pPr>
                        <a:defRPr sz="950"/>
                      </a:pPr>
                      <a:r>
                        <a:t>0</a:t>
                      </a:r>
                    </a:p>
                  </a:txBody>
                  <a:tcPr/>
                </a:tc>
                <a:tc>
                  <a:txBody>
                    <a:bodyPr/>
                    <a:lstStyle/>
                    <a:p>
                      <a:pPr>
                        <a:defRPr sz="950"/>
                      </a:pPr>
                      <a:r>
                        <a:t>0</a:t>
                      </a:r>
                    </a:p>
                  </a:txBody>
                  <a:tcPr/>
                </a:tc>
                <a:tc>
                  <a:txBody>
                    <a:bodyPr/>
                    <a:lstStyle/>
                    <a:p>
                      <a:pPr>
                        <a:defRPr sz="950"/>
                      </a:pPr>
                      <a:r>
                        <a:t>notch272</a:t>
                      </a:r>
                    </a:p>
                  </a:txBody>
                  <a:tcPr/>
                </a:tc>
              </a:tr>
              <a:tr h="274320">
                <a:tc>
                  <a:txBody>
                    <a:bodyPr/>
                    <a:lstStyle/>
                    <a:p>
                      <a:pPr>
                        <a:defRPr sz="950"/>
                      </a:pPr>
                      <a:r>
                        <a:t>E3</a:t>
                      </a:r>
                    </a:p>
                  </a:txBody>
                  <a:tcPr/>
                </a:tc>
                <a:tc>
                  <a:txBody>
                    <a:bodyPr/>
                    <a:lstStyle/>
                    <a:p>
                      <a:pPr>
                        <a:defRPr sz="950"/>
                      </a:pPr>
                      <a:r>
                        <a:t>07</a:t>
                      </a:r>
                    </a:p>
                  </a:txBody>
                  <a:tcPr/>
                </a:tc>
                <a:tc>
                  <a:txBody>
                    <a:bodyPr/>
                    <a:lstStyle/>
                    <a:p>
                      <a:pPr>
                        <a:defRPr sz="950"/>
                      </a:pPr>
                      <a:r>
                        <a:t>accepted</a:t>
                      </a:r>
                    </a:p>
                  </a:txBody>
                  <a:tcPr/>
                </a:tc>
                <a:tc>
                  <a:txBody>
                    <a:bodyPr/>
                    <a:lstStyle/>
                    <a:p>
                      <a:pPr>
                        <a:defRPr sz="950"/>
                      </a:pPr>
                      <a:r>
                        <a:t>$6.18</a:t>
                      </a:r>
                    </a:p>
                  </a:txBody>
                  <a:tcPr/>
                </a:tc>
                <a:tc>
                  <a:txBody>
                    <a:bodyPr/>
                    <a:lstStyle/>
                    <a:p>
                      <a:pPr>
                        <a:defRPr sz="950"/>
                      </a:pPr>
                      <a:r>
                        <a:t>27.5</a:t>
                      </a:r>
                    </a:p>
                  </a:txBody>
                  <a:tcPr/>
                </a:tc>
                <a:tc>
                  <a:txBody>
                    <a:bodyPr/>
                    <a:lstStyle/>
                    <a:p>
                      <a:pPr>
                        <a:defRPr sz="950"/>
                      </a:pPr>
                      <a:r>
                        <a:t>7.9</a:t>
                      </a:r>
                    </a:p>
                  </a:txBody>
                  <a:tcPr/>
                </a:tc>
                <a:tc>
                  <a:txBody>
                    <a:bodyPr/>
                    <a:lstStyle/>
                    <a:p>
                      <a:pPr>
                        <a:defRPr sz="950"/>
                      </a:pPr>
                      <a:r>
                        <a:t>9.8</a:t>
                      </a:r>
                    </a:p>
                  </a:txBody>
                  <a:tcPr/>
                </a:tc>
                <a:tc>
                  <a:txBody>
                    <a:bodyPr/>
                    <a:lstStyle/>
                    <a:p>
                      <a:pPr>
                        <a:defRPr sz="950"/>
                      </a:pPr>
                      <a:r>
                        <a:t>17.6</a:t>
                      </a:r>
                    </a:p>
                  </a:txBody>
                  <a:tcPr/>
                </a:tc>
                <a:tc>
                  <a:txBody>
                    <a:bodyPr/>
                    <a:lstStyle/>
                    <a:p>
                      <a:pPr>
                        <a:defRPr sz="950"/>
                      </a:pPr>
                      <a:r>
                        <a:t>28</a:t>
                      </a:r>
                    </a:p>
                  </a:txBody>
                  <a:tcPr/>
                </a:tc>
                <a:tc>
                  <a:txBody>
                    <a:bodyPr/>
                    <a:lstStyle/>
                    <a:p>
                      <a:pPr>
                        <a:defRPr sz="950"/>
                      </a:pPr>
                      <a:r>
                        <a:t>40k</a:t>
                      </a:r>
                    </a:p>
                  </a:txBody>
                  <a:tcPr/>
                </a:tc>
                <a:tc>
                  <a:txBody>
                    <a:bodyPr/>
                    <a:lstStyle/>
                    <a:p>
                      <a:pPr>
                        <a:defRPr sz="950"/>
                      </a:pPr>
                      <a:r>
                        <a:t>0</a:t>
                      </a:r>
                    </a:p>
                  </a:txBody>
                  <a:tcPr/>
                </a:tc>
                <a:tc>
                  <a:txBody>
                    <a:bodyPr/>
                    <a:lstStyle/>
                    <a:p>
                      <a:pPr>
                        <a:defRPr sz="950"/>
                      </a:pPr>
                      <a:r>
                        <a:t>0</a:t>
                      </a:r>
                    </a:p>
                  </a:txBody>
                  <a:tcPr/>
                </a:tc>
                <a:tc>
                  <a:txBody>
                    <a:bodyPr/>
                    <a:lstStyle/>
                    <a:p>
                      <a:pPr>
                        <a:defRPr sz="950"/>
                      </a:pPr>
                      <a:r>
                        <a:t>notch273</a:t>
                      </a:r>
                    </a:p>
                  </a:txBody>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625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spAutoFit/>
          </a:bodyPr>
          <a:lstStyle/>
          <a:p>
            <a:pPr>
              <a:defRPr sz="2600" b="1">
                <a:solidFill>
                  <a:srgbClr val="0B0B0B"/>
                </a:solidFill>
              </a:defRPr>
            </a:pPr>
            <a:r>
              <a:t>Appendix: sources and how to rebuild</a:t>
            </a:r>
          </a:p>
        </p:txBody>
      </p:sp>
      <p:sp>
        <p:nvSpPr>
          <p:cNvPr id="4" name="TextBox 3"/>
          <p:cNvSpPr txBox="1"/>
          <p:nvPr/>
        </p:nvSpPr>
        <p:spPr>
          <a:xfrm>
            <a:off x="457200" y="6446520"/>
            <a:ext cx="11247120" cy="274320"/>
          </a:xfrm>
          <a:prstGeom prst="rect">
            <a:avLst/>
          </a:prstGeom>
          <a:noFill/>
        </p:spPr>
        <p:txBody>
          <a:bodyPr wrap="none">
            <a:spAutoFit/>
          </a:bodyPr>
          <a:lstStyle/>
          <a:p>
            <a:pPr>
              <a:defRPr sz="900">
                <a:solidFill>
                  <a:srgbClr val="52514E"/>
                </a:solidFill>
              </a:defRPr>
            </a:pPr>
            <a:r>
              <a:t>COUNTED THESIS TRIALS · CLIO (factorio-flat 0.5.0) vs Claude Code baseline · n = 5 per system per experiment</a:t>
            </a:r>
          </a:p>
        </p:txBody>
      </p:sp>
      <p:sp>
        <p:nvSpPr>
          <p:cNvPr id="5" name="TextBox 4"/>
          <p:cNvSpPr txBox="1"/>
          <p:nvPr/>
        </p:nvSpPr>
        <p:spPr>
          <a:xfrm>
            <a:off x="548640" y="1371600"/>
            <a:ext cx="11064240" cy="4983480"/>
          </a:xfrm>
          <a:prstGeom prst="rect">
            <a:avLst/>
          </a:prstGeom>
          <a:noFill/>
        </p:spPr>
        <p:txBody>
          <a:bodyPr wrap="square">
            <a:spAutoFit/>
          </a:bodyPr>
          <a:lstStyle/>
          <a:p>
            <a:pPr>
              <a:spcAft>
                <a:spcPts val="600"/>
              </a:spcAft>
              <a:defRPr sz="1400">
                <a:solidFill>
                  <a:srgbClr val="0B0B0B"/>
                </a:solidFill>
              </a:defRPr>
            </a:pPr>
            <a:r>
              <a:t>• Trials: Thesis/runs/&lt;experiment&gt;/{baseline,clio}/trial_NN; scores: Thesis/researcher_only/scores/&lt;run_id&gt;/ (researcher overrides in RESEARCHER_DECISIONS.md)</a:t>
            </a:r>
          </a:p>
          <a:p>
            <a:pPr>
              <a:spcAft>
                <a:spcPts val="600"/>
              </a:spcAft>
              <a:defRPr sz="1400">
                <a:solidFill>
                  <a:srgbClr val="0B0B0B"/>
                </a:solidFill>
              </a:defRPr>
            </a:pPr>
            <a:r>
              <a:t>• CLIO runner: Thesis/automation/clio/run_counted_thesis_clio.sh (batch log in researcher_only/batch_logs/clio_counted_*.log); config: clio_trial_config.env</a:t>
            </a:r>
          </a:p>
          <a:p>
            <a:pPr>
              <a:spcAft>
                <a:spcPts val="600"/>
              </a:spcAft>
              <a:defRPr sz="1400">
                <a:solidFill>
                  <a:srgbClr val="0B0B0B"/>
                </a:solidFill>
              </a:defRPr>
            </a:pPr>
            <a:r>
              <a:t>• Blueprint: Thesis/automation/clio/blueprints/factorio-flat-0.5.0 (+ .PROVENANCE.md, .SHA256SUMS.txt)</a:t>
            </a:r>
          </a:p>
          <a:p>
            <a:pPr>
              <a:spcAft>
                <a:spcPts val="600"/>
              </a:spcAft>
              <a:defRPr sz="1400">
                <a:solidFill>
                  <a:srgbClr val="0B0B0B"/>
                </a:solidFill>
              </a:defRPr>
            </a:pPr>
            <a:r>
              <a:t>• Comparison data: clioSessions/CLIO_E1_API_pilots/official_thesis_clio/data/{per_run,stats,morphorm_jobs}.csv; method: official_compare.py docstring</a:t>
            </a:r>
          </a:p>
          <a:p>
            <a:pPr>
              <a:spcAft>
                <a:spcPts val="600"/>
              </a:spcAft>
              <a:defRPr sz="1400">
                <a:solidFill>
                  <a:srgbClr val="0B0B0B"/>
                </a:solidFill>
              </a:defRPr>
            </a:pPr>
            <a:r>
              <a:t>• Rebuild: python3 official_thesis_clio/official_aggregate.py → python3 official_thesis_clio/official_compare.py → slides/.venv/bin/python slides/make_official_slides.py</a:t>
            </a:r>
          </a:p>
          <a:p>
            <a:pPr>
              <a:spcAft>
                <a:spcPts val="600"/>
              </a:spcAft>
              <a:defRPr sz="1400">
                <a:solidFill>
                  <a:srgbClr val="0B0B0B"/>
                </a:solidFill>
              </a:defRPr>
            </a:pPr>
            <a:r>
              <a:t>• Observability: python3 official_thesis_clio/official_observability.py (→ official_thesis_clio/observability/{data,figures}; method as observability_study/OBSERVABILITY.md)</a:t>
            </a:r>
          </a:p>
          <a:p>
            <a:pPr>
              <a:spcAft>
                <a:spcPts val="600"/>
              </a:spcAft>
              <a:defRPr sz="1400">
                <a:solidFill>
                  <a:srgbClr val="0B0B0B"/>
                </a:solidFill>
              </a:defRPr>
            </a:pPr>
            <a:r>
              <a:t>• Prices: claude-fable-5-1 list ($10/M input, $50/M output, $0.25/M cache read, $20/M 1-h cache write)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